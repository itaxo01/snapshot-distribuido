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y="5143500" cx="9144000"/>
  <p:notesSz cx="6858000" cy="9144000"/>
  <p:embeddedFontLst>
    <p:embeddedFont>
      <p:font typeface="Roboto Mono Medium"/>
      <p:regular r:id="rId106"/>
      <p:bold r:id="rId107"/>
      <p:italic r:id="rId108"/>
      <p:boldItalic r:id="rId109"/>
    </p:embeddedFont>
    <p:embeddedFont>
      <p:font typeface="Inter SemiBold"/>
      <p:regular r:id="rId110"/>
      <p:bold r:id="rId111"/>
      <p:italic r:id="rId112"/>
      <p:boldItalic r:id="rId113"/>
    </p:embeddedFont>
    <p:embeddedFont>
      <p:font typeface="Inter"/>
      <p:bold r:id="rId114"/>
      <p:boldItalic r:id="rId115"/>
    </p:embeddedFont>
    <p:embeddedFont>
      <p:font typeface="Inter Medium"/>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6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6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RobotoMonoMedium-bold.fntdata"/><Relationship Id="rId106" Type="http://schemas.openxmlformats.org/officeDocument/2006/relationships/font" Target="fonts/RobotoMonoMedium-regular.fntdata"/><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RobotoMonoMedium-boldItalic.fntdata"/><Relationship Id="rId108" Type="http://schemas.openxmlformats.org/officeDocument/2006/relationships/font" Target="fonts/RobotoMonoMedium-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font" Target="fonts/InterMedium-italic.fntdata"/><Relationship Id="rId117" Type="http://schemas.openxmlformats.org/officeDocument/2006/relationships/font" Target="fonts/InterMedium-bold.fntdata"/><Relationship Id="rId116" Type="http://schemas.openxmlformats.org/officeDocument/2006/relationships/font" Target="fonts/InterMedium-regular.fntdata"/><Relationship Id="rId115" Type="http://schemas.openxmlformats.org/officeDocument/2006/relationships/font" Target="fonts/Inter-boldItalic.fntdata"/><Relationship Id="rId119" Type="http://schemas.openxmlformats.org/officeDocument/2006/relationships/font" Target="fonts/InterMedium-boldItalic.fntdata"/><Relationship Id="rId15" Type="http://schemas.openxmlformats.org/officeDocument/2006/relationships/slide" Target="slides/slide10.xml"/><Relationship Id="rId110" Type="http://schemas.openxmlformats.org/officeDocument/2006/relationships/font" Target="fonts/InterSemiBold-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Inter-bold.fntdata"/><Relationship Id="rId18" Type="http://schemas.openxmlformats.org/officeDocument/2006/relationships/slide" Target="slides/slide13.xml"/><Relationship Id="rId113" Type="http://schemas.openxmlformats.org/officeDocument/2006/relationships/font" Target="fonts/InterSemiBold-boldItalic.fntdata"/><Relationship Id="rId112" Type="http://schemas.openxmlformats.org/officeDocument/2006/relationships/font" Target="fonts/InterSemiBold-italic.fntdata"/><Relationship Id="rId111" Type="http://schemas.openxmlformats.org/officeDocument/2006/relationships/font" Target="fonts/InterSemiBold-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87236dc1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187236dc1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187236dc1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187236dc1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d8b6ab45b_14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d8b6ab45b_14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8b6ab45b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8b6ab45b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d8b6ab45b_14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d8b6ab45b_1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d8b6ab45b_14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d8b6ab45b_1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d8b6ab45b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d8b6ab45b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d8b6ab45b_14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d8b6ab45b_1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d8b6ab45b_1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d8b6ab45b_1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ed8b6ab45b_1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ed8b6ab45b_1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d8b6ab45b_14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d8b6ab45b_14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d8b6ab45b_14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d8b6ab45b_14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d8b6ab45b_14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d8b6ab45b_14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d8b6ab45b_14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d8b6ab45b_14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d8b6ab45b_14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d8b6ab45b_14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d8b6ab45b_14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d8b6ab45b_14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d8b6ab45b_14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ed8b6ab45b_14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d8b6ab45b_14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d8b6ab45b_14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d8b6ab45b_14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ed8b6ab45b_14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d8b6ab45b_14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ed8b6ab45b_14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d8b6ab45b_14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d8b6ab45b_14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d8b6ab45b_14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d8b6ab45b_14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d8b6ab45b_14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d8b6ab45b_14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d8b6ab45b_14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ed8b6ab45b_14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d8b6ab45b_14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d8b6ab45b_14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d8b6ab45b_14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d8b6ab45b_14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d8b6ab45b_15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d8b6ab45b_1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d8b6ab45b_1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d8b6ab45b_1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d8b6ab45b_15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ed8b6ab45b_15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d8b6ab45b_15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d8b6ab45b_15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d8b6ab45b_15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ed8b6ab45b_15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ed8b6ab45b_15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ed8b6ab45b_15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ed8b6ab45b_15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ed8b6ab45b_15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d8b6ab45b_15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ed8b6ab45b_15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d8b6ab45b_15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d8b6ab45b_15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d8b6ab45b_15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d8b6ab45b_15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d8b6ab45b_15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d8b6ab45b_15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ed8b6ab45b_15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ed8b6ab45b_15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ed8b6ab45b_15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ed8b6ab45b_15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d8b6ab45b_15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ed8b6ab45b_15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d8b6ab45b_15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ed8b6ab45b_15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d8b6ab45b_15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ed8b6ab45b_15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d8b6ab45b_15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ed8b6ab45b_15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ed8b6ab45b_15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ed8b6ab45b_15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ed8b6ab45b_15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ed8b6ab45b_15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d8b6ab45b_15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ed8b6ab45b_15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ed8b6ab45b_1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ed8b6ab45b_1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ed8b6ab45b_1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ed8b6ab45b_1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d8b6ab45b_16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ed8b6ab45b_16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d8b6ab45b_16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ed8b6ab45b_16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dbab2f9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dbab2f9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edbab2f99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edbab2f99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edbab2f99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edbab2f99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dbab2f99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edbab2f99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edbab2f99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edbab2f99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dbab2f99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edbab2f99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edbab2f99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edbab2f99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edbab2f99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edbab2f99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dbab2f99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edbab2f99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dd3fffd0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edd3fffd0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edd3fffd0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edd3fffd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edd3fffd0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edd3fffd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edd3fffd0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edd3fffd0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edd3fffd0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edd3fffd0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edd3fffd0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edd3fffd0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dd3fffd0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edd3fffd0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edd3fffd0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3edd3fffd0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dd3fffd0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edd3fffd0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edd3fffd0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edd3fffd0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edd3fffd0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edd3fffd0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edd3fffd0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edd3fffd0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edd3fffd0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edd3fffd0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dd3fffd0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edd3fffd0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edd3fffd0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edd3fffd0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edd3fffd0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edd3fffd0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edd3fffd0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edd3fffd0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edd3fffd0a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edd3fffd0a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edd3fffd0a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edd3fffd0a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edd3fffd0a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edd3fffd0a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edd3fffd0a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3edd3fffd0a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dd3fffd0a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edd3fffd0a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edd3fffd0a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edd3fffd0a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1a1b21980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f1a1b2198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f1a1b21980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f1a1b21980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f1a1b2198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f1a1b2198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1a1b21980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f1a1b21980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f1a1b21980_4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f1a1b21980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f1a1b21980_4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f1a1b21980_4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3f1a1b21980_4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3f1a1b21980_4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1a1b21980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f1a1b21980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1a1b21980_4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f1a1b21980_4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f1a1b21980_4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f1a1b21980_4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edd3fffd0a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5" name="Google Shape;1165;g3edd3fffd0a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edd3fffd0a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edd3fffd0a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edd3fffd0a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3edd3fffd0a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dd3fffd0a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dd3fffd0a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edd3fffd0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edd3fffd0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edd3fffd0a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edd3fffd0a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f1a1b21980_5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3f1a1b21980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ed8b6ab45b_14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ed8b6ab45b_14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187236dc1_4_0)">
  <p:cSld name="Generated (g3f187236dc1_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3.png"/><Relationship Id="rId4" Type="http://schemas.openxmlformats.org/officeDocument/2006/relationships/hyperlink" Target="https://doi.org/10.1145/214451.214456" TargetMode="External"/><Relationship Id="rId5" Type="http://schemas.openxmlformats.org/officeDocument/2006/relationships/hyperlink" Target="https://github.com/ocornut/imgui" TargetMode="External"/><Relationship Id="rId6" Type="http://schemas.openxmlformats.org/officeDocument/2006/relationships/hyperlink" Target="http://glfw.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6" name="Google Shape;56;p14"/>
          <p:cNvPicPr preferRelativeResize="0"/>
          <p:nvPr/>
        </p:nvPicPr>
        <p:blipFill rotWithShape="1">
          <a:blip r:embed="rId4">
            <a:alphaModFix/>
          </a:blip>
          <a:srcRect b="0" l="0" r="0" t="0"/>
          <a:stretch/>
        </p:blipFill>
        <p:spPr>
          <a:xfrm>
            <a:off x="0" y="0"/>
            <a:ext cx="9144000" cy="5143500"/>
          </a:xfrm>
          <a:prstGeom prst="rect">
            <a:avLst/>
          </a:prstGeom>
          <a:noFill/>
          <a:ln>
            <a:noFill/>
          </a:ln>
        </p:spPr>
      </p:pic>
      <p:grpSp>
        <p:nvGrpSpPr>
          <p:cNvPr id="57" name="Google Shape;57;p14"/>
          <p:cNvGrpSpPr/>
          <p:nvPr/>
        </p:nvGrpSpPr>
        <p:grpSpPr>
          <a:xfrm>
            <a:off x="4429125" y="1038225"/>
            <a:ext cx="514350" cy="457200"/>
            <a:chOff x="57150" y="57150"/>
            <a:chExt cx="342900" cy="304800"/>
          </a:xfrm>
        </p:grpSpPr>
        <p:cxnSp>
          <p:nvCxnSpPr>
            <p:cNvPr id="58" name="Google Shape;58;p14"/>
            <p:cNvCxnSpPr/>
            <p:nvPr/>
          </p:nvCxnSpPr>
          <p:spPr>
            <a:xfrm>
              <a:off x="114300" y="114300"/>
              <a:ext cx="228600" cy="0"/>
            </a:xfrm>
            <a:prstGeom prst="straightConnector1">
              <a:avLst/>
            </a:prstGeom>
            <a:solidFill>
              <a:srgbClr val="FFFFFF"/>
            </a:solidFill>
            <a:ln cap="flat" cmpd="sng" w="19050">
              <a:solidFill>
                <a:srgbClr val="2563EB"/>
              </a:solidFill>
              <a:prstDash val="solid"/>
              <a:round/>
              <a:headEnd len="sm" w="sm" type="none"/>
              <a:tailEnd len="sm" w="sm" type="none"/>
            </a:ln>
          </p:spPr>
        </p:cxnSp>
        <p:cxnSp>
          <p:nvCxnSpPr>
            <p:cNvPr id="59" name="Google Shape;59;p14"/>
            <p:cNvCxnSpPr/>
            <p:nvPr/>
          </p:nvCxnSpPr>
          <p:spPr>
            <a:xfrm>
              <a:off x="114300" y="114300"/>
              <a:ext cx="114300" cy="190500"/>
            </a:xfrm>
            <a:prstGeom prst="straightConnector1">
              <a:avLst/>
            </a:prstGeom>
            <a:solidFill>
              <a:srgbClr val="FFFFFF"/>
            </a:solidFill>
            <a:ln cap="flat" cmpd="sng" w="19050">
              <a:solidFill>
                <a:srgbClr val="2563EB"/>
              </a:solidFill>
              <a:prstDash val="solid"/>
              <a:round/>
              <a:headEnd len="sm" w="sm" type="none"/>
              <a:tailEnd len="sm" w="sm" type="none"/>
            </a:ln>
          </p:spPr>
        </p:cxnSp>
        <p:cxnSp>
          <p:nvCxnSpPr>
            <p:cNvPr id="60" name="Google Shape;60;p14"/>
            <p:cNvCxnSpPr/>
            <p:nvPr/>
          </p:nvCxnSpPr>
          <p:spPr>
            <a:xfrm flipH="1">
              <a:off x="228600" y="114300"/>
              <a:ext cx="114300" cy="190500"/>
            </a:xfrm>
            <a:prstGeom prst="straightConnector1">
              <a:avLst/>
            </a:prstGeom>
            <a:solidFill>
              <a:srgbClr val="FFFFFF"/>
            </a:solidFill>
            <a:ln cap="flat" cmpd="sng" w="19050">
              <a:solidFill>
                <a:srgbClr val="2563EB"/>
              </a:solidFill>
              <a:prstDash val="solid"/>
              <a:round/>
              <a:headEnd len="sm" w="sm" type="none"/>
              <a:tailEnd len="sm" w="sm" type="none"/>
            </a:ln>
          </p:spPr>
        </p:cxnSp>
        <p:sp>
          <p:nvSpPr>
            <p:cNvPr id="61" name="Google Shape;61;p14"/>
            <p:cNvSpPr/>
            <p:nvPr/>
          </p:nvSpPr>
          <p:spPr>
            <a:xfrm>
              <a:off x="57150" y="571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285750" y="571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171450" y="247650"/>
              <a:ext cx="114300" cy="114300"/>
            </a:xfrm>
            <a:prstGeom prst="ellipse">
              <a:avLst/>
            </a:prstGeom>
            <a:solidFill>
              <a:srgbClr val="FFFF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 name="Google Shape;64;p14"/>
          <p:cNvSpPr txBox="1"/>
          <p:nvPr/>
        </p:nvSpPr>
        <p:spPr>
          <a:xfrm>
            <a:off x="914400" y="1905000"/>
            <a:ext cx="73152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200">
                <a:solidFill>
                  <a:srgbClr val="111827"/>
                </a:solidFill>
                <a:latin typeface="Inter"/>
                <a:ea typeface="Inter"/>
                <a:cs typeface="Inter"/>
                <a:sym typeface="Inter"/>
              </a:rPr>
              <a:t>Snapshot Distribuído para</a:t>
            </a:r>
            <a:endParaRPr b="1" sz="3200">
              <a:solidFill>
                <a:srgbClr val="111827"/>
              </a:solidFill>
              <a:latin typeface="Inter"/>
              <a:ea typeface="Inter"/>
              <a:cs typeface="Inter"/>
              <a:sym typeface="Inter"/>
            </a:endParaRPr>
          </a:p>
          <a:p>
            <a:pPr indent="0" lvl="0" marL="0" rtl="0" algn="ctr">
              <a:spcBef>
                <a:spcPts val="750"/>
              </a:spcBef>
              <a:spcAft>
                <a:spcPts val="0"/>
              </a:spcAft>
              <a:buNone/>
            </a:pPr>
            <a:r>
              <a:rPr b="1" lang="en" sz="3200">
                <a:solidFill>
                  <a:srgbClr val="111827"/>
                </a:solidFill>
                <a:latin typeface="Inter"/>
                <a:ea typeface="Inter"/>
                <a:cs typeface="Inter"/>
                <a:sym typeface="Inter"/>
              </a:rPr>
              <a:t>Programação Distribuída</a:t>
            </a:r>
            <a:endParaRPr b="1" sz="3200">
              <a:solidFill>
                <a:srgbClr val="111827"/>
              </a:solidFill>
              <a:latin typeface="Inter"/>
              <a:ea typeface="Inter"/>
              <a:cs typeface="Inter"/>
              <a:sym typeface="Inter"/>
            </a:endParaRPr>
          </a:p>
        </p:txBody>
      </p:sp>
      <p:sp>
        <p:nvSpPr>
          <p:cNvPr id="65" name="Google Shape;65;p14"/>
          <p:cNvSpPr txBox="1"/>
          <p:nvPr/>
        </p:nvSpPr>
        <p:spPr>
          <a:xfrm>
            <a:off x="914400" y="3143250"/>
            <a:ext cx="73152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2000">
                <a:solidFill>
                  <a:srgbClr val="4B5563"/>
                </a:solidFill>
                <a:latin typeface="Inter Medium"/>
                <a:ea typeface="Inter Medium"/>
                <a:cs typeface="Inter Medium"/>
                <a:sym typeface="Inter Medium"/>
              </a:rPr>
              <a:t>Teoria, Aplicações Práticas e Implementação</a:t>
            </a:r>
            <a:endParaRPr b="0" sz="2000">
              <a:solidFill>
                <a:srgbClr val="4B5563"/>
              </a:solidFill>
              <a:latin typeface="Inter Medium"/>
              <a:ea typeface="Inter Medium"/>
              <a:cs typeface="Inter Medium"/>
              <a:sym typeface="Inter Medium"/>
            </a:endParaRPr>
          </a:p>
          <a:p>
            <a:pPr indent="0" lvl="0" marL="0" rtl="0" algn="ctr">
              <a:spcBef>
                <a:spcPts val="375"/>
              </a:spcBef>
              <a:spcAft>
                <a:spcPts val="0"/>
              </a:spcAft>
              <a:buNone/>
            </a:pPr>
            <a:r>
              <a:rPr b="0" lang="en" sz="2000">
                <a:solidFill>
                  <a:srgbClr val="4B5563"/>
                </a:solidFill>
                <a:latin typeface="Inter Medium"/>
                <a:ea typeface="Inter Medium"/>
                <a:cs typeface="Inter Medium"/>
                <a:sym typeface="Inter Medium"/>
              </a:rPr>
              <a:t>em Clusters Heterogêneos</a:t>
            </a:r>
            <a:endParaRPr b="0" sz="2000">
              <a:solidFill>
                <a:srgbClr val="4B5563"/>
              </a:solidFill>
              <a:latin typeface="Inter Medium"/>
              <a:ea typeface="Inter Medium"/>
              <a:cs typeface="Inter Medium"/>
              <a:sym typeface="Inter Medium"/>
            </a:endParaRPr>
          </a:p>
        </p:txBody>
      </p:sp>
      <p:sp>
        <p:nvSpPr>
          <p:cNvPr id="66" name="Google Shape;66;p14"/>
          <p:cNvSpPr txBox="1"/>
          <p:nvPr/>
        </p:nvSpPr>
        <p:spPr>
          <a:xfrm>
            <a:off x="914400" y="4191000"/>
            <a:ext cx="73152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200">
                <a:solidFill>
                  <a:srgbClr val="4B5563"/>
                </a:solidFill>
                <a:latin typeface="Roboto Mono Medium"/>
                <a:ea typeface="Roboto Mono Medium"/>
                <a:cs typeface="Roboto Mono Medium"/>
                <a:sym typeface="Roboto Mono Medium"/>
              </a:rPr>
              <a:t>Kauan Fank • Junho de 2026</a:t>
            </a:r>
            <a:endParaRPr b="0" sz="1200">
              <a:solidFill>
                <a:srgbClr val="4B5563"/>
              </a:solidFill>
              <a:latin typeface="Roboto Mono Medium"/>
              <a:ea typeface="Roboto Mono Medium"/>
              <a:cs typeface="Roboto Mono Medium"/>
              <a:sym typeface="Roboto Mono Medium"/>
            </a:endParaRPr>
          </a:p>
        </p:txBody>
      </p:sp>
      <p:pic>
        <p:nvPicPr>
          <p:cNvPr id="67" name="Google Shape;67;p14"/>
          <p:cNvPicPr preferRelativeResize="0"/>
          <p:nvPr/>
        </p:nvPicPr>
        <p:blipFill rotWithShape="1">
          <a:blip r:embed="rId5">
            <a:alphaModFix/>
          </a:blip>
          <a:srcRect b="0" l="0" r="0" t="0"/>
          <a:stretch/>
        </p:blipFill>
        <p:spPr>
          <a:xfrm>
            <a:off x="3810000" y="4038600"/>
            <a:ext cx="1505100" cy="1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1" name="Shape 71"/>
        <p:cNvGrpSpPr/>
        <p:nvPr/>
      </p:nvGrpSpPr>
      <p:grpSpPr>
        <a:xfrm>
          <a:off x="0" y="0"/>
          <a:ext cx="0" cy="0"/>
          <a:chOff x="0" y="0"/>
          <a:chExt cx="0" cy="0"/>
        </a:xfrm>
      </p:grpSpPr>
      <p:pic>
        <p:nvPicPr>
          <p:cNvPr id="72" name="Google Shape;72;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73" name="Google Shape;73;p1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 name="Google Shape;74;p1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75" name="Google Shape;75;p15"/>
          <p:cNvGrpSpPr/>
          <p:nvPr/>
        </p:nvGrpSpPr>
        <p:grpSpPr>
          <a:xfrm>
            <a:off x="457200" y="4762500"/>
            <a:ext cx="8229600" cy="304800"/>
            <a:chOff x="0" y="0"/>
            <a:chExt cx="8229600" cy="304800"/>
          </a:xfrm>
        </p:grpSpPr>
        <p:cxnSp>
          <p:nvCxnSpPr>
            <p:cNvPr id="76" name="Google Shape;76;p1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7" name="Google Shape;77;p1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8" name="Google Shape;78;p1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9" name="Google Shape;79;p15"/>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3" name="Shape 83"/>
        <p:cNvGrpSpPr/>
        <p:nvPr/>
      </p:nvGrpSpPr>
      <p:grpSpPr>
        <a:xfrm>
          <a:off x="0" y="0"/>
          <a:ext cx="0" cy="0"/>
          <a:chOff x="0" y="0"/>
          <a:chExt cx="0" cy="0"/>
        </a:xfrm>
      </p:grpSpPr>
      <p:pic>
        <p:nvPicPr>
          <p:cNvPr id="84" name="Google Shape;84;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 name="Google Shape;85;p1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 name="Google Shape;86;p1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87" name="Google Shape;87;p16"/>
          <p:cNvGrpSpPr/>
          <p:nvPr/>
        </p:nvGrpSpPr>
        <p:grpSpPr>
          <a:xfrm>
            <a:off x="457200" y="4762500"/>
            <a:ext cx="8229600" cy="304800"/>
            <a:chOff x="0" y="0"/>
            <a:chExt cx="8229600" cy="304800"/>
          </a:xfrm>
        </p:grpSpPr>
        <p:cxnSp>
          <p:nvCxnSpPr>
            <p:cNvPr id="88" name="Google Shape;88;p1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9" name="Google Shape;89;p1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0" name="Google Shape;90;p1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91" name="Google Shape;91;p16"/>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5" name="Shape 95"/>
        <p:cNvGrpSpPr/>
        <p:nvPr/>
      </p:nvGrpSpPr>
      <p:grpSpPr>
        <a:xfrm>
          <a:off x="0" y="0"/>
          <a:ext cx="0" cy="0"/>
          <a:chOff x="0" y="0"/>
          <a:chExt cx="0" cy="0"/>
        </a:xfrm>
      </p:grpSpPr>
      <p:pic>
        <p:nvPicPr>
          <p:cNvPr id="96" name="Google Shape;96;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7" name="Google Shape;97;p1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8" name="Google Shape;98;p1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99" name="Google Shape;99;p17"/>
          <p:cNvGrpSpPr/>
          <p:nvPr/>
        </p:nvGrpSpPr>
        <p:grpSpPr>
          <a:xfrm>
            <a:off x="457200" y="4762500"/>
            <a:ext cx="8229600" cy="304800"/>
            <a:chOff x="0" y="0"/>
            <a:chExt cx="8229600" cy="304800"/>
          </a:xfrm>
        </p:grpSpPr>
        <p:cxnSp>
          <p:nvCxnSpPr>
            <p:cNvPr id="100" name="Google Shape;100;p1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1" name="Google Shape;101;p1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2" name="Google Shape;102;p1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03" name="Google Shape;103;p17"/>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
        <p:nvSpPr>
          <p:cNvPr id="104" name="Google Shape;104;p17"/>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r>
              <a:rPr b="1" lang="en" sz="1800">
                <a:solidFill>
                  <a:srgbClr val="111827"/>
                </a:solidFill>
                <a:latin typeface="Inter"/>
                <a:ea typeface="Inter"/>
                <a:cs typeface="Inter"/>
                <a:sym typeface="Inter"/>
              </a:rPr>
              <a: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0" lvl="0" marL="4572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8" name="Shape 108"/>
        <p:cNvGrpSpPr/>
        <p:nvPr/>
      </p:nvGrpSpPr>
      <p:grpSpPr>
        <a:xfrm>
          <a:off x="0" y="0"/>
          <a:ext cx="0" cy="0"/>
          <a:chOff x="0" y="0"/>
          <a:chExt cx="0" cy="0"/>
        </a:xfrm>
      </p:grpSpPr>
      <p:pic>
        <p:nvPicPr>
          <p:cNvPr id="109" name="Google Shape;109;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0" name="Google Shape;110;p1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1" name="Google Shape;111;p1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12" name="Google Shape;112;p18"/>
          <p:cNvGrpSpPr/>
          <p:nvPr/>
        </p:nvGrpSpPr>
        <p:grpSpPr>
          <a:xfrm>
            <a:off x="457200" y="4762500"/>
            <a:ext cx="8229600" cy="304800"/>
            <a:chOff x="0" y="0"/>
            <a:chExt cx="8229600" cy="304800"/>
          </a:xfrm>
        </p:grpSpPr>
        <p:cxnSp>
          <p:nvCxnSpPr>
            <p:cNvPr id="113" name="Google Shape;113;p1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4" name="Google Shape;114;p1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5" name="Google Shape;115;p1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16" name="Google Shape;116;p18"/>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Coleta de lixo, identificar regiões inalcançáveis do sistema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Não são alcançáveis por nenhum nó ou por um nó raiz.</a:t>
            </a:r>
            <a:endParaRPr sz="1600">
              <a:solidFill>
                <a:schemeClr val="dk1"/>
              </a:solidFill>
              <a:latin typeface="Inter"/>
              <a:ea typeface="Inter"/>
              <a:cs typeface="Inter"/>
              <a:sym typeface="Inter"/>
            </a:endParaRPr>
          </a:p>
        </p:txBody>
      </p:sp>
      <p:sp>
        <p:nvSpPr>
          <p:cNvPr id="117" name="Google Shape;117;p18"/>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1" name="Shape 121"/>
        <p:cNvGrpSpPr/>
        <p:nvPr/>
      </p:nvGrpSpPr>
      <p:grpSpPr>
        <a:xfrm>
          <a:off x="0" y="0"/>
          <a:ext cx="0" cy="0"/>
          <a:chOff x="0" y="0"/>
          <a:chExt cx="0" cy="0"/>
        </a:xfrm>
      </p:grpSpPr>
      <p:pic>
        <p:nvPicPr>
          <p:cNvPr id="122" name="Google Shape;122;p1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123" name="Google Shape;123;p1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4" name="Google Shape;124;p1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25" name="Google Shape;125;p19"/>
          <p:cNvGrpSpPr/>
          <p:nvPr/>
        </p:nvGrpSpPr>
        <p:grpSpPr>
          <a:xfrm>
            <a:off x="457200" y="4762500"/>
            <a:ext cx="8229600" cy="304800"/>
            <a:chOff x="0" y="0"/>
            <a:chExt cx="8229600" cy="304800"/>
          </a:xfrm>
        </p:grpSpPr>
        <p:cxnSp>
          <p:nvCxnSpPr>
            <p:cNvPr id="126" name="Google Shape;126;p1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7" name="Google Shape;127;p1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8" name="Google Shape;128;p1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29" name="Google Shape;129;p19"/>
          <p:cNvSpPr txBox="1"/>
          <p:nvPr/>
        </p:nvSpPr>
        <p:spPr>
          <a:xfrm>
            <a:off x="457200" y="2301300"/>
            <a:ext cx="82914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Criar pontos de restauração para o sistema, combinados com log ou não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 Save states em um ROM emulator (distribuido em PokeMMO)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Coleta de lixo, identificar regiões inalcançáveis do sistema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Não são alcançáveis por nenhum nó ou por um nó raiz.</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 Verificação de invariantes globais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Quando o estado do sistema ou de alguma variável precisa se manter constante em referência a algo.</a:t>
            </a:r>
            <a:endParaRPr sz="1600">
              <a:solidFill>
                <a:schemeClr val="dk1"/>
              </a:solidFill>
              <a:latin typeface="Inter"/>
              <a:ea typeface="Inter"/>
              <a:cs typeface="Inter"/>
              <a:sym typeface="Inter"/>
            </a:endParaRPr>
          </a:p>
        </p:txBody>
      </p:sp>
      <p:sp>
        <p:nvSpPr>
          <p:cNvPr id="130" name="Google Shape;130;p19"/>
          <p:cNvSpPr txBox="1"/>
          <p:nvPr/>
        </p:nvSpPr>
        <p:spPr>
          <a:xfrm>
            <a:off x="426300" y="938325"/>
            <a:ext cx="8291400" cy="129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Gostaríamos de capturar um estado global dos processos: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Tirar uma “Fotografia” do estado atual de todo o sistema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Travar os processos, salvar o valor de todas as variáveis de cada processo + mensagens em rede, e continuar como se nada tivesse acontecido.</a:t>
            </a:r>
            <a:endParaRPr b="1" sz="1800">
              <a:solidFill>
                <a:srgbClr val="111827"/>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4" name="Shape 134"/>
        <p:cNvGrpSpPr/>
        <p:nvPr/>
      </p:nvGrpSpPr>
      <p:grpSpPr>
        <a:xfrm>
          <a:off x="0" y="0"/>
          <a:ext cx="0" cy="0"/>
          <a:chOff x="0" y="0"/>
          <a:chExt cx="0" cy="0"/>
        </a:xfrm>
      </p:grpSpPr>
      <p:pic>
        <p:nvPicPr>
          <p:cNvPr id="135" name="Google Shape;135;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36" name="Google Shape;136;p2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37" name="Google Shape;137;p2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38" name="Google Shape;138;p20"/>
          <p:cNvGrpSpPr/>
          <p:nvPr/>
        </p:nvGrpSpPr>
        <p:grpSpPr>
          <a:xfrm>
            <a:off x="457200" y="4762500"/>
            <a:ext cx="8229600" cy="304800"/>
            <a:chOff x="0" y="0"/>
            <a:chExt cx="8229600" cy="304800"/>
          </a:xfrm>
        </p:grpSpPr>
        <p:cxnSp>
          <p:nvCxnSpPr>
            <p:cNvPr id="139" name="Google Shape;139;p2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40" name="Google Shape;140;p2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41" name="Google Shape;141;p2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42" name="Google Shape;142;p20"/>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Deadlocks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nessa foto percebermos que existe uma relação de “A espera B, B espera C, C espera A”, podemos concluir que há um deadlock entre múltiplos processos.</a:t>
            </a:r>
            <a:endParaRPr sz="16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46" name="Shape 146"/>
        <p:cNvGrpSpPr/>
        <p:nvPr/>
      </p:nvGrpSpPr>
      <p:grpSpPr>
        <a:xfrm>
          <a:off x="0" y="0"/>
          <a:ext cx="0" cy="0"/>
          <a:chOff x="0" y="0"/>
          <a:chExt cx="0" cy="0"/>
        </a:xfrm>
      </p:grpSpPr>
      <p:pic>
        <p:nvPicPr>
          <p:cNvPr id="147" name="Google Shape;147;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8" name="Google Shape;148;p2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9" name="Google Shape;149;p2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50" name="Google Shape;150;p21"/>
          <p:cNvGrpSpPr/>
          <p:nvPr/>
        </p:nvGrpSpPr>
        <p:grpSpPr>
          <a:xfrm>
            <a:off x="457200" y="4762500"/>
            <a:ext cx="8229600" cy="304800"/>
            <a:chOff x="0" y="0"/>
            <a:chExt cx="8229600" cy="304800"/>
          </a:xfrm>
        </p:grpSpPr>
        <p:cxnSp>
          <p:nvCxnSpPr>
            <p:cNvPr id="151" name="Google Shape;151;p2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52" name="Google Shape;152;p2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53" name="Google Shape;153;p2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54" name="Google Shape;154;p21"/>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Pois assim, conseguimos:</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Deadlocks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nessa foto percebermos que existe uma relação de “A espera B, B espera C, C espera A”, podemos concluir que há um deadlock entre múltiplos processos.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accent1"/>
                </a:solidFill>
                <a:latin typeface="Inter"/>
                <a:ea typeface="Inter"/>
                <a:cs typeface="Inter"/>
                <a:sym typeface="Inter"/>
              </a:rPr>
              <a:t> </a:t>
            </a:r>
            <a:r>
              <a:rPr lang="en" sz="1600">
                <a:solidFill>
                  <a:schemeClr val="dk1"/>
                </a:solidFill>
                <a:latin typeface="Inter"/>
                <a:ea typeface="Inter"/>
                <a:cs typeface="Inter"/>
                <a:sym typeface="Inter"/>
              </a:rPr>
              <a:t>Detecção de término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Conseguimos saber se todos os processos estão realmente ociosos e de que não há mensagens voando na rede.</a:t>
            </a:r>
            <a:endParaRPr sz="16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58" name="Shape 158"/>
        <p:cNvGrpSpPr/>
        <p:nvPr/>
      </p:nvGrpSpPr>
      <p:grpSpPr>
        <a:xfrm>
          <a:off x="0" y="0"/>
          <a:ext cx="0" cy="0"/>
          <a:chOff x="0" y="0"/>
          <a:chExt cx="0" cy="0"/>
        </a:xfrm>
      </p:grpSpPr>
      <p:pic>
        <p:nvPicPr>
          <p:cNvPr id="159" name="Google Shape;159;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0" name="Google Shape;160;p2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1" name="Google Shape;161;p2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62" name="Google Shape;162;p22"/>
          <p:cNvGrpSpPr/>
          <p:nvPr/>
        </p:nvGrpSpPr>
        <p:grpSpPr>
          <a:xfrm>
            <a:off x="457200" y="4762500"/>
            <a:ext cx="8229600" cy="304800"/>
            <a:chOff x="0" y="0"/>
            <a:chExt cx="8229600" cy="304800"/>
          </a:xfrm>
        </p:grpSpPr>
        <p:cxnSp>
          <p:nvCxnSpPr>
            <p:cNvPr id="163" name="Google Shape;163;p2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64" name="Google Shape;164;p2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65" name="Google Shape;165;p2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66" name="Google Shape;166;p22"/>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1" lang="en" sz="1800">
                <a:solidFill>
                  <a:srgbClr val="111827"/>
                </a:solidFill>
                <a:latin typeface="Inter"/>
                <a:ea typeface="Inter"/>
                <a:cs typeface="Inter"/>
                <a:sym typeface="Inter"/>
              </a:rPr>
              <a:t>Por que isso é difícil?</a:t>
            </a:r>
            <a:endParaRPr sz="1600">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70" name="Shape 170"/>
        <p:cNvGrpSpPr/>
        <p:nvPr/>
      </p:nvGrpSpPr>
      <p:grpSpPr>
        <a:xfrm>
          <a:off x="0" y="0"/>
          <a:ext cx="0" cy="0"/>
          <a:chOff x="0" y="0"/>
          <a:chExt cx="0" cy="0"/>
        </a:xfrm>
      </p:grpSpPr>
      <p:pic>
        <p:nvPicPr>
          <p:cNvPr id="171" name="Google Shape;171;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2" name="Google Shape;172;p2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3" name="Google Shape;173;p2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74" name="Google Shape;174;p23"/>
          <p:cNvGrpSpPr/>
          <p:nvPr/>
        </p:nvGrpSpPr>
        <p:grpSpPr>
          <a:xfrm>
            <a:off x="457200" y="4762500"/>
            <a:ext cx="8229600" cy="304800"/>
            <a:chOff x="0" y="0"/>
            <a:chExt cx="8229600" cy="304800"/>
          </a:xfrm>
        </p:grpSpPr>
        <p:cxnSp>
          <p:nvCxnSpPr>
            <p:cNvPr id="175" name="Google Shape;175;p2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76" name="Google Shape;176;p2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77" name="Google Shape;177;p2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78" name="Google Shape;178;p23"/>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82" name="Shape 182"/>
        <p:cNvGrpSpPr/>
        <p:nvPr/>
      </p:nvGrpSpPr>
      <p:grpSpPr>
        <a:xfrm>
          <a:off x="0" y="0"/>
          <a:ext cx="0" cy="0"/>
          <a:chOff x="0" y="0"/>
          <a:chExt cx="0" cy="0"/>
        </a:xfrm>
      </p:grpSpPr>
      <p:pic>
        <p:nvPicPr>
          <p:cNvPr id="183" name="Google Shape;183;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4" name="Google Shape;184;p2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5" name="Google Shape;185;p2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186" name="Google Shape;186;p24"/>
          <p:cNvGrpSpPr/>
          <p:nvPr/>
        </p:nvGrpSpPr>
        <p:grpSpPr>
          <a:xfrm>
            <a:off x="457200" y="4762500"/>
            <a:ext cx="8229600" cy="304800"/>
            <a:chOff x="0" y="0"/>
            <a:chExt cx="8229600" cy="304800"/>
          </a:xfrm>
        </p:grpSpPr>
        <p:cxnSp>
          <p:nvCxnSpPr>
            <p:cNvPr id="187" name="Google Shape;187;p2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88" name="Google Shape;188;p2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89" name="Google Shape;189;p2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90" name="Google Shape;190;p24"/>
          <p:cNvSpPr txBox="1"/>
          <p:nvPr/>
        </p:nvSpPr>
        <p:spPr>
          <a:xfrm>
            <a:off x="426300" y="1259975"/>
            <a:ext cx="8385600" cy="228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94" name="Shape 194"/>
        <p:cNvGrpSpPr/>
        <p:nvPr/>
      </p:nvGrpSpPr>
      <p:grpSpPr>
        <a:xfrm>
          <a:off x="0" y="0"/>
          <a:ext cx="0" cy="0"/>
          <a:chOff x="0" y="0"/>
          <a:chExt cx="0" cy="0"/>
        </a:xfrm>
      </p:grpSpPr>
      <p:pic>
        <p:nvPicPr>
          <p:cNvPr id="195" name="Google Shape;195;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6" name="Google Shape;196;p2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7" name="Google Shape;197;p2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sp>
        <p:nvSpPr>
          <p:cNvPr id="198" name="Google Shape;198;p25"/>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a:t>
            </a:r>
            <a:r>
              <a:rPr lang="en" sz="1600">
                <a:solidFill>
                  <a:schemeClr val="dk1"/>
                </a:solidFill>
                <a:latin typeface="Inter"/>
                <a:ea typeface="Inter"/>
                <a:cs typeface="Inter"/>
                <a:sym typeface="Inter"/>
              </a:rPr>
              <a:t>e</a:t>
            </a:r>
            <a:r>
              <a:rPr lang="en" sz="1600">
                <a:solidFill>
                  <a:schemeClr val="dk1"/>
                </a:solidFill>
                <a:latin typeface="Inter"/>
                <a:ea typeface="Inter"/>
                <a:cs typeface="Inter"/>
                <a:sym typeface="Inter"/>
              </a:rPr>
              <a:t>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p:txBody>
      </p:sp>
      <p:grpSp>
        <p:nvGrpSpPr>
          <p:cNvPr id="199" name="Google Shape;199;p25"/>
          <p:cNvGrpSpPr/>
          <p:nvPr/>
        </p:nvGrpSpPr>
        <p:grpSpPr>
          <a:xfrm>
            <a:off x="457200" y="4762500"/>
            <a:ext cx="8229600" cy="304800"/>
            <a:chOff x="0" y="0"/>
            <a:chExt cx="8229600" cy="304800"/>
          </a:xfrm>
        </p:grpSpPr>
        <p:cxnSp>
          <p:nvCxnSpPr>
            <p:cNvPr id="200" name="Google Shape;200;p2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01" name="Google Shape;201;p2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02" name="Google Shape;202;p2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06" name="Shape 206"/>
        <p:cNvGrpSpPr/>
        <p:nvPr/>
      </p:nvGrpSpPr>
      <p:grpSpPr>
        <a:xfrm>
          <a:off x="0" y="0"/>
          <a:ext cx="0" cy="0"/>
          <a:chOff x="0" y="0"/>
          <a:chExt cx="0" cy="0"/>
        </a:xfrm>
      </p:grpSpPr>
      <p:pic>
        <p:nvPicPr>
          <p:cNvPr id="207" name="Google Shape;207;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8" name="Google Shape;208;p2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9" name="Google Shape;209;p2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10" name="Google Shape;210;p26"/>
          <p:cNvGrpSpPr/>
          <p:nvPr/>
        </p:nvGrpSpPr>
        <p:grpSpPr>
          <a:xfrm>
            <a:off x="457200" y="4762500"/>
            <a:ext cx="8229600" cy="304800"/>
            <a:chOff x="0" y="0"/>
            <a:chExt cx="8229600" cy="304800"/>
          </a:xfrm>
        </p:grpSpPr>
        <p:cxnSp>
          <p:nvCxnSpPr>
            <p:cNvPr id="211" name="Google Shape;211;p2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12" name="Google Shape;212;p2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13" name="Google Shape;213;p2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14" name="Google Shape;214;p26"/>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18" name="Shape 218"/>
        <p:cNvGrpSpPr/>
        <p:nvPr/>
      </p:nvGrpSpPr>
      <p:grpSpPr>
        <a:xfrm>
          <a:off x="0" y="0"/>
          <a:ext cx="0" cy="0"/>
          <a:chOff x="0" y="0"/>
          <a:chExt cx="0" cy="0"/>
        </a:xfrm>
      </p:grpSpPr>
      <p:pic>
        <p:nvPicPr>
          <p:cNvPr id="219" name="Google Shape;219;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0" name="Google Shape;220;p2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1" name="Google Shape;221;p2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22" name="Google Shape;222;p27"/>
          <p:cNvGrpSpPr/>
          <p:nvPr/>
        </p:nvGrpSpPr>
        <p:grpSpPr>
          <a:xfrm>
            <a:off x="457200" y="4762500"/>
            <a:ext cx="8229600" cy="304800"/>
            <a:chOff x="0" y="0"/>
            <a:chExt cx="8229600" cy="304800"/>
          </a:xfrm>
        </p:grpSpPr>
        <p:cxnSp>
          <p:nvCxnSpPr>
            <p:cNvPr id="223" name="Google Shape;223;p2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24" name="Google Shape;224;p2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25" name="Google Shape;225;p2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26" name="Google Shape;226;p27"/>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Atrasos e comunicação assíncrona</a:t>
            </a:r>
            <a:endParaRPr sz="16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30" name="Shape 230"/>
        <p:cNvGrpSpPr/>
        <p:nvPr/>
      </p:nvGrpSpPr>
      <p:grpSpPr>
        <a:xfrm>
          <a:off x="0" y="0"/>
          <a:ext cx="0" cy="0"/>
          <a:chOff x="0" y="0"/>
          <a:chExt cx="0" cy="0"/>
        </a:xfrm>
      </p:grpSpPr>
      <p:pic>
        <p:nvPicPr>
          <p:cNvPr id="231" name="Google Shape;231;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2" name="Google Shape;232;p2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3" name="Google Shape;233;p2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O Desafio Central: Definindo um Estado Global Consistente</a:t>
            </a:r>
            <a:endParaRPr b="1" sz="2240">
              <a:solidFill>
                <a:srgbClr val="111827"/>
              </a:solidFill>
              <a:latin typeface="Inter"/>
              <a:ea typeface="Inter"/>
              <a:cs typeface="Inter"/>
              <a:sym typeface="Inter"/>
            </a:endParaRPr>
          </a:p>
        </p:txBody>
      </p:sp>
      <p:grpSp>
        <p:nvGrpSpPr>
          <p:cNvPr id="234" name="Google Shape;234;p28"/>
          <p:cNvGrpSpPr/>
          <p:nvPr/>
        </p:nvGrpSpPr>
        <p:grpSpPr>
          <a:xfrm>
            <a:off x="457200" y="4762500"/>
            <a:ext cx="8229600" cy="304800"/>
            <a:chOff x="0" y="0"/>
            <a:chExt cx="8229600" cy="304800"/>
          </a:xfrm>
        </p:grpSpPr>
        <p:cxnSp>
          <p:nvCxnSpPr>
            <p:cNvPr id="235" name="Google Shape;235;p2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36" name="Google Shape;236;p2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37" name="Google Shape;237;p2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38" name="Google Shape;238;p28"/>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Por que isso é difícil?</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impossível sincronizar todos os processos sob um relógio global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Em uma máquina local, poderíamos fazer uma presunção de que todos os processos salvem seu estado com o clock do sistema. Em um sistema distribuido, isso não é possível.</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Processos não possuem uma memória compartilhada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 processo não consegue simplesmente ler o estado dos outros e salvar o que vê, tudo acontece por troca de mensagens.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Atrasos e comunicação assíncrona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Comunicações via rede possuem atrasos inerentes, tentar iniciar um snapshot mandando um broadcast para os processos não é possível, pois não há garantia de que os processos irão receber a mensagem ao mesmo tempo.</a:t>
            </a:r>
            <a:endParaRPr sz="1600">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42" name="Shape 242"/>
        <p:cNvGrpSpPr/>
        <p:nvPr/>
      </p:nvGrpSpPr>
      <p:grpSpPr>
        <a:xfrm>
          <a:off x="0" y="0"/>
          <a:ext cx="0" cy="0"/>
          <a:chOff x="0" y="0"/>
          <a:chExt cx="0" cy="0"/>
        </a:xfrm>
      </p:grpSpPr>
      <p:pic>
        <p:nvPicPr>
          <p:cNvPr id="243" name="Google Shape;243;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44" name="Google Shape;244;p2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 name="Google Shape;245;p2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46" name="Google Shape;246;p29"/>
          <p:cNvGrpSpPr/>
          <p:nvPr/>
        </p:nvGrpSpPr>
        <p:grpSpPr>
          <a:xfrm>
            <a:off x="457200" y="4762500"/>
            <a:ext cx="8229600" cy="304800"/>
            <a:chOff x="0" y="0"/>
            <a:chExt cx="8229600" cy="304800"/>
          </a:xfrm>
        </p:grpSpPr>
        <p:cxnSp>
          <p:nvCxnSpPr>
            <p:cNvPr id="247" name="Google Shape;247;p2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48" name="Google Shape;248;p2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49" name="Google Shape;249;p2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50" name="Google Shape;250;p29"/>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54" name="Shape 254"/>
        <p:cNvGrpSpPr/>
        <p:nvPr/>
      </p:nvGrpSpPr>
      <p:grpSpPr>
        <a:xfrm>
          <a:off x="0" y="0"/>
          <a:ext cx="0" cy="0"/>
          <a:chOff x="0" y="0"/>
          <a:chExt cx="0" cy="0"/>
        </a:xfrm>
      </p:grpSpPr>
      <p:pic>
        <p:nvPicPr>
          <p:cNvPr id="255" name="Google Shape;255;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6" name="Google Shape;256;p3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7" name="Google Shape;257;p3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58" name="Google Shape;258;p30"/>
          <p:cNvGrpSpPr/>
          <p:nvPr/>
        </p:nvGrpSpPr>
        <p:grpSpPr>
          <a:xfrm>
            <a:off x="457200" y="4762500"/>
            <a:ext cx="8229600" cy="304800"/>
            <a:chOff x="0" y="0"/>
            <a:chExt cx="8229600" cy="304800"/>
          </a:xfrm>
        </p:grpSpPr>
        <p:cxnSp>
          <p:nvCxnSpPr>
            <p:cNvPr id="259" name="Google Shape;259;p3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60" name="Google Shape;260;p3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61" name="Google Shape;261;p3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62" name="Google Shape;262;p30"/>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Até então, se acreditava que a solução para capturar o estado global de um sistema envolvia um relógio global que congelasse o sistema de forma síncrona.</a:t>
            </a:r>
            <a:endParaRPr sz="1600">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66" name="Shape 266"/>
        <p:cNvGrpSpPr/>
        <p:nvPr/>
      </p:nvGrpSpPr>
      <p:grpSpPr>
        <a:xfrm>
          <a:off x="0" y="0"/>
          <a:ext cx="0" cy="0"/>
          <a:chOff x="0" y="0"/>
          <a:chExt cx="0" cy="0"/>
        </a:xfrm>
      </p:grpSpPr>
      <p:pic>
        <p:nvPicPr>
          <p:cNvPr id="267" name="Google Shape;267;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8" name="Google Shape;268;p3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9" name="Google Shape;269;p3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70" name="Google Shape;270;p31"/>
          <p:cNvGrpSpPr/>
          <p:nvPr/>
        </p:nvGrpSpPr>
        <p:grpSpPr>
          <a:xfrm>
            <a:off x="457200" y="4762500"/>
            <a:ext cx="8229600" cy="304800"/>
            <a:chOff x="0" y="0"/>
            <a:chExt cx="8229600" cy="304800"/>
          </a:xfrm>
        </p:grpSpPr>
        <p:cxnSp>
          <p:nvCxnSpPr>
            <p:cNvPr id="271" name="Google Shape;271;p3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72" name="Google Shape;272;p3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73" name="Google Shape;273;p3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74" name="Google Shape;274;p31"/>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Algoritmo de Chandy-Lamport</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Proposto em 1985 por Kanianthra Mani Chandy e Leslie Lamport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Até então, se acreditava que a solução para capturar o estado global de um sistema envolvia um relógio global que congelasse o sistema de forma síncrona.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Chandy e Lamport provaram </a:t>
            </a:r>
            <a:r>
              <a:rPr lang="en" sz="1600">
                <a:solidFill>
                  <a:schemeClr val="dk1"/>
                </a:solidFill>
                <a:latin typeface="Inter"/>
                <a:ea typeface="Inter"/>
                <a:cs typeface="Inter"/>
                <a:sym typeface="Inter"/>
              </a:rPr>
              <a:t>matematicamente</a:t>
            </a:r>
            <a:r>
              <a:rPr lang="en" sz="1600">
                <a:solidFill>
                  <a:schemeClr val="dk1"/>
                </a:solidFill>
                <a:latin typeface="Inter"/>
                <a:ea typeface="Inter"/>
                <a:cs typeface="Inter"/>
                <a:sym typeface="Inter"/>
              </a:rPr>
              <a:t> que é possível capturar o estado global sem a necessidade de um relógio global ou de congelar o sistema como um todo.</a:t>
            </a:r>
            <a:endParaRPr sz="160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78" name="Shape 278"/>
        <p:cNvGrpSpPr/>
        <p:nvPr/>
      </p:nvGrpSpPr>
      <p:grpSpPr>
        <a:xfrm>
          <a:off x="0" y="0"/>
          <a:ext cx="0" cy="0"/>
          <a:chOff x="0" y="0"/>
          <a:chExt cx="0" cy="0"/>
        </a:xfrm>
      </p:grpSpPr>
      <p:pic>
        <p:nvPicPr>
          <p:cNvPr id="279" name="Google Shape;279;p3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280" name="Google Shape;280;p3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1" name="Google Shape;281;p3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82" name="Google Shape;282;p32"/>
          <p:cNvGrpSpPr/>
          <p:nvPr/>
        </p:nvGrpSpPr>
        <p:grpSpPr>
          <a:xfrm>
            <a:off x="457200" y="4762500"/>
            <a:ext cx="8229600" cy="304800"/>
            <a:chOff x="0" y="0"/>
            <a:chExt cx="8229600" cy="304800"/>
          </a:xfrm>
        </p:grpSpPr>
        <p:cxnSp>
          <p:nvCxnSpPr>
            <p:cNvPr id="283" name="Google Shape;283;p3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84" name="Google Shape;284;p3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85" name="Google Shape;285;p3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86" name="Google Shape;286;p32"/>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90" name="Shape 290"/>
        <p:cNvGrpSpPr/>
        <p:nvPr/>
      </p:nvGrpSpPr>
      <p:grpSpPr>
        <a:xfrm>
          <a:off x="0" y="0"/>
          <a:ext cx="0" cy="0"/>
          <a:chOff x="0" y="0"/>
          <a:chExt cx="0" cy="0"/>
        </a:xfrm>
      </p:grpSpPr>
      <p:pic>
        <p:nvPicPr>
          <p:cNvPr id="291" name="Google Shape;291;p3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292" name="Google Shape;292;p3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3" name="Google Shape;293;p3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294" name="Google Shape;294;p33"/>
          <p:cNvGrpSpPr/>
          <p:nvPr/>
        </p:nvGrpSpPr>
        <p:grpSpPr>
          <a:xfrm>
            <a:off x="457200" y="4762500"/>
            <a:ext cx="8229600" cy="304800"/>
            <a:chOff x="0" y="0"/>
            <a:chExt cx="8229600" cy="304800"/>
          </a:xfrm>
        </p:grpSpPr>
        <p:cxnSp>
          <p:nvCxnSpPr>
            <p:cNvPr id="295" name="Google Shape;295;p3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296" name="Google Shape;296;p3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297" name="Google Shape;297;p3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298" name="Google Shape;298;p33"/>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02" name="Shape 302"/>
        <p:cNvGrpSpPr/>
        <p:nvPr/>
      </p:nvGrpSpPr>
      <p:grpSpPr>
        <a:xfrm>
          <a:off x="0" y="0"/>
          <a:ext cx="0" cy="0"/>
          <a:chOff x="0" y="0"/>
          <a:chExt cx="0" cy="0"/>
        </a:xfrm>
      </p:grpSpPr>
      <p:pic>
        <p:nvPicPr>
          <p:cNvPr id="303" name="Google Shape;303;p3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04" name="Google Shape;304;p3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5" name="Google Shape;305;p3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06" name="Google Shape;306;p34"/>
          <p:cNvGrpSpPr/>
          <p:nvPr/>
        </p:nvGrpSpPr>
        <p:grpSpPr>
          <a:xfrm>
            <a:off x="457200" y="4762500"/>
            <a:ext cx="8229600" cy="304800"/>
            <a:chOff x="0" y="0"/>
            <a:chExt cx="8229600" cy="304800"/>
          </a:xfrm>
        </p:grpSpPr>
        <p:cxnSp>
          <p:nvCxnSpPr>
            <p:cNvPr id="307" name="Google Shape;307;p3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08" name="Google Shape;308;p3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09" name="Google Shape;309;p3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10" name="Google Shape;310;p34"/>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14" name="Shape 314"/>
        <p:cNvGrpSpPr/>
        <p:nvPr/>
      </p:nvGrpSpPr>
      <p:grpSpPr>
        <a:xfrm>
          <a:off x="0" y="0"/>
          <a:ext cx="0" cy="0"/>
          <a:chOff x="0" y="0"/>
          <a:chExt cx="0" cy="0"/>
        </a:xfrm>
      </p:grpSpPr>
      <p:pic>
        <p:nvPicPr>
          <p:cNvPr id="315" name="Google Shape;315;p3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16" name="Google Shape;316;p3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7" name="Google Shape;317;p3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18" name="Google Shape;318;p35"/>
          <p:cNvGrpSpPr/>
          <p:nvPr/>
        </p:nvGrpSpPr>
        <p:grpSpPr>
          <a:xfrm>
            <a:off x="457200" y="4762500"/>
            <a:ext cx="8229600" cy="304800"/>
            <a:chOff x="0" y="0"/>
            <a:chExt cx="8229600" cy="304800"/>
          </a:xfrm>
        </p:grpSpPr>
        <p:cxnSp>
          <p:nvCxnSpPr>
            <p:cNvPr id="319" name="Google Shape;319;p3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20" name="Google Shape;320;p3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21" name="Google Shape;321;p3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22" name="Google Shape;322;p35"/>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26" name="Shape 326"/>
        <p:cNvGrpSpPr/>
        <p:nvPr/>
      </p:nvGrpSpPr>
      <p:grpSpPr>
        <a:xfrm>
          <a:off x="0" y="0"/>
          <a:ext cx="0" cy="0"/>
          <a:chOff x="0" y="0"/>
          <a:chExt cx="0" cy="0"/>
        </a:xfrm>
      </p:grpSpPr>
      <p:pic>
        <p:nvPicPr>
          <p:cNvPr id="327" name="Google Shape;327;p3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28" name="Google Shape;328;p3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9" name="Google Shape;329;p3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30" name="Google Shape;330;p36"/>
          <p:cNvGrpSpPr/>
          <p:nvPr/>
        </p:nvGrpSpPr>
        <p:grpSpPr>
          <a:xfrm>
            <a:off x="457200" y="4762500"/>
            <a:ext cx="8229600" cy="304800"/>
            <a:chOff x="0" y="0"/>
            <a:chExt cx="8229600" cy="304800"/>
          </a:xfrm>
        </p:grpSpPr>
        <p:cxnSp>
          <p:nvCxnSpPr>
            <p:cNvPr id="331" name="Google Shape;331;p3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32" name="Google Shape;332;p3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33" name="Google Shape;333;p3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34" name="Google Shape;334;p36"/>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-&gt; Os processos formam um grafo fortemente conexo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38" name="Shape 338"/>
        <p:cNvGrpSpPr/>
        <p:nvPr/>
      </p:nvGrpSpPr>
      <p:grpSpPr>
        <a:xfrm>
          <a:off x="0" y="0"/>
          <a:ext cx="0" cy="0"/>
          <a:chOff x="0" y="0"/>
          <a:chExt cx="0" cy="0"/>
        </a:xfrm>
      </p:grpSpPr>
      <p:pic>
        <p:nvPicPr>
          <p:cNvPr id="339" name="Google Shape;339;p3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40" name="Google Shape;340;p3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1" name="Google Shape;341;p3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42" name="Google Shape;342;p37"/>
          <p:cNvGrpSpPr/>
          <p:nvPr/>
        </p:nvGrpSpPr>
        <p:grpSpPr>
          <a:xfrm>
            <a:off x="457200" y="4762500"/>
            <a:ext cx="8229600" cy="304800"/>
            <a:chOff x="0" y="0"/>
            <a:chExt cx="8229600" cy="304800"/>
          </a:xfrm>
        </p:grpSpPr>
        <p:cxnSp>
          <p:nvCxnSpPr>
            <p:cNvPr id="343" name="Google Shape;343;p3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44" name="Google Shape;344;p3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45" name="Google Shape;345;p3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46" name="Google Shape;346;p37"/>
          <p:cNvSpPr txBox="1"/>
          <p:nvPr/>
        </p:nvSpPr>
        <p:spPr>
          <a:xfrm>
            <a:off x="442078" y="1259975"/>
            <a:ext cx="8385600" cy="358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111827"/>
                </a:solidFill>
                <a:latin typeface="Inter"/>
                <a:ea typeface="Inter"/>
                <a:cs typeface="Inter"/>
                <a:sym typeface="Inter"/>
              </a:rPr>
              <a:t>As regras do jogo (Suposições do modelo)</a:t>
            </a:r>
            <a:endParaRPr sz="1800">
              <a:solidFill>
                <a:srgbClr val="111827"/>
              </a:solidFill>
              <a:latin typeface="Inter"/>
              <a:ea typeface="Inter"/>
              <a:cs typeface="Inter"/>
              <a:sym typeface="Inter"/>
            </a:endParaRPr>
          </a:p>
          <a:p>
            <a:pPr indent="-330200" lvl="0" marL="457200" rtl="0" algn="l">
              <a:spcBef>
                <a:spcPts val="1200"/>
              </a:spcBef>
              <a:spcAft>
                <a:spcPts val="0"/>
              </a:spcAft>
              <a:buClr>
                <a:schemeClr val="accent1"/>
              </a:buClr>
              <a:buSzPts val="1600"/>
              <a:buFont typeface="Inter"/>
              <a:buChar char="●"/>
            </a:pPr>
            <a:r>
              <a:rPr lang="en" sz="1600">
                <a:solidFill>
                  <a:schemeClr val="dk1"/>
                </a:solidFill>
                <a:latin typeface="Inter"/>
                <a:ea typeface="Inter"/>
                <a:cs typeface="Inter"/>
                <a:sym typeface="Inter"/>
              </a:rPr>
              <a:t>O Algoritmo não funciona sob todos os cenários, certas suposições são necessárias para garantir a corretude do algoritmo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Fortes:</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confiáveis -&gt; Nenhuma mensagem é perdida, corrompida ou duplicada.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Canais FIFO -&gt; As mensagens chegam na exata ordem em que são mandadas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Ausência de falhas -&gt; Nenhum processo falha durante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-&gt; Os processos formam um grafo fortemente conexo</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Suposições Fracas: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Totalmente assíncrono -&gt; Não exige limite de tempo para processamento, atraso de mensagens ou relógios sincronizados.</a:t>
            </a:r>
            <a:endParaRPr sz="1600">
              <a:solidFill>
                <a:schemeClr val="accent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50" name="Shape 350"/>
        <p:cNvGrpSpPr/>
        <p:nvPr/>
      </p:nvGrpSpPr>
      <p:grpSpPr>
        <a:xfrm>
          <a:off x="0" y="0"/>
          <a:ext cx="0" cy="0"/>
          <a:chOff x="0" y="0"/>
          <a:chExt cx="0" cy="0"/>
        </a:xfrm>
      </p:grpSpPr>
      <p:pic>
        <p:nvPicPr>
          <p:cNvPr id="351" name="Google Shape;351;p3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52" name="Google Shape;352;p3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3" name="Google Shape;353;p3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54" name="Google Shape;354;p38"/>
          <p:cNvGrpSpPr/>
          <p:nvPr/>
        </p:nvGrpSpPr>
        <p:grpSpPr>
          <a:xfrm>
            <a:off x="457200" y="4762500"/>
            <a:ext cx="8229600" cy="304800"/>
            <a:chOff x="0" y="0"/>
            <a:chExt cx="8229600" cy="304800"/>
          </a:xfrm>
        </p:grpSpPr>
        <p:cxnSp>
          <p:nvCxnSpPr>
            <p:cNvPr id="355" name="Google Shape;355;p3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56" name="Google Shape;356;p3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57" name="Google Shape;357;p3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58" name="Google Shape;358;p38"/>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chemeClr val="accent1"/>
              </a:buClr>
              <a:buSzPts val="1800"/>
              <a:buFont typeface="Inter"/>
              <a:buChar char="●"/>
            </a:pPr>
            <a:r>
              <a:rPr b="1" lang="en" sz="1800">
                <a:solidFill>
                  <a:srgbClr val="111827"/>
                </a:solidFill>
                <a:latin typeface="Inter"/>
                <a:ea typeface="Inter"/>
                <a:cs typeface="Inter"/>
                <a:sym typeface="Inter"/>
              </a:rPr>
              <a:t>Marcador (Marker):</a:t>
            </a:r>
            <a:endParaRPr sz="1800">
              <a:solidFill>
                <a:srgbClr val="111827"/>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62" name="Shape 362"/>
        <p:cNvGrpSpPr/>
        <p:nvPr/>
      </p:nvGrpSpPr>
      <p:grpSpPr>
        <a:xfrm>
          <a:off x="0" y="0"/>
          <a:ext cx="0" cy="0"/>
          <a:chOff x="0" y="0"/>
          <a:chExt cx="0" cy="0"/>
        </a:xfrm>
      </p:grpSpPr>
      <p:pic>
        <p:nvPicPr>
          <p:cNvPr id="363" name="Google Shape;363;p3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64" name="Google Shape;364;p3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5" name="Google Shape;365;p3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66" name="Google Shape;366;p39"/>
          <p:cNvGrpSpPr/>
          <p:nvPr/>
        </p:nvGrpSpPr>
        <p:grpSpPr>
          <a:xfrm>
            <a:off x="457200" y="4762500"/>
            <a:ext cx="8229600" cy="304800"/>
            <a:chOff x="0" y="0"/>
            <a:chExt cx="8229600" cy="304800"/>
          </a:xfrm>
        </p:grpSpPr>
        <p:cxnSp>
          <p:nvCxnSpPr>
            <p:cNvPr id="367" name="Google Shape;367;p3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68" name="Google Shape;368;p3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69" name="Google Shape;369;p3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70" name="Google Shape;370;p39"/>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74" name="Shape 374"/>
        <p:cNvGrpSpPr/>
        <p:nvPr/>
      </p:nvGrpSpPr>
      <p:grpSpPr>
        <a:xfrm>
          <a:off x="0" y="0"/>
          <a:ext cx="0" cy="0"/>
          <a:chOff x="0" y="0"/>
          <a:chExt cx="0" cy="0"/>
        </a:xfrm>
      </p:grpSpPr>
      <p:pic>
        <p:nvPicPr>
          <p:cNvPr id="375" name="Google Shape;375;p4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76" name="Google Shape;376;p4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7" name="Google Shape;377;p4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78" name="Google Shape;378;p40"/>
          <p:cNvGrpSpPr/>
          <p:nvPr/>
        </p:nvGrpSpPr>
        <p:grpSpPr>
          <a:xfrm>
            <a:off x="457200" y="4762500"/>
            <a:ext cx="8229600" cy="304800"/>
            <a:chOff x="0" y="0"/>
            <a:chExt cx="8229600" cy="304800"/>
          </a:xfrm>
        </p:grpSpPr>
        <p:cxnSp>
          <p:nvCxnSpPr>
            <p:cNvPr id="379" name="Google Shape;379;p4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80" name="Google Shape;380;p4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81" name="Google Shape;381;p4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82" name="Google Shape;382;p40"/>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trata de uma mensagem de controle enviada para os processos, chega no mesmo canal que uma mensagem qualquer.</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86" name="Shape 386"/>
        <p:cNvGrpSpPr/>
        <p:nvPr/>
      </p:nvGrpSpPr>
      <p:grpSpPr>
        <a:xfrm>
          <a:off x="0" y="0"/>
          <a:ext cx="0" cy="0"/>
          <a:chOff x="0" y="0"/>
          <a:chExt cx="0" cy="0"/>
        </a:xfrm>
      </p:grpSpPr>
      <p:pic>
        <p:nvPicPr>
          <p:cNvPr id="387" name="Google Shape;387;p4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388" name="Google Shape;388;p4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9" name="Google Shape;389;p4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390" name="Google Shape;390;p41"/>
          <p:cNvGrpSpPr/>
          <p:nvPr/>
        </p:nvGrpSpPr>
        <p:grpSpPr>
          <a:xfrm>
            <a:off x="457200" y="4762500"/>
            <a:ext cx="8229600" cy="304800"/>
            <a:chOff x="0" y="0"/>
            <a:chExt cx="8229600" cy="304800"/>
          </a:xfrm>
        </p:grpSpPr>
        <p:cxnSp>
          <p:nvCxnSpPr>
            <p:cNvPr id="391" name="Google Shape;391;p4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392" name="Google Shape;392;p4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393" name="Google Shape;393;p4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394" name="Google Shape;394;p41"/>
          <p:cNvSpPr txBox="1"/>
          <p:nvPr/>
        </p:nvSpPr>
        <p:spPr>
          <a:xfrm>
            <a:off x="426300" y="1259975"/>
            <a:ext cx="8385600" cy="35838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Marcador (Marker):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marcador é o coração do algoritmo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trata de uma mensagem de controle enviada para os processos, chega no mesmo canal que uma mensagem qualquer.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Ela marca o inicio do snapshot, separando as mensagens em dois tipos:</a:t>
            </a:r>
            <a:endParaRPr sz="1600">
              <a:solidFill>
                <a:schemeClr val="dk1"/>
              </a:solidFill>
              <a:latin typeface="Inter"/>
              <a:ea typeface="Inter"/>
              <a:cs typeface="Inter"/>
              <a:sym typeface="Inter"/>
            </a:endParaRPr>
          </a:p>
          <a:p>
            <a:pPr indent="-330200" lvl="0" marL="1371600" rtl="0" algn="l">
              <a:spcBef>
                <a:spcPts val="0"/>
              </a:spcBef>
              <a:spcAft>
                <a:spcPts val="0"/>
              </a:spcAft>
              <a:buClr>
                <a:schemeClr val="dk1"/>
              </a:buClr>
              <a:buSzPts val="1600"/>
              <a:buFont typeface="Inter"/>
              <a:buAutoNum type="arabicPeriod"/>
            </a:pPr>
            <a:r>
              <a:rPr lang="en" sz="1600">
                <a:solidFill>
                  <a:schemeClr val="dk1"/>
                </a:solidFill>
                <a:latin typeface="Inter"/>
                <a:ea typeface="Inter"/>
                <a:cs typeface="Inter"/>
                <a:sym typeface="Inter"/>
              </a:rPr>
              <a:t>Mensagens enviadas antes do snapshot.</a:t>
            </a:r>
            <a:endParaRPr sz="1600">
              <a:solidFill>
                <a:schemeClr val="dk1"/>
              </a:solidFill>
              <a:latin typeface="Inter"/>
              <a:ea typeface="Inter"/>
              <a:cs typeface="Inter"/>
              <a:sym typeface="Inter"/>
            </a:endParaRPr>
          </a:p>
          <a:p>
            <a:pPr indent="-330200" lvl="0" marL="1371600" rtl="0" algn="l">
              <a:spcBef>
                <a:spcPts val="0"/>
              </a:spcBef>
              <a:spcAft>
                <a:spcPts val="0"/>
              </a:spcAft>
              <a:buClr>
                <a:schemeClr val="dk1"/>
              </a:buClr>
              <a:buSzPts val="1600"/>
              <a:buFont typeface="Inter"/>
              <a:buAutoNum type="arabicPeriod"/>
            </a:pPr>
            <a:r>
              <a:rPr lang="en" sz="1600">
                <a:solidFill>
                  <a:schemeClr val="dk1"/>
                </a:solidFill>
                <a:latin typeface="Inter"/>
                <a:ea typeface="Inter"/>
                <a:cs typeface="Inter"/>
                <a:sym typeface="Inter"/>
              </a:rPr>
              <a:t>Mensagens enviadas depois do snapshot.	</a:t>
            </a:r>
            <a:endParaRPr sz="1600">
              <a:solidFill>
                <a:schemeClr val="dk1"/>
              </a:solidFill>
              <a:latin typeface="Inter"/>
              <a:ea typeface="Inter"/>
              <a:cs typeface="Inter"/>
              <a:sym typeface="Inter"/>
            </a:endParaRPr>
          </a:p>
          <a:p>
            <a:pPr indent="0" lvl="0" marL="0" rtl="0" algn="l">
              <a:spcBef>
                <a:spcPts val="1200"/>
              </a:spcBef>
              <a:spcAft>
                <a:spcPts val="0"/>
              </a:spcAft>
              <a:buNone/>
            </a:pPr>
            <a:r>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98" name="Shape 398"/>
        <p:cNvGrpSpPr/>
        <p:nvPr/>
      </p:nvGrpSpPr>
      <p:grpSpPr>
        <a:xfrm>
          <a:off x="0" y="0"/>
          <a:ext cx="0" cy="0"/>
          <a:chOff x="0" y="0"/>
          <a:chExt cx="0" cy="0"/>
        </a:xfrm>
      </p:grpSpPr>
      <p:pic>
        <p:nvPicPr>
          <p:cNvPr id="399" name="Google Shape;399;p4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00" name="Google Shape;400;p4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1" name="Google Shape;401;p4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02" name="Google Shape;402;p42"/>
          <p:cNvGrpSpPr/>
          <p:nvPr/>
        </p:nvGrpSpPr>
        <p:grpSpPr>
          <a:xfrm>
            <a:off x="457200" y="4762500"/>
            <a:ext cx="8229600" cy="304800"/>
            <a:chOff x="0" y="0"/>
            <a:chExt cx="8229600" cy="304800"/>
          </a:xfrm>
        </p:grpSpPr>
        <p:cxnSp>
          <p:nvCxnSpPr>
            <p:cNvPr id="403" name="Google Shape;403;p4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04" name="Google Shape;404;p4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05" name="Google Shape;405;p4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06" name="Google Shape;406;p42"/>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10" name="Shape 410"/>
        <p:cNvGrpSpPr/>
        <p:nvPr/>
      </p:nvGrpSpPr>
      <p:grpSpPr>
        <a:xfrm>
          <a:off x="0" y="0"/>
          <a:ext cx="0" cy="0"/>
          <a:chOff x="0" y="0"/>
          <a:chExt cx="0" cy="0"/>
        </a:xfrm>
      </p:grpSpPr>
      <p:pic>
        <p:nvPicPr>
          <p:cNvPr id="411" name="Google Shape;411;p4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12" name="Google Shape;412;p4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3" name="Google Shape;413;p4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14" name="Google Shape;414;p43"/>
          <p:cNvGrpSpPr/>
          <p:nvPr/>
        </p:nvGrpSpPr>
        <p:grpSpPr>
          <a:xfrm>
            <a:off x="457200" y="4762500"/>
            <a:ext cx="8229600" cy="304800"/>
            <a:chOff x="0" y="0"/>
            <a:chExt cx="8229600" cy="304800"/>
          </a:xfrm>
        </p:grpSpPr>
        <p:cxnSp>
          <p:nvCxnSpPr>
            <p:cNvPr id="415" name="Google Shape;415;p4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16" name="Google Shape;416;p4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17" name="Google Shape;417;p4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18" name="Google Shape;418;p43"/>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22" name="Shape 422"/>
        <p:cNvGrpSpPr/>
        <p:nvPr/>
      </p:nvGrpSpPr>
      <p:grpSpPr>
        <a:xfrm>
          <a:off x="0" y="0"/>
          <a:ext cx="0" cy="0"/>
          <a:chOff x="0" y="0"/>
          <a:chExt cx="0" cy="0"/>
        </a:xfrm>
      </p:grpSpPr>
      <p:pic>
        <p:nvPicPr>
          <p:cNvPr id="423" name="Google Shape;423;p4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24" name="Google Shape;424;p4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5" name="Google Shape;425;p4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26" name="Google Shape;426;p44"/>
          <p:cNvGrpSpPr/>
          <p:nvPr/>
        </p:nvGrpSpPr>
        <p:grpSpPr>
          <a:xfrm>
            <a:off x="457200" y="4762500"/>
            <a:ext cx="8229600" cy="304800"/>
            <a:chOff x="0" y="0"/>
            <a:chExt cx="8229600" cy="304800"/>
          </a:xfrm>
        </p:grpSpPr>
        <p:cxnSp>
          <p:nvCxnSpPr>
            <p:cNvPr id="427" name="Google Shape;427;p4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28" name="Google Shape;428;p4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29" name="Google Shape;429;p4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30" name="Google Shape;430;p44"/>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34" name="Shape 434"/>
        <p:cNvGrpSpPr/>
        <p:nvPr/>
      </p:nvGrpSpPr>
      <p:grpSpPr>
        <a:xfrm>
          <a:off x="0" y="0"/>
          <a:ext cx="0" cy="0"/>
          <a:chOff x="0" y="0"/>
          <a:chExt cx="0" cy="0"/>
        </a:xfrm>
      </p:grpSpPr>
      <p:pic>
        <p:nvPicPr>
          <p:cNvPr id="435" name="Google Shape;435;p4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36" name="Google Shape;436;p4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7" name="Google Shape;437;p4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38" name="Google Shape;438;p45"/>
          <p:cNvGrpSpPr/>
          <p:nvPr/>
        </p:nvGrpSpPr>
        <p:grpSpPr>
          <a:xfrm>
            <a:off x="457200" y="4762500"/>
            <a:ext cx="8229600" cy="304800"/>
            <a:chOff x="0" y="0"/>
            <a:chExt cx="8229600" cy="304800"/>
          </a:xfrm>
        </p:grpSpPr>
        <p:cxnSp>
          <p:nvCxnSpPr>
            <p:cNvPr id="439" name="Google Shape;439;p4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40" name="Google Shape;440;p4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41" name="Google Shape;441;p4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42" name="Google Shape;442;p45"/>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Envia o marker para todos os seus canais de saída.</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46" name="Shape 446"/>
        <p:cNvGrpSpPr/>
        <p:nvPr/>
      </p:nvGrpSpPr>
      <p:grpSpPr>
        <a:xfrm>
          <a:off x="0" y="0"/>
          <a:ext cx="0" cy="0"/>
          <a:chOff x="0" y="0"/>
          <a:chExt cx="0" cy="0"/>
        </a:xfrm>
      </p:grpSpPr>
      <p:pic>
        <p:nvPicPr>
          <p:cNvPr id="447" name="Google Shape;447;p4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48" name="Google Shape;448;p4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49" name="Google Shape;449;p4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50" name="Google Shape;450;p46"/>
          <p:cNvGrpSpPr/>
          <p:nvPr/>
        </p:nvGrpSpPr>
        <p:grpSpPr>
          <a:xfrm>
            <a:off x="457200" y="4762500"/>
            <a:ext cx="8229600" cy="304800"/>
            <a:chOff x="0" y="0"/>
            <a:chExt cx="8229600" cy="304800"/>
          </a:xfrm>
        </p:grpSpPr>
        <p:cxnSp>
          <p:nvCxnSpPr>
            <p:cNvPr id="451" name="Google Shape;451;p4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52" name="Google Shape;452;p4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53" name="Google Shape;453;p4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54" name="Google Shape;454;p46"/>
          <p:cNvSpPr txBox="1"/>
          <p:nvPr/>
        </p:nvSpPr>
        <p:spPr>
          <a:xfrm>
            <a:off x="426300" y="1259975"/>
            <a:ext cx="8385600" cy="15486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Início do Snapshot (Nó inicializador)</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Qualquer nó pode iniciar o snapshot (Por conta de ser um GFC).</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começar um snapshot, o nó:</a:t>
            </a:r>
            <a:endParaRPr sz="1600">
              <a:solidFill>
                <a:schemeClr val="accent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Salva seu estado local.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Envia o marker para todos os seus canais de saída.</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Começa a gravar as mensagens que chegam no buffer de entrada.</a:t>
            </a:r>
            <a:endParaRPr sz="1600">
              <a:solidFill>
                <a:schemeClr val="accent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58" name="Shape 458"/>
        <p:cNvGrpSpPr/>
        <p:nvPr/>
      </p:nvGrpSpPr>
      <p:grpSpPr>
        <a:xfrm>
          <a:off x="0" y="0"/>
          <a:ext cx="0" cy="0"/>
          <a:chOff x="0" y="0"/>
          <a:chExt cx="0" cy="0"/>
        </a:xfrm>
      </p:grpSpPr>
      <p:pic>
        <p:nvPicPr>
          <p:cNvPr id="459" name="Google Shape;459;p4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60" name="Google Shape;460;p47"/>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
        <p:nvSpPr>
          <p:cNvPr id="461" name="Google Shape;461;p4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62" name="Google Shape;462;p4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63" name="Google Shape;463;p47"/>
          <p:cNvGrpSpPr/>
          <p:nvPr/>
        </p:nvGrpSpPr>
        <p:grpSpPr>
          <a:xfrm>
            <a:off x="457200" y="4762500"/>
            <a:ext cx="8229600" cy="304800"/>
            <a:chOff x="0" y="0"/>
            <a:chExt cx="8229600" cy="304800"/>
          </a:xfrm>
        </p:grpSpPr>
        <p:cxnSp>
          <p:nvCxnSpPr>
            <p:cNvPr id="464" name="Google Shape;464;p4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65" name="Google Shape;465;p4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66" name="Google Shape;466;p4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70" name="Shape 470"/>
        <p:cNvGrpSpPr/>
        <p:nvPr/>
      </p:nvGrpSpPr>
      <p:grpSpPr>
        <a:xfrm>
          <a:off x="0" y="0"/>
          <a:ext cx="0" cy="0"/>
          <a:chOff x="0" y="0"/>
          <a:chExt cx="0" cy="0"/>
        </a:xfrm>
      </p:grpSpPr>
      <p:pic>
        <p:nvPicPr>
          <p:cNvPr id="471" name="Google Shape;471;p4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72" name="Google Shape;472;p4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73" name="Google Shape;473;p4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74" name="Google Shape;474;p48"/>
          <p:cNvGrpSpPr/>
          <p:nvPr/>
        </p:nvGrpSpPr>
        <p:grpSpPr>
          <a:xfrm>
            <a:off x="457200" y="4762500"/>
            <a:ext cx="8229600" cy="304800"/>
            <a:chOff x="0" y="0"/>
            <a:chExt cx="8229600" cy="304800"/>
          </a:xfrm>
        </p:grpSpPr>
        <p:cxnSp>
          <p:nvCxnSpPr>
            <p:cNvPr id="475" name="Google Shape;475;p4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76" name="Google Shape;476;p4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77" name="Google Shape;477;p4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78" name="Google Shape;478;p48"/>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82" name="Shape 482"/>
        <p:cNvGrpSpPr/>
        <p:nvPr/>
      </p:nvGrpSpPr>
      <p:grpSpPr>
        <a:xfrm>
          <a:off x="0" y="0"/>
          <a:ext cx="0" cy="0"/>
          <a:chOff x="0" y="0"/>
          <a:chExt cx="0" cy="0"/>
        </a:xfrm>
      </p:grpSpPr>
      <p:pic>
        <p:nvPicPr>
          <p:cNvPr id="483" name="Google Shape;483;p4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84" name="Google Shape;484;p4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85" name="Google Shape;485;p4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86" name="Google Shape;486;p49"/>
          <p:cNvGrpSpPr/>
          <p:nvPr/>
        </p:nvGrpSpPr>
        <p:grpSpPr>
          <a:xfrm>
            <a:off x="457200" y="4762500"/>
            <a:ext cx="8229600" cy="304800"/>
            <a:chOff x="0" y="0"/>
            <a:chExt cx="8229600" cy="304800"/>
          </a:xfrm>
        </p:grpSpPr>
        <p:cxnSp>
          <p:nvCxnSpPr>
            <p:cNvPr id="487" name="Google Shape;487;p4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488" name="Google Shape;488;p4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489" name="Google Shape;489;p4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490" name="Google Shape;490;p49"/>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494" name="Shape 494"/>
        <p:cNvGrpSpPr/>
        <p:nvPr/>
      </p:nvGrpSpPr>
      <p:grpSpPr>
        <a:xfrm>
          <a:off x="0" y="0"/>
          <a:ext cx="0" cy="0"/>
          <a:chOff x="0" y="0"/>
          <a:chExt cx="0" cy="0"/>
        </a:xfrm>
      </p:grpSpPr>
      <p:pic>
        <p:nvPicPr>
          <p:cNvPr id="495" name="Google Shape;495;p5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496" name="Google Shape;496;p5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7" name="Google Shape;497;p5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498" name="Google Shape;498;p50"/>
          <p:cNvGrpSpPr/>
          <p:nvPr/>
        </p:nvGrpSpPr>
        <p:grpSpPr>
          <a:xfrm>
            <a:off x="457200" y="4762500"/>
            <a:ext cx="8229600" cy="304800"/>
            <a:chOff x="0" y="0"/>
            <a:chExt cx="8229600" cy="304800"/>
          </a:xfrm>
        </p:grpSpPr>
        <p:cxnSp>
          <p:nvCxnSpPr>
            <p:cNvPr id="499" name="Google Shape;499;p5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00" name="Google Shape;500;p5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01" name="Google Shape;501;p5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02" name="Google Shape;502;p50"/>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0" lvl="0" marL="1371600" rtl="0" algn="l">
              <a:spcBef>
                <a:spcPts val="1200"/>
              </a:spcBef>
              <a:spcAft>
                <a:spcPts val="1200"/>
              </a:spcAft>
              <a:buNone/>
            </a:pPr>
            <a:r>
              <a:t/>
            </a:r>
            <a:endParaRPr b="1" sz="1800">
              <a:solidFill>
                <a:srgbClr val="111827"/>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06" name="Shape 506"/>
        <p:cNvGrpSpPr/>
        <p:nvPr/>
      </p:nvGrpSpPr>
      <p:grpSpPr>
        <a:xfrm>
          <a:off x="0" y="0"/>
          <a:ext cx="0" cy="0"/>
          <a:chOff x="0" y="0"/>
          <a:chExt cx="0" cy="0"/>
        </a:xfrm>
      </p:grpSpPr>
      <p:pic>
        <p:nvPicPr>
          <p:cNvPr id="507" name="Google Shape;507;p5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08" name="Google Shape;508;p5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09" name="Google Shape;509;p5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10" name="Google Shape;510;p51"/>
          <p:cNvGrpSpPr/>
          <p:nvPr/>
        </p:nvGrpSpPr>
        <p:grpSpPr>
          <a:xfrm>
            <a:off x="457200" y="4762500"/>
            <a:ext cx="8229600" cy="304800"/>
            <a:chOff x="0" y="0"/>
            <a:chExt cx="8229600" cy="304800"/>
          </a:xfrm>
        </p:grpSpPr>
        <p:cxnSp>
          <p:nvCxnSpPr>
            <p:cNvPr id="511" name="Google Shape;511;p5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12" name="Google Shape;512;p5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13" name="Google Shape;513;p5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14" name="Google Shape;514;p51"/>
          <p:cNvSpPr txBox="1"/>
          <p:nvPr/>
        </p:nvSpPr>
        <p:spPr>
          <a:xfrm>
            <a:off x="426300" y="1259975"/>
            <a:ext cx="8385600" cy="19587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18" name="Shape 518"/>
        <p:cNvGrpSpPr/>
        <p:nvPr/>
      </p:nvGrpSpPr>
      <p:grpSpPr>
        <a:xfrm>
          <a:off x="0" y="0"/>
          <a:ext cx="0" cy="0"/>
          <a:chOff x="0" y="0"/>
          <a:chExt cx="0" cy="0"/>
        </a:xfrm>
      </p:grpSpPr>
      <p:pic>
        <p:nvPicPr>
          <p:cNvPr id="519" name="Google Shape;519;p5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20" name="Google Shape;520;p5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1" name="Google Shape;521;p5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22" name="Google Shape;522;p52"/>
          <p:cNvGrpSpPr/>
          <p:nvPr/>
        </p:nvGrpSpPr>
        <p:grpSpPr>
          <a:xfrm>
            <a:off x="457200" y="4762500"/>
            <a:ext cx="8229600" cy="304800"/>
            <a:chOff x="0" y="0"/>
            <a:chExt cx="8229600" cy="304800"/>
          </a:xfrm>
        </p:grpSpPr>
        <p:cxnSp>
          <p:nvCxnSpPr>
            <p:cNvPr id="523" name="Google Shape;523;p5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24" name="Google Shape;524;p5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25" name="Google Shape;525;p5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26" name="Google Shape;526;p52"/>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accent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30" name="Shape 530"/>
        <p:cNvGrpSpPr/>
        <p:nvPr/>
      </p:nvGrpSpPr>
      <p:grpSpPr>
        <a:xfrm>
          <a:off x="0" y="0"/>
          <a:ext cx="0" cy="0"/>
          <a:chOff x="0" y="0"/>
          <a:chExt cx="0" cy="0"/>
        </a:xfrm>
      </p:grpSpPr>
      <p:pic>
        <p:nvPicPr>
          <p:cNvPr id="531" name="Google Shape;531;p5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32" name="Google Shape;532;p5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33" name="Google Shape;533;p5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34" name="Google Shape;534;p53"/>
          <p:cNvGrpSpPr/>
          <p:nvPr/>
        </p:nvGrpSpPr>
        <p:grpSpPr>
          <a:xfrm>
            <a:off x="457200" y="4762500"/>
            <a:ext cx="8229600" cy="304800"/>
            <a:chOff x="0" y="0"/>
            <a:chExt cx="8229600" cy="304800"/>
          </a:xfrm>
        </p:grpSpPr>
        <p:cxnSp>
          <p:nvCxnSpPr>
            <p:cNvPr id="535" name="Google Shape;535;p5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36" name="Google Shape;536;p5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37" name="Google Shape;537;p5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38" name="Google Shape;538;p53"/>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Já está gravando seu estado local -&gt; flag atômica in_snapshot</a:t>
            </a:r>
            <a:endParaRPr sz="1500">
              <a:solidFill>
                <a:schemeClr val="dk1"/>
              </a:solidFill>
              <a:latin typeface="Inter"/>
              <a:ea typeface="Inter"/>
              <a:cs typeface="Inter"/>
              <a:sym typeface="Inter"/>
            </a:endParaRPr>
          </a:p>
          <a:p>
            <a:pPr indent="0" lvl="0" marL="1371600" rtl="0" algn="l">
              <a:spcBef>
                <a:spcPts val="1200"/>
              </a:spcBef>
              <a:spcAft>
                <a:spcPts val="1200"/>
              </a:spcAft>
              <a:buNone/>
            </a:pPr>
            <a:r>
              <a:t/>
            </a:r>
            <a:endParaRPr sz="1500">
              <a:solidFill>
                <a:schemeClr val="accent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42" name="Shape 542"/>
        <p:cNvGrpSpPr/>
        <p:nvPr/>
      </p:nvGrpSpPr>
      <p:grpSpPr>
        <a:xfrm>
          <a:off x="0" y="0"/>
          <a:ext cx="0" cy="0"/>
          <a:chOff x="0" y="0"/>
          <a:chExt cx="0" cy="0"/>
        </a:xfrm>
      </p:grpSpPr>
      <p:pic>
        <p:nvPicPr>
          <p:cNvPr id="543" name="Google Shape;543;p5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44" name="Google Shape;544;p5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45" name="Google Shape;545;p54"/>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46" name="Google Shape;546;p54"/>
          <p:cNvGrpSpPr/>
          <p:nvPr/>
        </p:nvGrpSpPr>
        <p:grpSpPr>
          <a:xfrm>
            <a:off x="457200" y="4762500"/>
            <a:ext cx="8229600" cy="304800"/>
            <a:chOff x="0" y="0"/>
            <a:chExt cx="8229600" cy="304800"/>
          </a:xfrm>
        </p:grpSpPr>
        <p:cxnSp>
          <p:nvCxnSpPr>
            <p:cNvPr id="547" name="Google Shape;547;p5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48" name="Google Shape;548;p5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49" name="Google Shape;549;p5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50" name="Google Shape;550;p54"/>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Nós receptores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Ao receber o marcador pela primeira vez, o nó:</a:t>
            </a:r>
            <a:endParaRPr sz="16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Salva seu estado local.</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Marca o canal em que a mensagem chegou como vazio -&gt; Nenhuma mensagem que chegar naquele canal faz parte do 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Envia um marker para todos os seus canais de saída</a:t>
            </a:r>
            <a:endParaRPr sz="1500">
              <a:solidFill>
                <a:schemeClr val="accent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Começa a gravar as mensagens dos demais canais de entrada</a:t>
            </a:r>
            <a:endParaRPr sz="1500">
              <a:solidFill>
                <a:schemeClr val="dk1"/>
              </a:solidFill>
              <a:latin typeface="Inter"/>
              <a:ea typeface="Inter"/>
              <a:cs typeface="Inter"/>
              <a:sym typeface="Inter"/>
            </a:endParaRPr>
          </a:p>
          <a:p>
            <a:pPr indent="-323850" lvl="1" marL="9144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Ao receber um marcador subsequente, o nó:</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Já está gravando seu estado local -&gt; flag atômica in_snapshot</a:t>
            </a:r>
            <a:endParaRPr sz="1500">
              <a:solidFill>
                <a:schemeClr val="dk1"/>
              </a:solidFill>
              <a:latin typeface="Inter"/>
              <a:ea typeface="Inter"/>
              <a:cs typeface="Inter"/>
              <a:sym typeface="Inter"/>
            </a:endParaRPr>
          </a:p>
          <a:p>
            <a:pPr indent="-323850" lvl="2" marL="1371600" rtl="0" algn="l">
              <a:spcBef>
                <a:spcPts val="0"/>
              </a:spcBef>
              <a:spcAft>
                <a:spcPts val="0"/>
              </a:spcAft>
              <a:buClr>
                <a:schemeClr val="accent1"/>
              </a:buClr>
              <a:buSzPts val="1500"/>
              <a:buFont typeface="Inter"/>
              <a:buChar char="■"/>
            </a:pPr>
            <a:r>
              <a:rPr lang="en" sz="1500">
                <a:solidFill>
                  <a:schemeClr val="dk1"/>
                </a:solidFill>
                <a:latin typeface="Inter"/>
                <a:ea typeface="Inter"/>
                <a:cs typeface="Inter"/>
                <a:sym typeface="Inter"/>
              </a:rPr>
              <a:t>Para de gravar o canal em que a mensagem chegou -&gt; As mensagens no canal são as mensagens que foram transmitidas após o inicio do snapshot.</a:t>
            </a:r>
            <a:endParaRPr sz="1500">
              <a:solidFill>
                <a:schemeClr val="accent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54" name="Shape 554"/>
        <p:cNvGrpSpPr/>
        <p:nvPr/>
      </p:nvGrpSpPr>
      <p:grpSpPr>
        <a:xfrm>
          <a:off x="0" y="0"/>
          <a:ext cx="0" cy="0"/>
          <a:chOff x="0" y="0"/>
          <a:chExt cx="0" cy="0"/>
        </a:xfrm>
      </p:grpSpPr>
      <p:pic>
        <p:nvPicPr>
          <p:cNvPr id="555" name="Google Shape;555;p5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56" name="Google Shape;556;p5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57" name="Google Shape;557;p55"/>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58" name="Google Shape;558;p55"/>
          <p:cNvGrpSpPr/>
          <p:nvPr/>
        </p:nvGrpSpPr>
        <p:grpSpPr>
          <a:xfrm>
            <a:off x="457200" y="4762500"/>
            <a:ext cx="8229600" cy="304800"/>
            <a:chOff x="0" y="0"/>
            <a:chExt cx="8229600" cy="304800"/>
          </a:xfrm>
        </p:grpSpPr>
        <p:cxnSp>
          <p:nvCxnSpPr>
            <p:cNvPr id="559" name="Google Shape;559;p5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60" name="Google Shape;560;p5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61" name="Google Shape;561;p5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62" name="Google Shape;562;p55"/>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66" name="Shape 566"/>
        <p:cNvGrpSpPr/>
        <p:nvPr/>
      </p:nvGrpSpPr>
      <p:grpSpPr>
        <a:xfrm>
          <a:off x="0" y="0"/>
          <a:ext cx="0" cy="0"/>
          <a:chOff x="0" y="0"/>
          <a:chExt cx="0" cy="0"/>
        </a:xfrm>
      </p:grpSpPr>
      <p:pic>
        <p:nvPicPr>
          <p:cNvPr id="567" name="Google Shape;567;p5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68" name="Google Shape;568;p5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69" name="Google Shape;569;p56"/>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70" name="Google Shape;570;p56"/>
          <p:cNvGrpSpPr/>
          <p:nvPr/>
        </p:nvGrpSpPr>
        <p:grpSpPr>
          <a:xfrm>
            <a:off x="457200" y="4762500"/>
            <a:ext cx="8229600" cy="304800"/>
            <a:chOff x="0" y="0"/>
            <a:chExt cx="8229600" cy="304800"/>
          </a:xfrm>
        </p:grpSpPr>
        <p:cxnSp>
          <p:nvCxnSpPr>
            <p:cNvPr id="571" name="Google Shape;571;p5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72" name="Google Shape;572;p5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73" name="Google Shape;573;p5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74" name="Google Shape;574;p56"/>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78" name="Shape 578"/>
        <p:cNvGrpSpPr/>
        <p:nvPr/>
      </p:nvGrpSpPr>
      <p:grpSpPr>
        <a:xfrm>
          <a:off x="0" y="0"/>
          <a:ext cx="0" cy="0"/>
          <a:chOff x="0" y="0"/>
          <a:chExt cx="0" cy="0"/>
        </a:xfrm>
      </p:grpSpPr>
      <p:pic>
        <p:nvPicPr>
          <p:cNvPr id="579" name="Google Shape;579;p5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80" name="Google Shape;580;p5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81" name="Google Shape;581;p57"/>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82" name="Google Shape;582;p57"/>
          <p:cNvGrpSpPr/>
          <p:nvPr/>
        </p:nvGrpSpPr>
        <p:grpSpPr>
          <a:xfrm>
            <a:off x="457200" y="4762500"/>
            <a:ext cx="8229600" cy="304800"/>
            <a:chOff x="0" y="0"/>
            <a:chExt cx="8229600" cy="304800"/>
          </a:xfrm>
        </p:grpSpPr>
        <p:cxnSp>
          <p:nvCxnSpPr>
            <p:cNvPr id="583" name="Google Shape;583;p5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84" name="Google Shape;584;p5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85" name="Google Shape;585;p5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86" name="Google Shape;586;p57"/>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Note que, nesse ponto, o processo X não receberá nada de novo, e pode corretamente registrar seu snapshot.</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90" name="Shape 590"/>
        <p:cNvGrpSpPr/>
        <p:nvPr/>
      </p:nvGrpSpPr>
      <p:grpSpPr>
        <a:xfrm>
          <a:off x="0" y="0"/>
          <a:ext cx="0" cy="0"/>
          <a:chOff x="0" y="0"/>
          <a:chExt cx="0" cy="0"/>
        </a:xfrm>
      </p:grpSpPr>
      <p:pic>
        <p:nvPicPr>
          <p:cNvPr id="591" name="Google Shape;591;p5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592" name="Google Shape;592;p5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93" name="Google Shape;593;p58"/>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594" name="Google Shape;594;p58"/>
          <p:cNvGrpSpPr/>
          <p:nvPr/>
        </p:nvGrpSpPr>
        <p:grpSpPr>
          <a:xfrm>
            <a:off x="457200" y="4762500"/>
            <a:ext cx="8229600" cy="304800"/>
            <a:chOff x="0" y="0"/>
            <a:chExt cx="8229600" cy="304800"/>
          </a:xfrm>
        </p:grpSpPr>
        <p:cxnSp>
          <p:nvCxnSpPr>
            <p:cNvPr id="595" name="Google Shape;595;p5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596" name="Google Shape;596;p5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597" name="Google Shape;597;p5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598" name="Google Shape;598;p58"/>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Quando sabemos que o algoritmo finalizou?</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Quando todos os canais de entrada do processo estão desabilitados -&gt; Todos já receberam um marker, o que implica em que todos os processos que poderiam enviar algo para esse processo já realizaram ou estão realizando 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Note que, nesse ponto, o processo X não receberá nada de novo, e pode corretamente registrar seu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conclusão do algoritmo é inerentemente independente entre os processos, não importa que o snapshot por inteiro não tenha sido concluído, cada processo só se importa com aquilo que poderia alterar o seu próprio snapshot.</a:t>
            </a:r>
            <a:endParaRPr sz="1600">
              <a:solidFill>
                <a:schemeClr val="accent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02" name="Shape 602"/>
        <p:cNvGrpSpPr/>
        <p:nvPr/>
      </p:nvGrpSpPr>
      <p:grpSpPr>
        <a:xfrm>
          <a:off x="0" y="0"/>
          <a:ext cx="0" cy="0"/>
          <a:chOff x="0" y="0"/>
          <a:chExt cx="0" cy="0"/>
        </a:xfrm>
      </p:grpSpPr>
      <p:pic>
        <p:nvPicPr>
          <p:cNvPr id="603" name="Google Shape;603;p5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04" name="Google Shape;604;p5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05" name="Google Shape;605;p59"/>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06" name="Google Shape;606;p59"/>
          <p:cNvGrpSpPr/>
          <p:nvPr/>
        </p:nvGrpSpPr>
        <p:grpSpPr>
          <a:xfrm>
            <a:off x="457200" y="4762500"/>
            <a:ext cx="8229600" cy="304800"/>
            <a:chOff x="0" y="0"/>
            <a:chExt cx="8229600" cy="304800"/>
          </a:xfrm>
        </p:grpSpPr>
        <p:cxnSp>
          <p:nvCxnSpPr>
            <p:cNvPr id="607" name="Google Shape;607;p5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08" name="Google Shape;608;p5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09" name="Google Shape;609;p5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10" name="Google Shape;610;p59"/>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14" name="Shape 614"/>
        <p:cNvGrpSpPr/>
        <p:nvPr/>
      </p:nvGrpSpPr>
      <p:grpSpPr>
        <a:xfrm>
          <a:off x="0" y="0"/>
          <a:ext cx="0" cy="0"/>
          <a:chOff x="0" y="0"/>
          <a:chExt cx="0" cy="0"/>
        </a:xfrm>
      </p:grpSpPr>
      <p:pic>
        <p:nvPicPr>
          <p:cNvPr id="615" name="Google Shape;615;p6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16" name="Google Shape;616;p6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17" name="Google Shape;617;p60"/>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18" name="Google Shape;618;p60"/>
          <p:cNvGrpSpPr/>
          <p:nvPr/>
        </p:nvGrpSpPr>
        <p:grpSpPr>
          <a:xfrm>
            <a:off x="457200" y="4762500"/>
            <a:ext cx="8229600" cy="304800"/>
            <a:chOff x="0" y="0"/>
            <a:chExt cx="8229600" cy="304800"/>
          </a:xfrm>
        </p:grpSpPr>
        <p:cxnSp>
          <p:nvCxnSpPr>
            <p:cNvPr id="619" name="Google Shape;619;p6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20" name="Google Shape;620;p6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21" name="Google Shape;621;p6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22" name="Google Shape;622;p60"/>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26" name="Shape 626"/>
        <p:cNvGrpSpPr/>
        <p:nvPr/>
      </p:nvGrpSpPr>
      <p:grpSpPr>
        <a:xfrm>
          <a:off x="0" y="0"/>
          <a:ext cx="0" cy="0"/>
          <a:chOff x="0" y="0"/>
          <a:chExt cx="0" cy="0"/>
        </a:xfrm>
      </p:grpSpPr>
      <p:pic>
        <p:nvPicPr>
          <p:cNvPr id="627" name="Google Shape;627;p6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28" name="Google Shape;628;p6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29" name="Google Shape;629;p61"/>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30" name="Google Shape;630;p61"/>
          <p:cNvGrpSpPr/>
          <p:nvPr/>
        </p:nvGrpSpPr>
        <p:grpSpPr>
          <a:xfrm>
            <a:off x="457200" y="4762500"/>
            <a:ext cx="8229600" cy="304800"/>
            <a:chOff x="0" y="0"/>
            <a:chExt cx="8229600" cy="304800"/>
          </a:xfrm>
        </p:grpSpPr>
        <p:cxnSp>
          <p:nvCxnSpPr>
            <p:cNvPr id="631" name="Google Shape;631;p6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32" name="Google Shape;632;p6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33" name="Google Shape;633;p6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34" name="Google Shape;634;p61"/>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a:solidFill>
                <a:schemeClr val="accent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38" name="Shape 638"/>
        <p:cNvGrpSpPr/>
        <p:nvPr/>
      </p:nvGrpSpPr>
      <p:grpSpPr>
        <a:xfrm>
          <a:off x="0" y="0"/>
          <a:ext cx="0" cy="0"/>
          <a:chOff x="0" y="0"/>
          <a:chExt cx="0" cy="0"/>
        </a:xfrm>
      </p:grpSpPr>
      <p:pic>
        <p:nvPicPr>
          <p:cNvPr id="639" name="Google Shape;639;p6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40" name="Google Shape;640;p6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41" name="Google Shape;641;p62"/>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42" name="Google Shape;642;p62"/>
          <p:cNvGrpSpPr/>
          <p:nvPr/>
        </p:nvGrpSpPr>
        <p:grpSpPr>
          <a:xfrm>
            <a:off x="457200" y="4762500"/>
            <a:ext cx="8229600" cy="304800"/>
            <a:chOff x="0" y="0"/>
            <a:chExt cx="8229600" cy="304800"/>
          </a:xfrm>
        </p:grpSpPr>
        <p:cxnSp>
          <p:nvCxnSpPr>
            <p:cNvPr id="643" name="Google Shape;643;p6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44" name="Google Shape;644;p6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45" name="Google Shape;645;p6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46" name="Google Shape;646;p62"/>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sz="1600">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Monitor central que conhece os processos e recebe o snapshot de todos (Utilizado na aplicação desenvolvida). Isso pode ser por meio de requisições (Os processos enviam seu snapshot ao monitor) ou também por meio de filesystem compartilhado (Ou alternativas em nuvem como o S3).</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accent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50" name="Shape 650"/>
        <p:cNvGrpSpPr/>
        <p:nvPr/>
      </p:nvGrpSpPr>
      <p:grpSpPr>
        <a:xfrm>
          <a:off x="0" y="0"/>
          <a:ext cx="0" cy="0"/>
          <a:chOff x="0" y="0"/>
          <a:chExt cx="0" cy="0"/>
        </a:xfrm>
      </p:grpSpPr>
      <p:pic>
        <p:nvPicPr>
          <p:cNvPr id="651" name="Google Shape;651;p63"/>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52" name="Google Shape;652;p6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3" name="Google Shape;653;p6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 Solução: Algoritmo de Chandy-Lamport</a:t>
            </a:r>
            <a:endParaRPr b="1" sz="2240">
              <a:solidFill>
                <a:srgbClr val="111827"/>
              </a:solidFill>
              <a:latin typeface="Inter"/>
              <a:ea typeface="Inter"/>
              <a:cs typeface="Inter"/>
              <a:sym typeface="Inter"/>
            </a:endParaRPr>
          </a:p>
        </p:txBody>
      </p:sp>
      <p:grpSp>
        <p:nvGrpSpPr>
          <p:cNvPr id="654" name="Google Shape;654;p63"/>
          <p:cNvGrpSpPr/>
          <p:nvPr/>
        </p:nvGrpSpPr>
        <p:grpSpPr>
          <a:xfrm>
            <a:off x="457200" y="4762500"/>
            <a:ext cx="8229600" cy="304800"/>
            <a:chOff x="0" y="0"/>
            <a:chExt cx="8229600" cy="304800"/>
          </a:xfrm>
        </p:grpSpPr>
        <p:cxnSp>
          <p:nvCxnSpPr>
            <p:cNvPr id="655" name="Google Shape;655;p6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56" name="Google Shape;656;p6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57" name="Google Shape;657;p6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58" name="Google Shape;658;p63"/>
          <p:cNvSpPr txBox="1"/>
          <p:nvPr/>
        </p:nvSpPr>
        <p:spPr>
          <a:xfrm>
            <a:off x="426300" y="1259975"/>
            <a:ext cx="8385600" cy="3071100"/>
          </a:xfrm>
          <a:prstGeom prst="rect">
            <a:avLst/>
          </a:prstGeom>
          <a:noFill/>
          <a:ln>
            <a:noFill/>
          </a:ln>
        </p:spPr>
        <p:txBody>
          <a:bodyPr anchorCtr="0" anchor="t" bIns="0" lIns="0" spcFirstLastPara="1" rIns="0" wrap="square" tIns="0">
            <a:noAutofit/>
          </a:bodyPr>
          <a:lstStyle/>
          <a:p>
            <a:pPr indent="-330200" lvl="0" marL="457200" rtl="0" algn="l">
              <a:spcBef>
                <a:spcPts val="0"/>
              </a:spcBef>
              <a:spcAft>
                <a:spcPts val="0"/>
              </a:spcAft>
              <a:buClr>
                <a:schemeClr val="accent1"/>
              </a:buClr>
              <a:buSzPts val="1600"/>
              <a:buFont typeface="Inter"/>
              <a:buChar char="●"/>
            </a:pPr>
            <a:r>
              <a:rPr b="1" lang="en" sz="1800">
                <a:solidFill>
                  <a:srgbClr val="111827"/>
                </a:solidFill>
                <a:latin typeface="Inter"/>
                <a:ea typeface="Inter"/>
                <a:cs typeface="Inter"/>
                <a:sym typeface="Inter"/>
              </a:rPr>
              <a:t>Como tratar esses snapshots?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paper de Chandy-Lamport trata a agregação dos snapshots como uma camada superior da infraestrutura -&gt; O processamento dos dados fica a critério da aplicação, tal qual dar um significado a eles. O que o algoritmo garante é a corretude dos estados capturados.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Existem certas estratégias que podem ser utilizadas para agregar os snapshots:</a:t>
            </a:r>
            <a:endParaRPr sz="1600">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Monitor central que conhece os processos e recebe o snapshot de todos (Utilizado na aplicação desenvolvida). Isso pode ser por meio de requisições (Os processos enviam seu snapshot ao monitor) ou também por meio de filesystem compartilhado (Ou alternativas em nuvem como o S3).</a:t>
            </a:r>
            <a:endParaRPr>
              <a:solidFill>
                <a:schemeClr val="dk1"/>
              </a:solidFill>
              <a:latin typeface="Inter"/>
              <a:ea typeface="Inter"/>
              <a:cs typeface="Inter"/>
              <a:sym typeface="Inter"/>
            </a:endParaRPr>
          </a:p>
          <a:p>
            <a:pPr indent="-317500" lvl="2" marL="13716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Convergecast em árvore de agregação -&gt; Os processos formam uma árvore a partir da raiz (nó inicializador), cada processo é responsável por agregar o snapshot de seus filhos. Ideal para não sobrecarregar um nó.</a:t>
            </a:r>
            <a:endParaRPr>
              <a:solidFill>
                <a:schemeClr val="accent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62" name="Shape 662"/>
        <p:cNvGrpSpPr/>
        <p:nvPr/>
      </p:nvGrpSpPr>
      <p:grpSpPr>
        <a:xfrm>
          <a:off x="0" y="0"/>
          <a:ext cx="0" cy="0"/>
          <a:chOff x="0" y="0"/>
          <a:chExt cx="0" cy="0"/>
        </a:xfrm>
      </p:grpSpPr>
      <p:pic>
        <p:nvPicPr>
          <p:cNvPr id="663" name="Google Shape;663;p64"/>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64" name="Google Shape;664;p6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5" name="Google Shape;665;p6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a:t>
            </a:r>
            <a:r>
              <a:rPr b="1" lang="en" sz="2240">
                <a:solidFill>
                  <a:srgbClr val="111827"/>
                </a:solidFill>
                <a:latin typeface="Inter"/>
                <a:ea typeface="Inter"/>
                <a:cs typeface="Inter"/>
                <a:sym typeface="Inter"/>
              </a:rPr>
              <a:t>Distribuído</a:t>
            </a:r>
            <a:endParaRPr b="1" sz="2240">
              <a:solidFill>
                <a:srgbClr val="111827"/>
              </a:solidFill>
              <a:latin typeface="Inter"/>
              <a:ea typeface="Inter"/>
              <a:cs typeface="Inter"/>
              <a:sym typeface="Inter"/>
            </a:endParaRPr>
          </a:p>
        </p:txBody>
      </p:sp>
      <p:grpSp>
        <p:nvGrpSpPr>
          <p:cNvPr id="666" name="Google Shape;666;p64"/>
          <p:cNvGrpSpPr/>
          <p:nvPr/>
        </p:nvGrpSpPr>
        <p:grpSpPr>
          <a:xfrm>
            <a:off x="457200" y="4762500"/>
            <a:ext cx="8229600" cy="304800"/>
            <a:chOff x="0" y="0"/>
            <a:chExt cx="8229600" cy="304800"/>
          </a:xfrm>
        </p:grpSpPr>
        <p:cxnSp>
          <p:nvCxnSpPr>
            <p:cNvPr id="667" name="Google Shape;667;p6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68" name="Google Shape;668;p6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69" name="Google Shape;669;p6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70" name="Google Shape;670;p6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74" name="Shape 674"/>
        <p:cNvGrpSpPr/>
        <p:nvPr/>
      </p:nvGrpSpPr>
      <p:grpSpPr>
        <a:xfrm>
          <a:off x="0" y="0"/>
          <a:ext cx="0" cy="0"/>
          <a:chOff x="0" y="0"/>
          <a:chExt cx="0" cy="0"/>
        </a:xfrm>
      </p:grpSpPr>
      <p:pic>
        <p:nvPicPr>
          <p:cNvPr id="675" name="Google Shape;675;p65"/>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76" name="Google Shape;676;p6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7" name="Google Shape;677;p6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678" name="Google Shape;678;p65"/>
          <p:cNvGrpSpPr/>
          <p:nvPr/>
        </p:nvGrpSpPr>
        <p:grpSpPr>
          <a:xfrm>
            <a:off x="457200" y="4762500"/>
            <a:ext cx="8229600" cy="304800"/>
            <a:chOff x="0" y="0"/>
            <a:chExt cx="8229600" cy="304800"/>
          </a:xfrm>
        </p:grpSpPr>
        <p:cxnSp>
          <p:nvCxnSpPr>
            <p:cNvPr id="679" name="Google Shape;679;p6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80" name="Google Shape;680;p6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81" name="Google Shape;681;p6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82" name="Google Shape;682;p6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86" name="Shape 686"/>
        <p:cNvGrpSpPr/>
        <p:nvPr/>
      </p:nvGrpSpPr>
      <p:grpSpPr>
        <a:xfrm>
          <a:off x="0" y="0"/>
          <a:ext cx="0" cy="0"/>
          <a:chOff x="0" y="0"/>
          <a:chExt cx="0" cy="0"/>
        </a:xfrm>
      </p:grpSpPr>
      <p:pic>
        <p:nvPicPr>
          <p:cNvPr id="687" name="Google Shape;687;p66"/>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688" name="Google Shape;688;p6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9" name="Google Shape;689;p6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690" name="Google Shape;690;p66"/>
          <p:cNvGrpSpPr/>
          <p:nvPr/>
        </p:nvGrpSpPr>
        <p:grpSpPr>
          <a:xfrm>
            <a:off x="457200" y="4762500"/>
            <a:ext cx="8229600" cy="304800"/>
            <a:chOff x="0" y="0"/>
            <a:chExt cx="8229600" cy="304800"/>
          </a:xfrm>
        </p:grpSpPr>
        <p:cxnSp>
          <p:nvCxnSpPr>
            <p:cNvPr id="691" name="Google Shape;691;p6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692" name="Google Shape;692;p6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693" name="Google Shape;693;p6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694" name="Google Shape;694;p6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98" name="Shape 698"/>
        <p:cNvGrpSpPr/>
        <p:nvPr/>
      </p:nvGrpSpPr>
      <p:grpSpPr>
        <a:xfrm>
          <a:off x="0" y="0"/>
          <a:ext cx="0" cy="0"/>
          <a:chOff x="0" y="0"/>
          <a:chExt cx="0" cy="0"/>
        </a:xfrm>
      </p:grpSpPr>
      <p:pic>
        <p:nvPicPr>
          <p:cNvPr id="699" name="Google Shape;699;p67"/>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00" name="Google Shape;700;p6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1" name="Google Shape;701;p6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02" name="Google Shape;702;p67"/>
          <p:cNvGrpSpPr/>
          <p:nvPr/>
        </p:nvGrpSpPr>
        <p:grpSpPr>
          <a:xfrm>
            <a:off x="457200" y="4762500"/>
            <a:ext cx="8229600" cy="304800"/>
            <a:chOff x="0" y="0"/>
            <a:chExt cx="8229600" cy="304800"/>
          </a:xfrm>
        </p:grpSpPr>
        <p:cxnSp>
          <p:nvCxnSpPr>
            <p:cNvPr id="703" name="Google Shape;703;p6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04" name="Google Shape;704;p6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05" name="Google Shape;705;p6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06" name="Google Shape;706;p6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10" name="Shape 710"/>
        <p:cNvGrpSpPr/>
        <p:nvPr/>
      </p:nvGrpSpPr>
      <p:grpSpPr>
        <a:xfrm>
          <a:off x="0" y="0"/>
          <a:ext cx="0" cy="0"/>
          <a:chOff x="0" y="0"/>
          <a:chExt cx="0" cy="0"/>
        </a:xfrm>
      </p:grpSpPr>
      <p:pic>
        <p:nvPicPr>
          <p:cNvPr id="711" name="Google Shape;711;p68"/>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12" name="Google Shape;712;p6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3" name="Google Shape;713;p6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14" name="Google Shape;714;p68"/>
          <p:cNvGrpSpPr/>
          <p:nvPr/>
        </p:nvGrpSpPr>
        <p:grpSpPr>
          <a:xfrm>
            <a:off x="457200" y="4762500"/>
            <a:ext cx="8229600" cy="304800"/>
            <a:chOff x="0" y="0"/>
            <a:chExt cx="8229600" cy="304800"/>
          </a:xfrm>
        </p:grpSpPr>
        <p:cxnSp>
          <p:nvCxnSpPr>
            <p:cNvPr id="715" name="Google Shape;715;p6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16" name="Google Shape;716;p6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17" name="Google Shape;717;p6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18" name="Google Shape;718;p68"/>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22" name="Shape 722"/>
        <p:cNvGrpSpPr/>
        <p:nvPr/>
      </p:nvGrpSpPr>
      <p:grpSpPr>
        <a:xfrm>
          <a:off x="0" y="0"/>
          <a:ext cx="0" cy="0"/>
          <a:chOff x="0" y="0"/>
          <a:chExt cx="0" cy="0"/>
        </a:xfrm>
      </p:grpSpPr>
      <p:pic>
        <p:nvPicPr>
          <p:cNvPr id="723" name="Google Shape;723;p69"/>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24" name="Google Shape;724;p6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5" name="Google Shape;725;p6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26" name="Google Shape;726;p69"/>
          <p:cNvGrpSpPr/>
          <p:nvPr/>
        </p:nvGrpSpPr>
        <p:grpSpPr>
          <a:xfrm>
            <a:off x="457200" y="4762500"/>
            <a:ext cx="8229600" cy="304800"/>
            <a:chOff x="0" y="0"/>
            <a:chExt cx="8229600" cy="304800"/>
          </a:xfrm>
        </p:grpSpPr>
        <p:cxnSp>
          <p:nvCxnSpPr>
            <p:cNvPr id="727" name="Google Shape;727;p6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28" name="Google Shape;728;p6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29" name="Google Shape;729;p6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30" name="Google Shape;730;p69"/>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34" name="Shape 734"/>
        <p:cNvGrpSpPr/>
        <p:nvPr/>
      </p:nvGrpSpPr>
      <p:grpSpPr>
        <a:xfrm>
          <a:off x="0" y="0"/>
          <a:ext cx="0" cy="0"/>
          <a:chOff x="0" y="0"/>
          <a:chExt cx="0" cy="0"/>
        </a:xfrm>
      </p:grpSpPr>
      <p:pic>
        <p:nvPicPr>
          <p:cNvPr id="735" name="Google Shape;735;p70"/>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36" name="Google Shape;736;p7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7" name="Google Shape;737;p7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38" name="Google Shape;738;p70"/>
          <p:cNvGrpSpPr/>
          <p:nvPr/>
        </p:nvGrpSpPr>
        <p:grpSpPr>
          <a:xfrm>
            <a:off x="457200" y="4762500"/>
            <a:ext cx="8229600" cy="304800"/>
            <a:chOff x="0" y="0"/>
            <a:chExt cx="8229600" cy="304800"/>
          </a:xfrm>
        </p:grpSpPr>
        <p:cxnSp>
          <p:nvCxnSpPr>
            <p:cNvPr id="739" name="Google Shape;739;p7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40" name="Google Shape;740;p7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41" name="Google Shape;741;p7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42" name="Google Shape;742;p70"/>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46" name="Shape 746"/>
        <p:cNvGrpSpPr/>
        <p:nvPr/>
      </p:nvGrpSpPr>
      <p:grpSpPr>
        <a:xfrm>
          <a:off x="0" y="0"/>
          <a:ext cx="0" cy="0"/>
          <a:chOff x="0" y="0"/>
          <a:chExt cx="0" cy="0"/>
        </a:xfrm>
      </p:grpSpPr>
      <p:pic>
        <p:nvPicPr>
          <p:cNvPr id="747" name="Google Shape;747;p71"/>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48" name="Google Shape;748;p7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9" name="Google Shape;749;p7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50" name="Google Shape;750;p71"/>
          <p:cNvGrpSpPr/>
          <p:nvPr/>
        </p:nvGrpSpPr>
        <p:grpSpPr>
          <a:xfrm>
            <a:off x="457200" y="4762500"/>
            <a:ext cx="8229600" cy="304800"/>
            <a:chOff x="0" y="0"/>
            <a:chExt cx="8229600" cy="304800"/>
          </a:xfrm>
        </p:grpSpPr>
        <p:cxnSp>
          <p:nvCxnSpPr>
            <p:cNvPr id="751" name="Google Shape;751;p7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52" name="Google Shape;752;p7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53" name="Google Shape;753;p7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54" name="Google Shape;754;p71"/>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Spawnar os workers corretamente.</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58" name="Shape 758"/>
        <p:cNvGrpSpPr/>
        <p:nvPr/>
      </p:nvGrpSpPr>
      <p:grpSpPr>
        <a:xfrm>
          <a:off x="0" y="0"/>
          <a:ext cx="0" cy="0"/>
          <a:chOff x="0" y="0"/>
          <a:chExt cx="0" cy="0"/>
        </a:xfrm>
      </p:grpSpPr>
      <p:pic>
        <p:nvPicPr>
          <p:cNvPr id="759" name="Google Shape;759;p72"/>
          <p:cNvPicPr preferRelativeResize="0"/>
          <p:nvPr/>
        </p:nvPicPr>
        <p:blipFill rotWithShape="1">
          <a:blip r:embed="rId3">
            <a:alphaModFix/>
          </a:blip>
          <a:srcRect b="0" l="0" r="0" t="0"/>
          <a:stretch/>
        </p:blipFill>
        <p:spPr>
          <a:xfrm>
            <a:off x="-7889" y="0"/>
            <a:ext cx="9144000" cy="5143500"/>
          </a:xfrm>
          <a:prstGeom prst="rect">
            <a:avLst/>
          </a:prstGeom>
          <a:noFill/>
          <a:ln>
            <a:noFill/>
          </a:ln>
        </p:spPr>
      </p:pic>
      <p:sp>
        <p:nvSpPr>
          <p:cNvPr id="760" name="Google Shape;760;p7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1" name="Google Shape;761;p7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62" name="Google Shape;762;p72"/>
          <p:cNvGrpSpPr/>
          <p:nvPr/>
        </p:nvGrpSpPr>
        <p:grpSpPr>
          <a:xfrm>
            <a:off x="457200" y="4762500"/>
            <a:ext cx="8229600" cy="304800"/>
            <a:chOff x="0" y="0"/>
            <a:chExt cx="8229600" cy="304800"/>
          </a:xfrm>
        </p:grpSpPr>
        <p:cxnSp>
          <p:nvCxnSpPr>
            <p:cNvPr id="763" name="Google Shape;763;p7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64" name="Google Shape;764;p7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65" name="Google Shape;765;p7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66" name="Google Shape;766;p72"/>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lang="en" sz="1700">
                <a:solidFill>
                  <a:srgbClr val="111827"/>
                </a:solidFill>
                <a:latin typeface="Inter"/>
                <a:ea typeface="Inter"/>
                <a:cs typeface="Inter"/>
                <a:sym typeface="Inter"/>
              </a:rPr>
              <a:t>Para demonstrar o algoritmo de Chandy-Lamport na prática, criamos um código que simula um cluster de computação distribuído com Work Stealing</a:t>
            </a:r>
            <a:endParaRPr sz="1700">
              <a:solidFill>
                <a:srgbClr val="111827"/>
              </a:solidFill>
              <a:latin typeface="Inter"/>
              <a:ea typeface="Inter"/>
              <a:cs typeface="Inter"/>
              <a:sym typeface="Inter"/>
            </a:endParaRPr>
          </a:p>
          <a:p>
            <a:pPr indent="-336550" lvl="1" marL="914400" rtl="0" algn="l">
              <a:spcBef>
                <a:spcPts val="0"/>
              </a:spcBef>
              <a:spcAft>
                <a:spcPts val="0"/>
              </a:spcAft>
              <a:buClr>
                <a:schemeClr val="accent1"/>
              </a:buClr>
              <a:buSzPts val="1700"/>
              <a:buFont typeface="Inter"/>
              <a:buChar char="○"/>
            </a:pPr>
            <a:r>
              <a:rPr lang="en" sz="1600">
                <a:solidFill>
                  <a:srgbClr val="111827"/>
                </a:solidFill>
                <a:latin typeface="Inter"/>
                <a:ea typeface="Inter"/>
                <a:cs typeface="Inter"/>
                <a:sym typeface="Inter"/>
              </a:rPr>
              <a:t>Processos “roubam” a carga de trabalho um dos outros</a:t>
            </a:r>
            <a:r>
              <a:rPr lang="en" sz="1700">
                <a:solidFill>
                  <a:srgbClr val="111827"/>
                </a:solidFill>
                <a:latin typeface="Inter"/>
                <a:ea typeface="Inter"/>
                <a:cs typeface="Inter"/>
                <a:sym typeface="Inter"/>
              </a:rPr>
              <a:t>.</a:t>
            </a:r>
            <a:endParaRPr sz="1700">
              <a:solidFill>
                <a:schemeClr val="accent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 aplicação consiste em três executáveis distintos: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Worker -&gt; Nó que executa as tarefas.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Monitor -&gt; Interface que permite visualizar e interagir com o sistema.</a:t>
            </a:r>
            <a:endParaRPr sz="1600">
              <a:solidFill>
                <a:schemeClr val="accent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Orquestrador -&gt; Entrypoint para criação facilitada dos workers.</a:t>
            </a:r>
            <a:endParaRPr sz="1600">
              <a:solidFill>
                <a:schemeClr val="dk1"/>
              </a:solidFill>
              <a:latin typeface="Inter"/>
              <a:ea typeface="Inter"/>
              <a:cs typeface="Inter"/>
              <a:sym typeface="Inter"/>
            </a:endParaRPr>
          </a:p>
          <a:p>
            <a:pPr indent="-330200" lvl="0" marL="4572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Orquestrador é chamado uma única vez, sua função é:</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Garantir a topologia de grafo fortemente conexo.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Spawnar os workers corretamente.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Propaga shutdown (SIGINT/SIGTERM) aos workers.</a:t>
            </a:r>
            <a:endParaRPr sz="1600">
              <a:solidFill>
                <a:schemeClr val="accent1"/>
              </a:solidFill>
              <a:latin typeface="Inter"/>
              <a:ea typeface="Inter"/>
              <a:cs typeface="Inter"/>
              <a:sym typeface="Inter"/>
            </a:endParaRPr>
          </a:p>
          <a:p>
            <a:pPr indent="0" lvl="0" marL="0" rtl="0" algn="l">
              <a:spcBef>
                <a:spcPts val="1200"/>
              </a:spcBef>
              <a:spcAft>
                <a:spcPts val="1200"/>
              </a:spcAft>
              <a:buNone/>
            </a:pPr>
            <a:r>
              <a:rPr lang="en" sz="1600">
                <a:solidFill>
                  <a:schemeClr val="dk1"/>
                </a:solidFill>
                <a:latin typeface="Inter"/>
                <a:ea typeface="Inter"/>
                <a:cs typeface="Inter"/>
                <a:sym typeface="Inter"/>
              </a:rPr>
              <a:t>	Após isso, as entidades que relevantes são os workers e o monitor.</a:t>
            </a:r>
            <a:endParaRPr sz="1600">
              <a:solidFill>
                <a:schemeClr val="dk1"/>
              </a:solidFill>
              <a:latin typeface="Inter"/>
              <a:ea typeface="Inter"/>
              <a:cs typeface="Inter"/>
              <a:sym typeface="Inte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70" name="Shape 770"/>
        <p:cNvGrpSpPr/>
        <p:nvPr/>
      </p:nvGrpSpPr>
      <p:grpSpPr>
        <a:xfrm>
          <a:off x="0" y="0"/>
          <a:ext cx="0" cy="0"/>
          <a:chOff x="0" y="0"/>
          <a:chExt cx="0" cy="0"/>
        </a:xfrm>
      </p:grpSpPr>
      <p:pic>
        <p:nvPicPr>
          <p:cNvPr id="771" name="Google Shape;771;p7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72" name="Google Shape;772;p7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3" name="Google Shape;773;p7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74" name="Google Shape;774;p73"/>
          <p:cNvGrpSpPr/>
          <p:nvPr/>
        </p:nvGrpSpPr>
        <p:grpSpPr>
          <a:xfrm>
            <a:off x="457200" y="4762500"/>
            <a:ext cx="8229600" cy="304800"/>
            <a:chOff x="0" y="0"/>
            <a:chExt cx="8229600" cy="304800"/>
          </a:xfrm>
        </p:grpSpPr>
        <p:cxnSp>
          <p:nvCxnSpPr>
            <p:cNvPr id="775" name="Google Shape;775;p7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76" name="Google Shape;776;p7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77" name="Google Shape;777;p7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78" name="Google Shape;778;p73"/>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82" name="Shape 782"/>
        <p:cNvGrpSpPr/>
        <p:nvPr/>
      </p:nvGrpSpPr>
      <p:grpSpPr>
        <a:xfrm>
          <a:off x="0" y="0"/>
          <a:ext cx="0" cy="0"/>
          <a:chOff x="0" y="0"/>
          <a:chExt cx="0" cy="0"/>
        </a:xfrm>
      </p:grpSpPr>
      <p:pic>
        <p:nvPicPr>
          <p:cNvPr id="783" name="Google Shape;783;p7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84" name="Google Shape;784;p7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5" name="Google Shape;785;p7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86" name="Google Shape;786;p74"/>
          <p:cNvGrpSpPr/>
          <p:nvPr/>
        </p:nvGrpSpPr>
        <p:grpSpPr>
          <a:xfrm>
            <a:off x="457200" y="4762500"/>
            <a:ext cx="8229600" cy="304800"/>
            <a:chOff x="0" y="0"/>
            <a:chExt cx="8229600" cy="304800"/>
          </a:xfrm>
        </p:grpSpPr>
        <p:cxnSp>
          <p:nvCxnSpPr>
            <p:cNvPr id="787" name="Google Shape;787;p7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788" name="Google Shape;788;p7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789" name="Google Shape;789;p7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790" name="Google Shape;790;p7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794" name="Shape 794"/>
        <p:cNvGrpSpPr/>
        <p:nvPr/>
      </p:nvGrpSpPr>
      <p:grpSpPr>
        <a:xfrm>
          <a:off x="0" y="0"/>
          <a:ext cx="0" cy="0"/>
          <a:chOff x="0" y="0"/>
          <a:chExt cx="0" cy="0"/>
        </a:xfrm>
      </p:grpSpPr>
      <p:pic>
        <p:nvPicPr>
          <p:cNvPr id="795" name="Google Shape;795;p7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796" name="Google Shape;796;p7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7" name="Google Shape;797;p7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798" name="Google Shape;798;p75"/>
          <p:cNvGrpSpPr/>
          <p:nvPr/>
        </p:nvGrpSpPr>
        <p:grpSpPr>
          <a:xfrm>
            <a:off x="457200" y="4762500"/>
            <a:ext cx="8229600" cy="304800"/>
            <a:chOff x="0" y="0"/>
            <a:chExt cx="8229600" cy="304800"/>
          </a:xfrm>
        </p:grpSpPr>
        <p:cxnSp>
          <p:nvCxnSpPr>
            <p:cNvPr id="799" name="Google Shape;799;p7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00" name="Google Shape;800;p7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01" name="Google Shape;801;p7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02" name="Google Shape;802;p7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(fork).</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06" name="Shape 806"/>
        <p:cNvGrpSpPr/>
        <p:nvPr/>
      </p:nvGrpSpPr>
      <p:grpSpPr>
        <a:xfrm>
          <a:off x="0" y="0"/>
          <a:ext cx="0" cy="0"/>
          <a:chOff x="0" y="0"/>
          <a:chExt cx="0" cy="0"/>
        </a:xfrm>
      </p:grpSpPr>
      <p:pic>
        <p:nvPicPr>
          <p:cNvPr id="807" name="Google Shape;807;p7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08" name="Google Shape;808;p7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9" name="Google Shape;809;p7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10" name="Google Shape;810;p76"/>
          <p:cNvGrpSpPr/>
          <p:nvPr/>
        </p:nvGrpSpPr>
        <p:grpSpPr>
          <a:xfrm>
            <a:off x="457200" y="4762500"/>
            <a:ext cx="8229600" cy="304800"/>
            <a:chOff x="0" y="0"/>
            <a:chExt cx="8229600" cy="304800"/>
          </a:xfrm>
        </p:grpSpPr>
        <p:cxnSp>
          <p:nvCxnSpPr>
            <p:cNvPr id="811" name="Google Shape;811;p7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12" name="Google Shape;812;p7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13" name="Google Shape;813;p7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14" name="Google Shape;814;p7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(fork).</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0" lvl="0" marL="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18" name="Shape 818"/>
        <p:cNvGrpSpPr/>
        <p:nvPr/>
      </p:nvGrpSpPr>
      <p:grpSpPr>
        <a:xfrm>
          <a:off x="0" y="0"/>
          <a:ext cx="0" cy="0"/>
          <a:chOff x="0" y="0"/>
          <a:chExt cx="0" cy="0"/>
        </a:xfrm>
      </p:grpSpPr>
      <p:pic>
        <p:nvPicPr>
          <p:cNvPr id="819" name="Google Shape;819;p7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20" name="Google Shape;820;p7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1" name="Google Shape;821;p7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22" name="Google Shape;822;p77"/>
          <p:cNvGrpSpPr/>
          <p:nvPr/>
        </p:nvGrpSpPr>
        <p:grpSpPr>
          <a:xfrm>
            <a:off x="457200" y="4762500"/>
            <a:ext cx="8229600" cy="304800"/>
            <a:chOff x="0" y="0"/>
            <a:chExt cx="8229600" cy="304800"/>
          </a:xfrm>
        </p:grpSpPr>
        <p:cxnSp>
          <p:nvCxnSpPr>
            <p:cNvPr id="823" name="Google Shape;823;p7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24" name="Google Shape;824;p7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25" name="Google Shape;825;p7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26" name="Google Shape;826;p7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30" name="Shape 830"/>
        <p:cNvGrpSpPr/>
        <p:nvPr/>
      </p:nvGrpSpPr>
      <p:grpSpPr>
        <a:xfrm>
          <a:off x="0" y="0"/>
          <a:ext cx="0" cy="0"/>
          <a:chOff x="0" y="0"/>
          <a:chExt cx="0" cy="0"/>
        </a:xfrm>
      </p:grpSpPr>
      <p:pic>
        <p:nvPicPr>
          <p:cNvPr id="831" name="Google Shape;831;p7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32" name="Google Shape;832;p7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3" name="Google Shape;833;p7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34" name="Google Shape;834;p78"/>
          <p:cNvGrpSpPr/>
          <p:nvPr/>
        </p:nvGrpSpPr>
        <p:grpSpPr>
          <a:xfrm>
            <a:off x="457200" y="4762500"/>
            <a:ext cx="8229600" cy="304800"/>
            <a:chOff x="0" y="0"/>
            <a:chExt cx="8229600" cy="304800"/>
          </a:xfrm>
        </p:grpSpPr>
        <p:cxnSp>
          <p:nvCxnSpPr>
            <p:cNvPr id="835" name="Google Shape;835;p7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36" name="Google Shape;836;p7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37" name="Google Shape;837;p7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38" name="Google Shape;838;p78"/>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42" name="Shape 842"/>
        <p:cNvGrpSpPr/>
        <p:nvPr/>
      </p:nvGrpSpPr>
      <p:grpSpPr>
        <a:xfrm>
          <a:off x="0" y="0"/>
          <a:ext cx="0" cy="0"/>
          <a:chOff x="0" y="0"/>
          <a:chExt cx="0" cy="0"/>
        </a:xfrm>
      </p:grpSpPr>
      <p:pic>
        <p:nvPicPr>
          <p:cNvPr id="843" name="Google Shape;843;p7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44" name="Google Shape;844;p7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5" name="Google Shape;845;p7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46" name="Google Shape;846;p79"/>
          <p:cNvGrpSpPr/>
          <p:nvPr/>
        </p:nvGrpSpPr>
        <p:grpSpPr>
          <a:xfrm>
            <a:off x="457200" y="4762500"/>
            <a:ext cx="8229600" cy="304800"/>
            <a:chOff x="0" y="0"/>
            <a:chExt cx="8229600" cy="304800"/>
          </a:xfrm>
        </p:grpSpPr>
        <p:cxnSp>
          <p:nvCxnSpPr>
            <p:cNvPr id="847" name="Google Shape;847;p7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48" name="Google Shape;848;p7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49" name="Google Shape;849;p7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50" name="Google Shape;850;p79"/>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muito alta, joga parte das tarefas a um vizinho aleatório.</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54" name="Shape 854"/>
        <p:cNvGrpSpPr/>
        <p:nvPr/>
      </p:nvGrpSpPr>
      <p:grpSpPr>
        <a:xfrm>
          <a:off x="0" y="0"/>
          <a:ext cx="0" cy="0"/>
          <a:chOff x="0" y="0"/>
          <a:chExt cx="0" cy="0"/>
        </a:xfrm>
      </p:grpSpPr>
      <p:pic>
        <p:nvPicPr>
          <p:cNvPr id="855" name="Google Shape;855;p8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56" name="Google Shape;856;p8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7" name="Google Shape;857;p8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858" name="Google Shape;858;p80"/>
          <p:cNvGrpSpPr/>
          <p:nvPr/>
        </p:nvGrpSpPr>
        <p:grpSpPr>
          <a:xfrm>
            <a:off x="457200" y="4762500"/>
            <a:ext cx="8229600" cy="304800"/>
            <a:chOff x="0" y="0"/>
            <a:chExt cx="8229600" cy="304800"/>
          </a:xfrm>
        </p:grpSpPr>
        <p:cxnSp>
          <p:nvCxnSpPr>
            <p:cNvPr id="859" name="Google Shape;859;p8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60" name="Google Shape;860;p8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61" name="Google Shape;861;p8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862" name="Google Shape;862;p80"/>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É uma entidade independente, recebe tarefas e as executa.</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Cada worker roda como um processo a parte no SO </a:t>
            </a:r>
            <a:r>
              <a:rPr lang="en" sz="1600">
                <a:solidFill>
                  <a:schemeClr val="dk1"/>
                </a:solidFill>
                <a:latin typeface="Inter"/>
                <a:ea typeface="Inter"/>
                <a:cs typeface="Inter"/>
                <a:sym typeface="Inter"/>
              </a:rPr>
              <a:t>(fork)</a:t>
            </a:r>
            <a:r>
              <a:rPr lang="en" sz="1600">
                <a:solidFill>
                  <a:schemeClr val="dk1"/>
                </a:solidFill>
                <a:latin typeface="Inter"/>
                <a:ea typeface="Inter"/>
                <a:cs typeface="Inter"/>
                <a:sym typeface="Inter"/>
              </a:rPr>
              <a: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Se comunica de forma independente com workers vizinhos via TCP de forma bi-direcional. </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Implementa Work Stealing. Periodicamente, roda os seguintes passos: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Verifica a sua quantidade de tarefas pendentes;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muito alta, joga parte das tarefas a um vizinho aleatório.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a quantidade for 0 (Ocioso), pede tarefas a um vizinho aleatório.</a:t>
            </a:r>
            <a:endParaRPr sz="1600">
              <a:solidFill>
                <a:schemeClr val="dk1"/>
              </a:solidFill>
              <a:latin typeface="Inter"/>
              <a:ea typeface="Inter"/>
              <a:cs typeface="Inter"/>
              <a:sym typeface="Inte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66" name="Shape 866"/>
        <p:cNvGrpSpPr/>
        <p:nvPr/>
      </p:nvGrpSpPr>
      <p:grpSpPr>
        <a:xfrm>
          <a:off x="0" y="0"/>
          <a:ext cx="0" cy="0"/>
          <a:chOff x="0" y="0"/>
          <a:chExt cx="0" cy="0"/>
        </a:xfrm>
      </p:grpSpPr>
      <p:pic>
        <p:nvPicPr>
          <p:cNvPr id="867" name="Google Shape;867;p8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68" name="Google Shape;868;p8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9" name="Google Shape;869;p8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70" name="Google Shape;870;p81"/>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71" name="Google Shape;871;p81"/>
          <p:cNvGrpSpPr/>
          <p:nvPr/>
        </p:nvGrpSpPr>
        <p:grpSpPr>
          <a:xfrm>
            <a:off x="457200" y="4762500"/>
            <a:ext cx="8229600" cy="304800"/>
            <a:chOff x="0" y="0"/>
            <a:chExt cx="8229600" cy="304800"/>
          </a:xfrm>
        </p:grpSpPr>
        <p:cxnSp>
          <p:nvCxnSpPr>
            <p:cNvPr id="872" name="Google Shape;872;p8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73" name="Google Shape;873;p8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74" name="Google Shape;874;p8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78" name="Shape 878"/>
        <p:cNvGrpSpPr/>
        <p:nvPr/>
      </p:nvGrpSpPr>
      <p:grpSpPr>
        <a:xfrm>
          <a:off x="0" y="0"/>
          <a:ext cx="0" cy="0"/>
          <a:chOff x="0" y="0"/>
          <a:chExt cx="0" cy="0"/>
        </a:xfrm>
      </p:grpSpPr>
      <p:pic>
        <p:nvPicPr>
          <p:cNvPr id="879" name="Google Shape;879;p8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880" name="Google Shape;880;p8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1" name="Google Shape;881;p8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82" name="Google Shape;882;p82"/>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83" name="Google Shape;883;p82"/>
          <p:cNvGrpSpPr/>
          <p:nvPr/>
        </p:nvGrpSpPr>
        <p:grpSpPr>
          <a:xfrm>
            <a:off x="457200" y="4762500"/>
            <a:ext cx="8229600" cy="304800"/>
            <a:chOff x="0" y="0"/>
            <a:chExt cx="8229600" cy="304800"/>
          </a:xfrm>
        </p:grpSpPr>
        <p:cxnSp>
          <p:nvCxnSpPr>
            <p:cNvPr id="884" name="Google Shape;884;p8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85" name="Google Shape;885;p8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86" name="Google Shape;886;p8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890" name="Shape 890"/>
        <p:cNvGrpSpPr/>
        <p:nvPr/>
      </p:nvGrpSpPr>
      <p:grpSpPr>
        <a:xfrm>
          <a:off x="0" y="0"/>
          <a:ext cx="0" cy="0"/>
          <a:chOff x="0" y="0"/>
          <a:chExt cx="0" cy="0"/>
        </a:xfrm>
      </p:grpSpPr>
      <p:pic>
        <p:nvPicPr>
          <p:cNvPr id="891" name="Google Shape;891;p83"/>
          <p:cNvPicPr preferRelativeResize="0"/>
          <p:nvPr/>
        </p:nvPicPr>
        <p:blipFill rotWithShape="1">
          <a:blip r:embed="rId3">
            <a:alphaModFix/>
          </a:blip>
          <a:srcRect b="-3530" l="-12080" r="12080" t="3530"/>
          <a:stretch/>
        </p:blipFill>
        <p:spPr>
          <a:xfrm>
            <a:off x="-465103" y="-147200"/>
            <a:ext cx="9144000" cy="5143500"/>
          </a:xfrm>
          <a:prstGeom prst="rect">
            <a:avLst/>
          </a:prstGeom>
          <a:noFill/>
          <a:ln>
            <a:noFill/>
          </a:ln>
        </p:spPr>
      </p:pic>
      <p:sp>
        <p:nvSpPr>
          <p:cNvPr id="892" name="Google Shape;892;p8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93" name="Google Shape;893;p8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894" name="Google Shape;894;p83"/>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895" name="Google Shape;895;p83"/>
          <p:cNvGrpSpPr/>
          <p:nvPr/>
        </p:nvGrpSpPr>
        <p:grpSpPr>
          <a:xfrm>
            <a:off x="457200" y="4762500"/>
            <a:ext cx="8229600" cy="304800"/>
            <a:chOff x="0" y="0"/>
            <a:chExt cx="8229600" cy="304800"/>
          </a:xfrm>
        </p:grpSpPr>
        <p:cxnSp>
          <p:nvCxnSpPr>
            <p:cNvPr id="896" name="Google Shape;896;p8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897" name="Google Shape;897;p8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898" name="Google Shape;898;p8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02" name="Shape 902"/>
        <p:cNvGrpSpPr/>
        <p:nvPr/>
      </p:nvGrpSpPr>
      <p:grpSpPr>
        <a:xfrm>
          <a:off x="0" y="0"/>
          <a:ext cx="0" cy="0"/>
          <a:chOff x="0" y="0"/>
          <a:chExt cx="0" cy="0"/>
        </a:xfrm>
      </p:grpSpPr>
      <p:pic>
        <p:nvPicPr>
          <p:cNvPr id="903" name="Google Shape;903;p8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04" name="Google Shape;904;p8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05" name="Google Shape;905;p8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06" name="Google Shape;906;p84"/>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907" name="Google Shape;907;p84"/>
          <p:cNvGrpSpPr/>
          <p:nvPr/>
        </p:nvGrpSpPr>
        <p:grpSpPr>
          <a:xfrm>
            <a:off x="457200" y="4762500"/>
            <a:ext cx="8229600" cy="304800"/>
            <a:chOff x="0" y="0"/>
            <a:chExt cx="8229600" cy="304800"/>
          </a:xfrm>
        </p:grpSpPr>
        <p:cxnSp>
          <p:nvCxnSpPr>
            <p:cNvPr id="908" name="Google Shape;908;p8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09" name="Google Shape;909;p8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10" name="Google Shape;910;p8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14" name="Shape 914"/>
        <p:cNvGrpSpPr/>
        <p:nvPr/>
      </p:nvGrpSpPr>
      <p:grpSpPr>
        <a:xfrm>
          <a:off x="0" y="0"/>
          <a:ext cx="0" cy="0"/>
          <a:chOff x="0" y="0"/>
          <a:chExt cx="0" cy="0"/>
        </a:xfrm>
      </p:grpSpPr>
      <p:pic>
        <p:nvPicPr>
          <p:cNvPr id="915" name="Google Shape;915;p8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16" name="Google Shape;916;p8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17" name="Google Shape;917;p8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18" name="Google Shape;918;p85"/>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919" name="Google Shape;919;p85"/>
          <p:cNvGrpSpPr/>
          <p:nvPr/>
        </p:nvGrpSpPr>
        <p:grpSpPr>
          <a:xfrm>
            <a:off x="457200" y="4762500"/>
            <a:ext cx="8229600" cy="304800"/>
            <a:chOff x="0" y="0"/>
            <a:chExt cx="8229600" cy="304800"/>
          </a:xfrm>
        </p:grpSpPr>
        <p:cxnSp>
          <p:nvCxnSpPr>
            <p:cNvPr id="920" name="Google Shape;920;p8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21" name="Google Shape;921;p8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22" name="Google Shape;922;p8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26" name="Shape 926"/>
        <p:cNvGrpSpPr/>
        <p:nvPr/>
      </p:nvGrpSpPr>
      <p:grpSpPr>
        <a:xfrm>
          <a:off x="0" y="0"/>
          <a:ext cx="0" cy="0"/>
          <a:chOff x="0" y="0"/>
          <a:chExt cx="0" cy="0"/>
        </a:xfrm>
      </p:grpSpPr>
      <p:pic>
        <p:nvPicPr>
          <p:cNvPr id="927" name="Google Shape;927;p8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28" name="Google Shape;928;p8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29" name="Google Shape;929;p8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30" name="Google Shape;930;p86"/>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consumidora, processa as tarefas e lida com as mensagens recebidas. Zero locks aqui.</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31" name="Google Shape;931;p86"/>
          <p:cNvGrpSpPr/>
          <p:nvPr/>
        </p:nvGrpSpPr>
        <p:grpSpPr>
          <a:xfrm>
            <a:off x="457200" y="4762500"/>
            <a:ext cx="8229600" cy="304800"/>
            <a:chOff x="0" y="0"/>
            <a:chExt cx="8229600" cy="304800"/>
          </a:xfrm>
        </p:grpSpPr>
        <p:cxnSp>
          <p:nvCxnSpPr>
            <p:cNvPr id="932" name="Google Shape;932;p8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33" name="Google Shape;933;p8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34" name="Google Shape;934;p8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38" name="Shape 938"/>
        <p:cNvGrpSpPr/>
        <p:nvPr/>
      </p:nvGrpSpPr>
      <p:grpSpPr>
        <a:xfrm>
          <a:off x="0" y="0"/>
          <a:ext cx="0" cy="0"/>
          <a:chOff x="0" y="0"/>
          <a:chExt cx="0" cy="0"/>
        </a:xfrm>
      </p:grpSpPr>
      <p:pic>
        <p:nvPicPr>
          <p:cNvPr id="939" name="Google Shape;939;p8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40" name="Google Shape;940;p8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1" name="Google Shape;941;p8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42" name="Google Shape;942;p87"/>
          <p:cNvSpPr txBox="1"/>
          <p:nvPr/>
        </p:nvSpPr>
        <p:spPr>
          <a:xfrm>
            <a:off x="418411" y="1259975"/>
            <a:ext cx="8385600" cy="30711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Worker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Possui um canal de entrada e um de saída por vizinho.</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aplicação suporta as topologias de Mesh e Ring.</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Roda 2 + k threads, em que k é o número de vizinhos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por canal de entrada (K threads ao total)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que lê o canal de entrada do controle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Uma thread consumidora, processa as tarefas e lida com as mensagens recebidas. Zero locks aqui.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Manda periódicamente pacotes de telemetría UDP para o monitor</a:t>
            </a:r>
            <a:endParaRPr sz="1600">
              <a:solidFill>
                <a:schemeClr val="accent1"/>
              </a:solidFill>
              <a:latin typeface="Inter"/>
              <a:ea typeface="Inter"/>
              <a:cs typeface="Inter"/>
              <a:sym typeface="Inter"/>
            </a:endParaRPr>
          </a:p>
        </p:txBody>
      </p:sp>
      <p:grpSp>
        <p:nvGrpSpPr>
          <p:cNvPr id="943" name="Google Shape;943;p87"/>
          <p:cNvGrpSpPr/>
          <p:nvPr/>
        </p:nvGrpSpPr>
        <p:grpSpPr>
          <a:xfrm>
            <a:off x="457200" y="4762500"/>
            <a:ext cx="8229600" cy="304800"/>
            <a:chOff x="0" y="0"/>
            <a:chExt cx="8229600" cy="304800"/>
          </a:xfrm>
        </p:grpSpPr>
        <p:cxnSp>
          <p:nvCxnSpPr>
            <p:cNvPr id="944" name="Google Shape;944;p8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45" name="Google Shape;945;p8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46" name="Google Shape;946;p8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50" name="Shape 950"/>
        <p:cNvGrpSpPr/>
        <p:nvPr/>
      </p:nvGrpSpPr>
      <p:grpSpPr>
        <a:xfrm>
          <a:off x="0" y="0"/>
          <a:ext cx="0" cy="0"/>
          <a:chOff x="0" y="0"/>
          <a:chExt cx="0" cy="0"/>
        </a:xfrm>
      </p:grpSpPr>
      <p:pic>
        <p:nvPicPr>
          <p:cNvPr id="951" name="Google Shape;951;p8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52" name="Google Shape;952;p8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53" name="Google Shape;953;p8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54" name="Google Shape;954;p88"/>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55" name="Google Shape;955;p88"/>
          <p:cNvGrpSpPr/>
          <p:nvPr/>
        </p:nvGrpSpPr>
        <p:grpSpPr>
          <a:xfrm>
            <a:off x="457200" y="4762500"/>
            <a:ext cx="8229600" cy="304800"/>
            <a:chOff x="0" y="0"/>
            <a:chExt cx="8229600" cy="304800"/>
          </a:xfrm>
        </p:grpSpPr>
        <p:cxnSp>
          <p:nvCxnSpPr>
            <p:cNvPr id="956" name="Google Shape;956;p8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57" name="Google Shape;957;p8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58" name="Google Shape;958;p8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62" name="Shape 962"/>
        <p:cNvGrpSpPr/>
        <p:nvPr/>
      </p:nvGrpSpPr>
      <p:grpSpPr>
        <a:xfrm>
          <a:off x="0" y="0"/>
          <a:ext cx="0" cy="0"/>
          <a:chOff x="0" y="0"/>
          <a:chExt cx="0" cy="0"/>
        </a:xfrm>
      </p:grpSpPr>
      <p:pic>
        <p:nvPicPr>
          <p:cNvPr id="963" name="Google Shape;963;p8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64" name="Google Shape;964;p8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65" name="Google Shape;965;p8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66" name="Google Shape;966;p8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67" name="Google Shape;967;p89"/>
          <p:cNvGrpSpPr/>
          <p:nvPr/>
        </p:nvGrpSpPr>
        <p:grpSpPr>
          <a:xfrm>
            <a:off x="457200" y="4762500"/>
            <a:ext cx="8229600" cy="304800"/>
            <a:chOff x="0" y="0"/>
            <a:chExt cx="8229600" cy="304800"/>
          </a:xfrm>
        </p:grpSpPr>
        <p:cxnSp>
          <p:nvCxnSpPr>
            <p:cNvPr id="968" name="Google Shape;968;p8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69" name="Google Shape;969;p8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70" name="Google Shape;970;p8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74" name="Shape 974"/>
        <p:cNvGrpSpPr/>
        <p:nvPr/>
      </p:nvGrpSpPr>
      <p:grpSpPr>
        <a:xfrm>
          <a:off x="0" y="0"/>
          <a:ext cx="0" cy="0"/>
          <a:chOff x="0" y="0"/>
          <a:chExt cx="0" cy="0"/>
        </a:xfrm>
      </p:grpSpPr>
      <p:pic>
        <p:nvPicPr>
          <p:cNvPr id="975" name="Google Shape;975;p9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76" name="Google Shape;976;p9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77" name="Google Shape;977;p9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78" name="Google Shape;978;p9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79" name="Google Shape;979;p90"/>
          <p:cNvGrpSpPr/>
          <p:nvPr/>
        </p:nvGrpSpPr>
        <p:grpSpPr>
          <a:xfrm>
            <a:off x="457200" y="4762500"/>
            <a:ext cx="8229600" cy="304800"/>
            <a:chOff x="0" y="0"/>
            <a:chExt cx="8229600" cy="304800"/>
          </a:xfrm>
        </p:grpSpPr>
        <p:cxnSp>
          <p:nvCxnSpPr>
            <p:cNvPr id="980" name="Google Shape;980;p9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81" name="Google Shape;981;p9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82" name="Google Shape;982;p9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86" name="Shape 986"/>
        <p:cNvGrpSpPr/>
        <p:nvPr/>
      </p:nvGrpSpPr>
      <p:grpSpPr>
        <a:xfrm>
          <a:off x="0" y="0"/>
          <a:ext cx="0" cy="0"/>
          <a:chOff x="0" y="0"/>
          <a:chExt cx="0" cy="0"/>
        </a:xfrm>
      </p:grpSpPr>
      <p:pic>
        <p:nvPicPr>
          <p:cNvPr id="987" name="Google Shape;987;p9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988" name="Google Shape;988;p9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89" name="Google Shape;989;p9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990" name="Google Shape;990;p9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991" name="Google Shape;991;p91"/>
          <p:cNvGrpSpPr/>
          <p:nvPr/>
        </p:nvGrpSpPr>
        <p:grpSpPr>
          <a:xfrm>
            <a:off x="457200" y="4762500"/>
            <a:ext cx="8229600" cy="304800"/>
            <a:chOff x="0" y="0"/>
            <a:chExt cx="8229600" cy="304800"/>
          </a:xfrm>
        </p:grpSpPr>
        <p:cxnSp>
          <p:nvCxnSpPr>
            <p:cNvPr id="992" name="Google Shape;992;p9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993" name="Google Shape;993;p9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994" name="Google Shape;994;p9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998" name="Shape 998"/>
        <p:cNvGrpSpPr/>
        <p:nvPr/>
      </p:nvGrpSpPr>
      <p:grpSpPr>
        <a:xfrm>
          <a:off x="0" y="0"/>
          <a:ext cx="0" cy="0"/>
          <a:chOff x="0" y="0"/>
          <a:chExt cx="0" cy="0"/>
        </a:xfrm>
      </p:grpSpPr>
      <p:pic>
        <p:nvPicPr>
          <p:cNvPr id="999" name="Google Shape;999;p9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00" name="Google Shape;1000;p9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01" name="Google Shape;1001;p9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02" name="Google Shape;1002;p92"/>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1003" name="Google Shape;1003;p92"/>
          <p:cNvGrpSpPr/>
          <p:nvPr/>
        </p:nvGrpSpPr>
        <p:grpSpPr>
          <a:xfrm>
            <a:off x="457200" y="4762500"/>
            <a:ext cx="8229600" cy="304800"/>
            <a:chOff x="0" y="0"/>
            <a:chExt cx="8229600" cy="304800"/>
          </a:xfrm>
        </p:grpSpPr>
        <p:cxnSp>
          <p:nvCxnSpPr>
            <p:cNvPr id="1004" name="Google Shape;1004;p9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05" name="Google Shape;1005;p9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06" name="Google Shape;1006;p9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10" name="Shape 1010"/>
        <p:cNvGrpSpPr/>
        <p:nvPr/>
      </p:nvGrpSpPr>
      <p:grpSpPr>
        <a:xfrm>
          <a:off x="0" y="0"/>
          <a:ext cx="0" cy="0"/>
          <a:chOff x="0" y="0"/>
          <a:chExt cx="0" cy="0"/>
        </a:xfrm>
      </p:grpSpPr>
      <p:pic>
        <p:nvPicPr>
          <p:cNvPr id="1011" name="Google Shape;1011;p9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12" name="Google Shape;1012;p9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13" name="Google Shape;1013;p9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14" name="Google Shape;1014;p93"/>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a inicialização do snapshot a partir de um worker selecionado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accent1"/>
              </a:solidFill>
              <a:latin typeface="Inter"/>
              <a:ea typeface="Inter"/>
              <a:cs typeface="Inter"/>
              <a:sym typeface="Inter"/>
            </a:endParaRPr>
          </a:p>
        </p:txBody>
      </p:sp>
      <p:grpSp>
        <p:nvGrpSpPr>
          <p:cNvPr id="1015" name="Google Shape;1015;p93"/>
          <p:cNvGrpSpPr/>
          <p:nvPr/>
        </p:nvGrpSpPr>
        <p:grpSpPr>
          <a:xfrm>
            <a:off x="457200" y="4762500"/>
            <a:ext cx="8229600" cy="304800"/>
            <a:chOff x="0" y="0"/>
            <a:chExt cx="8229600" cy="304800"/>
          </a:xfrm>
        </p:grpSpPr>
        <p:cxnSp>
          <p:nvCxnSpPr>
            <p:cNvPr id="1016" name="Google Shape;1016;p9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17" name="Google Shape;1017;p9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18" name="Google Shape;1018;p9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22" name="Shape 1022"/>
        <p:cNvGrpSpPr/>
        <p:nvPr/>
      </p:nvGrpSpPr>
      <p:grpSpPr>
        <a:xfrm>
          <a:off x="0" y="0"/>
          <a:ext cx="0" cy="0"/>
          <a:chOff x="0" y="0"/>
          <a:chExt cx="0" cy="0"/>
        </a:xfrm>
      </p:grpSpPr>
      <p:pic>
        <p:nvPicPr>
          <p:cNvPr id="1023" name="Google Shape;1023;p9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24" name="Google Shape;1024;p9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25" name="Google Shape;1025;p9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026" name="Google Shape;1026;p94"/>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Monitor</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Interface feita com o ImGui</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Recebe pacotes UDP contendo as informações de cada worker e as renderiza na tela em tempo real</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Mostra os logs, tarefas pendentes/concluidas de cada worker, e outras informações gerais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Pacotes UDP podem ser perdidos na rede, ou chegarem em uma ordem diferente da enviada. O pacote UDP contém o seq, contador local do worker, o Monitor guarda essa informação e só considera o mais recente.</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a inicialização do snapshot a partir de um worker selecionado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Permite congelar a visualização. Isso é apenas visual, só o monitor para, o sistema continua funcionando.</a:t>
            </a:r>
            <a:endParaRPr sz="1600">
              <a:solidFill>
                <a:schemeClr val="accent1"/>
              </a:solidFill>
              <a:latin typeface="Inter"/>
              <a:ea typeface="Inter"/>
              <a:cs typeface="Inter"/>
              <a:sym typeface="Inter"/>
            </a:endParaRPr>
          </a:p>
        </p:txBody>
      </p:sp>
      <p:grpSp>
        <p:nvGrpSpPr>
          <p:cNvPr id="1027" name="Google Shape;1027;p94"/>
          <p:cNvGrpSpPr/>
          <p:nvPr/>
        </p:nvGrpSpPr>
        <p:grpSpPr>
          <a:xfrm>
            <a:off x="457200" y="4762500"/>
            <a:ext cx="8229600" cy="304800"/>
            <a:chOff x="0" y="0"/>
            <a:chExt cx="8229600" cy="304800"/>
          </a:xfrm>
        </p:grpSpPr>
        <p:cxnSp>
          <p:nvCxnSpPr>
            <p:cNvPr id="1028" name="Google Shape;1028;p9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29" name="Google Shape;1029;p9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30" name="Google Shape;1030;p9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34" name="Shape 1034"/>
        <p:cNvGrpSpPr/>
        <p:nvPr/>
      </p:nvGrpSpPr>
      <p:grpSpPr>
        <a:xfrm>
          <a:off x="0" y="0"/>
          <a:ext cx="0" cy="0"/>
          <a:chOff x="0" y="0"/>
          <a:chExt cx="0" cy="0"/>
        </a:xfrm>
      </p:grpSpPr>
      <p:pic>
        <p:nvPicPr>
          <p:cNvPr id="1035" name="Google Shape;1035;p9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36" name="Google Shape;1036;p9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37" name="Google Shape;1037;p95"/>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a:t>
            </a:r>
            <a:r>
              <a:rPr b="1" lang="en" sz="1700">
                <a:solidFill>
                  <a:srgbClr val="111827"/>
                </a:solidFill>
                <a:latin typeface="Inter"/>
                <a:ea typeface="Inter"/>
                <a:cs typeface="Inter"/>
                <a:sym typeface="Inter"/>
              </a:rPr>
              <a:t>o</a:t>
            </a:r>
            <a:r>
              <a:rPr b="1" lang="en" sz="1700">
                <a:solidFill>
                  <a:srgbClr val="111827"/>
                </a:solidFill>
                <a:latin typeface="Inter"/>
                <a:ea typeface="Inter"/>
                <a:cs typeface="Inter"/>
                <a:sym typeface="Inter"/>
              </a:rPr>
              <a:t> Chandy-Lamport</a:t>
            </a:r>
            <a:endParaRPr sz="1700">
              <a:solidFill>
                <a:srgbClr val="111827"/>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38" name="Google Shape;1038;p9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39" name="Google Shape;1039;p95"/>
          <p:cNvGrpSpPr/>
          <p:nvPr/>
        </p:nvGrpSpPr>
        <p:grpSpPr>
          <a:xfrm>
            <a:off x="457200" y="4762500"/>
            <a:ext cx="8229600" cy="304800"/>
            <a:chOff x="0" y="0"/>
            <a:chExt cx="8229600" cy="304800"/>
          </a:xfrm>
        </p:grpSpPr>
        <p:cxnSp>
          <p:nvCxnSpPr>
            <p:cNvPr id="1040" name="Google Shape;1040;p9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41" name="Google Shape;1041;p9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42" name="Google Shape;1042;p9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46" name="Shape 1046"/>
        <p:cNvGrpSpPr/>
        <p:nvPr/>
      </p:nvGrpSpPr>
      <p:grpSpPr>
        <a:xfrm>
          <a:off x="0" y="0"/>
          <a:ext cx="0" cy="0"/>
          <a:chOff x="0" y="0"/>
          <a:chExt cx="0" cy="0"/>
        </a:xfrm>
      </p:grpSpPr>
      <p:pic>
        <p:nvPicPr>
          <p:cNvPr id="1047" name="Google Shape;1047;p9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48" name="Google Shape;1048;p9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49" name="Google Shape;1049;p96"/>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50" name="Google Shape;1050;p9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51" name="Google Shape;1051;p96"/>
          <p:cNvGrpSpPr/>
          <p:nvPr/>
        </p:nvGrpSpPr>
        <p:grpSpPr>
          <a:xfrm>
            <a:off x="457200" y="4762500"/>
            <a:ext cx="8229600" cy="304800"/>
            <a:chOff x="0" y="0"/>
            <a:chExt cx="8229600" cy="304800"/>
          </a:xfrm>
        </p:grpSpPr>
        <p:cxnSp>
          <p:nvCxnSpPr>
            <p:cNvPr id="1052" name="Google Shape;1052;p9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53" name="Google Shape;1053;p9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54" name="Google Shape;1054;p9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58" name="Shape 1058"/>
        <p:cNvGrpSpPr/>
        <p:nvPr/>
      </p:nvGrpSpPr>
      <p:grpSpPr>
        <a:xfrm>
          <a:off x="0" y="0"/>
          <a:ext cx="0" cy="0"/>
          <a:chOff x="0" y="0"/>
          <a:chExt cx="0" cy="0"/>
        </a:xfrm>
      </p:grpSpPr>
      <p:pic>
        <p:nvPicPr>
          <p:cNvPr id="1059" name="Google Shape;1059;p9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60" name="Google Shape;1060;p9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61" name="Google Shape;1061;p97"/>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0" lvl="0" marL="0" rtl="0" algn="l">
              <a:spcBef>
                <a:spcPts val="1200"/>
              </a:spcBef>
              <a:spcAft>
                <a:spcPts val="1200"/>
              </a:spcAft>
              <a:buNone/>
            </a:pPr>
            <a:r>
              <a:t/>
            </a:r>
            <a:endParaRPr>
              <a:solidFill>
                <a:schemeClr val="dk1"/>
              </a:solidFill>
              <a:latin typeface="Inter"/>
              <a:ea typeface="Inter"/>
              <a:cs typeface="Inter"/>
              <a:sym typeface="Inter"/>
            </a:endParaRPr>
          </a:p>
        </p:txBody>
      </p:sp>
      <p:sp>
        <p:nvSpPr>
          <p:cNvPr id="1062" name="Google Shape;1062;p9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63" name="Google Shape;1063;p97"/>
          <p:cNvGrpSpPr/>
          <p:nvPr/>
        </p:nvGrpSpPr>
        <p:grpSpPr>
          <a:xfrm>
            <a:off x="457200" y="4762500"/>
            <a:ext cx="8229600" cy="304800"/>
            <a:chOff x="0" y="0"/>
            <a:chExt cx="8229600" cy="304800"/>
          </a:xfrm>
        </p:grpSpPr>
        <p:cxnSp>
          <p:nvCxnSpPr>
            <p:cNvPr id="1064" name="Google Shape;1064;p9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65" name="Google Shape;1065;p9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66" name="Google Shape;1066;p9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70" name="Shape 1070"/>
        <p:cNvGrpSpPr/>
        <p:nvPr/>
      </p:nvGrpSpPr>
      <p:grpSpPr>
        <a:xfrm>
          <a:off x="0" y="0"/>
          <a:ext cx="0" cy="0"/>
          <a:chOff x="0" y="0"/>
          <a:chExt cx="0" cy="0"/>
        </a:xfrm>
      </p:grpSpPr>
      <p:pic>
        <p:nvPicPr>
          <p:cNvPr id="1071" name="Google Shape;1071;p9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72" name="Google Shape;1072;p9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73" name="Google Shape;1073;p98"/>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074" name="Google Shape;1074;p9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75" name="Google Shape;1075;p98"/>
          <p:cNvGrpSpPr/>
          <p:nvPr/>
        </p:nvGrpSpPr>
        <p:grpSpPr>
          <a:xfrm>
            <a:off x="457200" y="4762500"/>
            <a:ext cx="8229600" cy="304800"/>
            <a:chOff x="0" y="0"/>
            <a:chExt cx="8229600" cy="304800"/>
          </a:xfrm>
        </p:grpSpPr>
        <p:cxnSp>
          <p:nvCxnSpPr>
            <p:cNvPr id="1076" name="Google Shape;1076;p9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77" name="Google Shape;1077;p9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78" name="Google Shape;1078;p9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82" name="Shape 1082"/>
        <p:cNvGrpSpPr/>
        <p:nvPr/>
      </p:nvGrpSpPr>
      <p:grpSpPr>
        <a:xfrm>
          <a:off x="0" y="0"/>
          <a:ext cx="0" cy="0"/>
          <a:chOff x="0" y="0"/>
          <a:chExt cx="0" cy="0"/>
        </a:xfrm>
      </p:grpSpPr>
      <p:pic>
        <p:nvPicPr>
          <p:cNvPr id="1083" name="Google Shape;1083;p9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84" name="Google Shape;1084;p9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85" name="Google Shape;1085;p99"/>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086" name="Google Shape;1086;p9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87" name="Google Shape;1087;p99"/>
          <p:cNvGrpSpPr/>
          <p:nvPr/>
        </p:nvGrpSpPr>
        <p:grpSpPr>
          <a:xfrm>
            <a:off x="457200" y="4762500"/>
            <a:ext cx="8229600" cy="304800"/>
            <a:chOff x="0" y="0"/>
            <a:chExt cx="8229600" cy="304800"/>
          </a:xfrm>
        </p:grpSpPr>
        <p:cxnSp>
          <p:nvCxnSpPr>
            <p:cNvPr id="1088" name="Google Shape;1088;p9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089" name="Google Shape;1089;p9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090" name="Google Shape;1090;p9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094" name="Shape 1094"/>
        <p:cNvGrpSpPr/>
        <p:nvPr/>
      </p:nvGrpSpPr>
      <p:grpSpPr>
        <a:xfrm>
          <a:off x="0" y="0"/>
          <a:ext cx="0" cy="0"/>
          <a:chOff x="0" y="0"/>
          <a:chExt cx="0" cy="0"/>
        </a:xfrm>
      </p:grpSpPr>
      <p:pic>
        <p:nvPicPr>
          <p:cNvPr id="1095" name="Google Shape;1095;p10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096" name="Google Shape;1096;p10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7" name="Google Shape;1097;p100"/>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098" name="Google Shape;1098;p10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099" name="Google Shape;1099;p100"/>
          <p:cNvGrpSpPr/>
          <p:nvPr/>
        </p:nvGrpSpPr>
        <p:grpSpPr>
          <a:xfrm>
            <a:off x="457200" y="4762500"/>
            <a:ext cx="8229600" cy="304800"/>
            <a:chOff x="0" y="0"/>
            <a:chExt cx="8229600" cy="304800"/>
          </a:xfrm>
        </p:grpSpPr>
        <p:cxnSp>
          <p:nvCxnSpPr>
            <p:cNvPr id="1100" name="Google Shape;1100;p10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01" name="Google Shape;1101;p10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02" name="Google Shape;1102;p10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06" name="Shape 1106"/>
        <p:cNvGrpSpPr/>
        <p:nvPr/>
      </p:nvGrpSpPr>
      <p:grpSpPr>
        <a:xfrm>
          <a:off x="0" y="0"/>
          <a:ext cx="0" cy="0"/>
          <a:chOff x="0" y="0"/>
          <a:chExt cx="0" cy="0"/>
        </a:xfrm>
      </p:grpSpPr>
      <p:pic>
        <p:nvPicPr>
          <p:cNvPr id="1107" name="Google Shape;1107;p10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08" name="Google Shape;1108;p10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9" name="Google Shape;1109;p101"/>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0" lvl="0" marL="914400" rtl="0" algn="l">
              <a:spcBef>
                <a:spcPts val="1200"/>
              </a:spcBef>
              <a:spcAft>
                <a:spcPts val="1200"/>
              </a:spcAft>
              <a:buNone/>
            </a:pPr>
            <a:r>
              <a:t/>
            </a:r>
            <a:endParaRPr>
              <a:solidFill>
                <a:schemeClr val="dk1"/>
              </a:solidFill>
              <a:latin typeface="Inter"/>
              <a:ea typeface="Inter"/>
              <a:cs typeface="Inter"/>
              <a:sym typeface="Inter"/>
            </a:endParaRPr>
          </a:p>
        </p:txBody>
      </p:sp>
      <p:sp>
        <p:nvSpPr>
          <p:cNvPr id="1110" name="Google Shape;1110;p10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11" name="Google Shape;1111;p101"/>
          <p:cNvGrpSpPr/>
          <p:nvPr/>
        </p:nvGrpSpPr>
        <p:grpSpPr>
          <a:xfrm>
            <a:off x="457200" y="4762500"/>
            <a:ext cx="8229600" cy="304800"/>
            <a:chOff x="0" y="0"/>
            <a:chExt cx="8229600" cy="304800"/>
          </a:xfrm>
        </p:grpSpPr>
        <p:cxnSp>
          <p:nvCxnSpPr>
            <p:cNvPr id="1112" name="Google Shape;1112;p10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13" name="Google Shape;1113;p10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14" name="Google Shape;1114;p10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18" name="Shape 1118"/>
        <p:cNvGrpSpPr/>
        <p:nvPr/>
      </p:nvGrpSpPr>
      <p:grpSpPr>
        <a:xfrm>
          <a:off x="0" y="0"/>
          <a:ext cx="0" cy="0"/>
          <a:chOff x="0" y="0"/>
          <a:chExt cx="0" cy="0"/>
        </a:xfrm>
      </p:grpSpPr>
      <p:pic>
        <p:nvPicPr>
          <p:cNvPr id="1119" name="Google Shape;1119;p10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20" name="Google Shape;1120;p10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21" name="Google Shape;1121;p102"/>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22" name="Google Shape;1122;p10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23" name="Google Shape;1123;p102"/>
          <p:cNvGrpSpPr/>
          <p:nvPr/>
        </p:nvGrpSpPr>
        <p:grpSpPr>
          <a:xfrm>
            <a:off x="457200" y="4762500"/>
            <a:ext cx="8229600" cy="304800"/>
            <a:chOff x="0" y="0"/>
            <a:chExt cx="8229600" cy="304800"/>
          </a:xfrm>
        </p:grpSpPr>
        <p:cxnSp>
          <p:nvCxnSpPr>
            <p:cNvPr id="1124" name="Google Shape;1124;p10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25" name="Google Shape;1125;p10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26" name="Google Shape;1126;p10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30" name="Shape 1130"/>
        <p:cNvGrpSpPr/>
        <p:nvPr/>
      </p:nvGrpSpPr>
      <p:grpSpPr>
        <a:xfrm>
          <a:off x="0" y="0"/>
          <a:ext cx="0" cy="0"/>
          <a:chOff x="0" y="0"/>
          <a:chExt cx="0" cy="0"/>
        </a:xfrm>
      </p:grpSpPr>
      <p:pic>
        <p:nvPicPr>
          <p:cNvPr id="1131" name="Google Shape;1131;p103"/>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32" name="Google Shape;1132;p10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33" name="Google Shape;1133;p103"/>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34" name="Google Shape;1134;p103"/>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35" name="Google Shape;1135;p103"/>
          <p:cNvGrpSpPr/>
          <p:nvPr/>
        </p:nvGrpSpPr>
        <p:grpSpPr>
          <a:xfrm>
            <a:off x="457200" y="4762500"/>
            <a:ext cx="8229600" cy="304800"/>
            <a:chOff x="0" y="0"/>
            <a:chExt cx="8229600" cy="304800"/>
          </a:xfrm>
        </p:grpSpPr>
        <p:cxnSp>
          <p:nvCxnSpPr>
            <p:cNvPr id="1136" name="Google Shape;1136;p10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37" name="Google Shape;1137;p10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38" name="Google Shape;1138;p10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42" name="Shape 1142"/>
        <p:cNvGrpSpPr/>
        <p:nvPr/>
      </p:nvGrpSpPr>
      <p:grpSpPr>
        <a:xfrm>
          <a:off x="0" y="0"/>
          <a:ext cx="0" cy="0"/>
          <a:chOff x="0" y="0"/>
          <a:chExt cx="0" cy="0"/>
        </a:xfrm>
      </p:grpSpPr>
      <p:pic>
        <p:nvPicPr>
          <p:cNvPr id="1143" name="Google Shape;1143;p104"/>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44" name="Google Shape;1144;p104"/>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45" name="Google Shape;1145;p104"/>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enviar_marcador(destino, snapshot_id) -&gt; Emite o marcador a um nó vizinho (O motor não conhece canais/sockets)</a:t>
            </a:r>
            <a:endParaRPr>
              <a:solidFill>
                <a:schemeClr val="dk1"/>
              </a:solidFill>
              <a:latin typeface="Inter"/>
              <a:ea typeface="Inter"/>
              <a:cs typeface="Inter"/>
              <a:sym typeface="Inter"/>
            </a:endParaRPr>
          </a:p>
          <a:p>
            <a:pPr indent="0" lvl="0" marL="1371600" rtl="0" algn="l">
              <a:spcBef>
                <a:spcPts val="1200"/>
              </a:spcBef>
              <a:spcAft>
                <a:spcPts val="1200"/>
              </a:spcAft>
              <a:buNone/>
            </a:pPr>
            <a:r>
              <a:t/>
            </a:r>
            <a:endParaRPr>
              <a:solidFill>
                <a:schemeClr val="dk1"/>
              </a:solidFill>
              <a:latin typeface="Inter"/>
              <a:ea typeface="Inter"/>
              <a:cs typeface="Inter"/>
              <a:sym typeface="Inter"/>
            </a:endParaRPr>
          </a:p>
        </p:txBody>
      </p:sp>
      <p:sp>
        <p:nvSpPr>
          <p:cNvPr id="1146" name="Google Shape;1146;p104"/>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47" name="Google Shape;1147;p104"/>
          <p:cNvGrpSpPr/>
          <p:nvPr/>
        </p:nvGrpSpPr>
        <p:grpSpPr>
          <a:xfrm>
            <a:off x="457200" y="4762500"/>
            <a:ext cx="8229600" cy="304800"/>
            <a:chOff x="0" y="0"/>
            <a:chExt cx="8229600" cy="304800"/>
          </a:xfrm>
        </p:grpSpPr>
        <p:cxnSp>
          <p:nvCxnSpPr>
            <p:cNvPr id="1148" name="Google Shape;1148;p104"/>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49" name="Google Shape;1149;p104"/>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50" name="Google Shape;1150;p104"/>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54" name="Shape 1154"/>
        <p:cNvGrpSpPr/>
        <p:nvPr/>
      </p:nvGrpSpPr>
      <p:grpSpPr>
        <a:xfrm>
          <a:off x="0" y="0"/>
          <a:ext cx="0" cy="0"/>
          <a:chOff x="0" y="0"/>
          <a:chExt cx="0" cy="0"/>
        </a:xfrm>
      </p:grpSpPr>
      <p:pic>
        <p:nvPicPr>
          <p:cNvPr id="1155" name="Google Shape;1155;p105"/>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56" name="Google Shape;1156;p105"/>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57" name="Google Shape;1157;p105"/>
          <p:cNvSpPr txBox="1"/>
          <p:nvPr/>
        </p:nvSpPr>
        <p:spPr>
          <a:xfrm>
            <a:off x="449300" y="837250"/>
            <a:ext cx="8496000" cy="4111800"/>
          </a:xfrm>
          <a:prstGeom prst="rect">
            <a:avLst/>
          </a:prstGeom>
          <a:noFill/>
          <a:ln>
            <a:noFill/>
          </a:ln>
        </p:spPr>
        <p:txBody>
          <a:bodyPr anchorCtr="0" anchor="t" bIns="0" lIns="0" spcFirstLastPara="1" rIns="0" wrap="square" tIns="0">
            <a:noAutofit/>
          </a:bodyPr>
          <a:lstStyle/>
          <a:p>
            <a:pPr indent="-336550" lvl="0" marL="457200" rtl="0" algn="l">
              <a:spcBef>
                <a:spcPts val="0"/>
              </a:spcBef>
              <a:spcAft>
                <a:spcPts val="0"/>
              </a:spcAft>
              <a:buClr>
                <a:schemeClr val="accent1"/>
              </a:buClr>
              <a:buSzPts val="1700"/>
              <a:buFont typeface="Inter"/>
              <a:buChar char="●"/>
            </a:pPr>
            <a:r>
              <a:rPr b="1" lang="en" sz="1700">
                <a:solidFill>
                  <a:srgbClr val="111827"/>
                </a:solidFill>
                <a:latin typeface="Inter"/>
                <a:ea typeface="Inter"/>
                <a:cs typeface="Inter"/>
                <a:sym typeface="Inter"/>
              </a:rPr>
              <a:t>API: Implementando Chandy-Lamport</a:t>
            </a:r>
            <a:endParaRPr sz="1700">
              <a:solidFill>
                <a:srgbClr val="111827"/>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Foi construído um motor genérico para o algoritmo – não conhece as tarefas, os sockets e nem os métodos de serialização.</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Composto de Três métodos públicos, chamados pela thread consumidora: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iniciar(snapshot_id) -&gt; O nó que chama esse método inicia um snapshot</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ao_receber_marcador(origem, id) -&gt; processa o marcador no canal de origem (Aplica as regras do algoritmo)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ao_receber_negocio(origem, corpo) -&gt; registra as mensagens do canal, se houver algum snapshot gravando aquele canal.</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Parametrizada por um tipo de ID de nó e de snapshot (No nosso caso, NodeId e SnapshotId).</a:t>
            </a:r>
            <a:endParaRPr>
              <a:solidFill>
                <a:schemeClr val="dk1"/>
              </a:solidFill>
              <a:latin typeface="Inter"/>
              <a:ea typeface="Inter"/>
              <a:cs typeface="Inter"/>
              <a:sym typeface="Inter"/>
            </a:endParaRPr>
          </a:p>
          <a:p>
            <a:pPr indent="-317500" lvl="1" marL="914400" rtl="0" algn="l">
              <a:spcBef>
                <a:spcPts val="0"/>
              </a:spcBef>
              <a:spcAft>
                <a:spcPts val="0"/>
              </a:spcAft>
              <a:buClr>
                <a:schemeClr val="accent1"/>
              </a:buClr>
              <a:buSzPts val="1400"/>
              <a:buFont typeface="Inter"/>
              <a:buChar char="○"/>
            </a:pPr>
            <a:r>
              <a:rPr lang="en">
                <a:solidFill>
                  <a:schemeClr val="dk1"/>
                </a:solidFill>
                <a:latin typeface="Inter"/>
                <a:ea typeface="Inter"/>
                <a:cs typeface="Inter"/>
                <a:sym typeface="Inter"/>
              </a:rPr>
              <a:t>Cada nó carrega uma instância via composição. No construtor injetada três métodos via callback que tornam o motor genérico:</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buffer capturar_local() -&gt; estado local como um blob opaco – O motor não interpreta</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enviar_marcador(destino, snapshot_id) -&gt; Emite o marcador a um nó vizinho (O motor não conhece canais/sockets)</a:t>
            </a:r>
            <a:endParaRPr>
              <a:solidFill>
                <a:schemeClr val="dk1"/>
              </a:solidFill>
              <a:latin typeface="Inter"/>
              <a:ea typeface="Inter"/>
              <a:cs typeface="Inter"/>
              <a:sym typeface="Inter"/>
            </a:endParaRPr>
          </a:p>
          <a:p>
            <a:pPr indent="-317500" lvl="2" marL="1371600" rtl="0" algn="l">
              <a:spcBef>
                <a:spcPts val="0"/>
              </a:spcBef>
              <a:spcAft>
                <a:spcPts val="0"/>
              </a:spcAft>
              <a:buClr>
                <a:schemeClr val="dk1"/>
              </a:buClr>
              <a:buSzPts val="1400"/>
              <a:buFont typeface="Inter"/>
              <a:buChar char="■"/>
            </a:pPr>
            <a:r>
              <a:rPr lang="en">
                <a:solidFill>
                  <a:schemeClr val="dk1"/>
                </a:solidFill>
                <a:latin typeface="Inter"/>
                <a:ea typeface="Inter"/>
                <a:cs typeface="Inter"/>
                <a:sym typeface="Inter"/>
              </a:rPr>
              <a:t>void ao_completar(peca_local) -&gt; O nó decide o que fazer com o snapshot.</a:t>
            </a:r>
            <a:endParaRPr>
              <a:solidFill>
                <a:schemeClr val="dk1"/>
              </a:solidFill>
              <a:latin typeface="Inter"/>
              <a:ea typeface="Inter"/>
              <a:cs typeface="Inter"/>
              <a:sym typeface="Inter"/>
            </a:endParaRPr>
          </a:p>
        </p:txBody>
      </p:sp>
      <p:sp>
        <p:nvSpPr>
          <p:cNvPr id="1158" name="Google Shape;1158;p105"/>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grpSp>
        <p:nvGrpSpPr>
          <p:cNvPr id="1159" name="Google Shape;1159;p105"/>
          <p:cNvGrpSpPr/>
          <p:nvPr/>
        </p:nvGrpSpPr>
        <p:grpSpPr>
          <a:xfrm>
            <a:off x="457200" y="4762500"/>
            <a:ext cx="8229600" cy="304800"/>
            <a:chOff x="0" y="0"/>
            <a:chExt cx="8229600" cy="304800"/>
          </a:xfrm>
        </p:grpSpPr>
        <p:cxnSp>
          <p:nvCxnSpPr>
            <p:cNvPr id="1160" name="Google Shape;1160;p105"/>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61" name="Google Shape;1161;p105"/>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62" name="Google Shape;1162;p105"/>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66" name="Shape 1166"/>
        <p:cNvGrpSpPr/>
        <p:nvPr/>
      </p:nvGrpSpPr>
      <p:grpSpPr>
        <a:xfrm>
          <a:off x="0" y="0"/>
          <a:ext cx="0" cy="0"/>
          <a:chOff x="0" y="0"/>
          <a:chExt cx="0" cy="0"/>
        </a:xfrm>
      </p:grpSpPr>
      <p:pic>
        <p:nvPicPr>
          <p:cNvPr id="1167" name="Google Shape;1167;p106"/>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68" name="Google Shape;1168;p106"/>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69" name="Google Shape;1169;p106"/>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70" name="Google Shape;1170;p106"/>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71" name="Google Shape;1171;p106"/>
          <p:cNvGrpSpPr/>
          <p:nvPr/>
        </p:nvGrpSpPr>
        <p:grpSpPr>
          <a:xfrm>
            <a:off x="457200" y="4762500"/>
            <a:ext cx="8229600" cy="304800"/>
            <a:chOff x="0" y="0"/>
            <a:chExt cx="8229600" cy="304800"/>
          </a:xfrm>
        </p:grpSpPr>
        <p:cxnSp>
          <p:nvCxnSpPr>
            <p:cNvPr id="1172" name="Google Shape;1172;p106"/>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73" name="Google Shape;1173;p106"/>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74" name="Google Shape;1174;p106"/>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78" name="Shape 1178"/>
        <p:cNvGrpSpPr/>
        <p:nvPr/>
      </p:nvGrpSpPr>
      <p:grpSpPr>
        <a:xfrm>
          <a:off x="0" y="0"/>
          <a:ext cx="0" cy="0"/>
          <a:chOff x="0" y="0"/>
          <a:chExt cx="0" cy="0"/>
        </a:xfrm>
      </p:grpSpPr>
      <p:pic>
        <p:nvPicPr>
          <p:cNvPr id="1179" name="Google Shape;1179;p107"/>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80" name="Google Shape;1180;p107"/>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81" name="Google Shape;1181;p107"/>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82" name="Google Shape;1182;p107"/>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Na inicialização, há um número fixo de tarefas a serem concluídas.</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83" name="Google Shape;1183;p107"/>
          <p:cNvGrpSpPr/>
          <p:nvPr/>
        </p:nvGrpSpPr>
        <p:grpSpPr>
          <a:xfrm>
            <a:off x="457200" y="4762500"/>
            <a:ext cx="8229600" cy="304800"/>
            <a:chOff x="0" y="0"/>
            <a:chExt cx="8229600" cy="304800"/>
          </a:xfrm>
        </p:grpSpPr>
        <p:cxnSp>
          <p:nvCxnSpPr>
            <p:cNvPr id="1184" name="Google Shape;1184;p107"/>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85" name="Google Shape;1185;p107"/>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86" name="Google Shape;1186;p107"/>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190" name="Shape 1190"/>
        <p:cNvGrpSpPr/>
        <p:nvPr/>
      </p:nvGrpSpPr>
      <p:grpSpPr>
        <a:xfrm>
          <a:off x="0" y="0"/>
          <a:ext cx="0" cy="0"/>
          <a:chOff x="0" y="0"/>
          <a:chExt cx="0" cy="0"/>
        </a:xfrm>
      </p:grpSpPr>
      <p:pic>
        <p:nvPicPr>
          <p:cNvPr id="1191" name="Google Shape;1191;p108"/>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192" name="Google Shape;1192;p108"/>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93" name="Google Shape;1193;p108"/>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194" name="Google Shape;1194;p108"/>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Na inicialização, há um número fixo de tarefas a serem concluídas.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195" name="Google Shape;1195;p108"/>
          <p:cNvGrpSpPr/>
          <p:nvPr/>
        </p:nvGrpSpPr>
        <p:grpSpPr>
          <a:xfrm>
            <a:off x="457200" y="4762500"/>
            <a:ext cx="8229600" cy="304800"/>
            <a:chOff x="0" y="0"/>
            <a:chExt cx="8229600" cy="304800"/>
          </a:xfrm>
        </p:grpSpPr>
        <p:cxnSp>
          <p:nvCxnSpPr>
            <p:cNvPr id="1196" name="Google Shape;1196;p108"/>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197" name="Google Shape;1197;p108"/>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198" name="Google Shape;1198;p108"/>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02" name="Shape 1202"/>
        <p:cNvGrpSpPr/>
        <p:nvPr/>
      </p:nvGrpSpPr>
      <p:grpSpPr>
        <a:xfrm>
          <a:off x="0" y="0"/>
          <a:ext cx="0" cy="0"/>
          <a:chOff x="0" y="0"/>
          <a:chExt cx="0" cy="0"/>
        </a:xfrm>
      </p:grpSpPr>
      <p:pic>
        <p:nvPicPr>
          <p:cNvPr id="1203" name="Google Shape;1203;p109"/>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04" name="Google Shape;1204;p109"/>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05" name="Google Shape;1205;p109"/>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06" name="Google Shape;1206;p109"/>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Na inicialização, há um número fixo de tarefas a serem concluídas.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0" lvl="0" marL="9144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207" name="Google Shape;1207;p109"/>
          <p:cNvGrpSpPr/>
          <p:nvPr/>
        </p:nvGrpSpPr>
        <p:grpSpPr>
          <a:xfrm>
            <a:off x="457200" y="4762500"/>
            <a:ext cx="8229600" cy="304800"/>
            <a:chOff x="0" y="0"/>
            <a:chExt cx="8229600" cy="304800"/>
          </a:xfrm>
        </p:grpSpPr>
        <p:cxnSp>
          <p:nvCxnSpPr>
            <p:cNvPr id="1208" name="Google Shape;1208;p109"/>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09" name="Google Shape;1209;p109"/>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10" name="Google Shape;1210;p109"/>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14" name="Shape 1214"/>
        <p:cNvGrpSpPr/>
        <p:nvPr/>
      </p:nvGrpSpPr>
      <p:grpSpPr>
        <a:xfrm>
          <a:off x="0" y="0"/>
          <a:ext cx="0" cy="0"/>
          <a:chOff x="0" y="0"/>
          <a:chExt cx="0" cy="0"/>
        </a:xfrm>
      </p:grpSpPr>
      <p:pic>
        <p:nvPicPr>
          <p:cNvPr id="1215" name="Google Shape;1215;p110"/>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16" name="Google Shape;1216;p110"/>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17" name="Google Shape;1217;p110"/>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18" name="Google Shape;1218;p110"/>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Na inicialização, há um número fixo de tarefas a serem concluídas.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Através do snapshot, é possível capturar com exatidão a quantidade de tarefas pendentes, concluídas e em rede</a:t>
            </a:r>
            <a:endParaRPr sz="1600">
              <a:solidFill>
                <a:schemeClr val="dk1"/>
              </a:solidFill>
              <a:latin typeface="Inter"/>
              <a:ea typeface="Inter"/>
              <a:cs typeface="Inter"/>
              <a:sym typeface="Inter"/>
            </a:endParaRPr>
          </a:p>
          <a:p>
            <a:pPr indent="0" lvl="0" marL="1371600" rtl="0" algn="l">
              <a:spcBef>
                <a:spcPts val="1200"/>
              </a:spcBef>
              <a:spcAft>
                <a:spcPts val="1200"/>
              </a:spcAft>
              <a:buNone/>
            </a:pPr>
            <a:r>
              <a:t/>
            </a:r>
            <a:endParaRPr sz="1600">
              <a:solidFill>
                <a:schemeClr val="dk1"/>
              </a:solidFill>
              <a:latin typeface="Inter"/>
              <a:ea typeface="Inter"/>
              <a:cs typeface="Inter"/>
              <a:sym typeface="Inter"/>
            </a:endParaRPr>
          </a:p>
        </p:txBody>
      </p:sp>
      <p:grpSp>
        <p:nvGrpSpPr>
          <p:cNvPr id="1219" name="Google Shape;1219;p110"/>
          <p:cNvGrpSpPr/>
          <p:nvPr/>
        </p:nvGrpSpPr>
        <p:grpSpPr>
          <a:xfrm>
            <a:off x="457200" y="4762500"/>
            <a:ext cx="8229600" cy="304800"/>
            <a:chOff x="0" y="0"/>
            <a:chExt cx="8229600" cy="304800"/>
          </a:xfrm>
        </p:grpSpPr>
        <p:cxnSp>
          <p:nvCxnSpPr>
            <p:cNvPr id="1220" name="Google Shape;1220;p110"/>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21" name="Google Shape;1221;p110"/>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22" name="Google Shape;1222;p110"/>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26" name="Shape 1226"/>
        <p:cNvGrpSpPr/>
        <p:nvPr/>
      </p:nvGrpSpPr>
      <p:grpSpPr>
        <a:xfrm>
          <a:off x="0" y="0"/>
          <a:ext cx="0" cy="0"/>
          <a:chOff x="0" y="0"/>
          <a:chExt cx="0" cy="0"/>
        </a:xfrm>
      </p:grpSpPr>
      <p:pic>
        <p:nvPicPr>
          <p:cNvPr id="1227" name="Google Shape;1227;p111"/>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28" name="Google Shape;1228;p111"/>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29" name="Google Shape;1229;p111"/>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30" name="Google Shape;1230;p111"/>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Objetivo</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Na inicialização, há um número fixo de tarefas a serem concluídas.</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Devido a constante comunicação entre os workers devido ao work-stealing, tentar visualizar a quantidade de tarefas pendentes + concluídas em todo o sistema quase nunca resulta no valor inicial.</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O botão de “pausa” do monitor serve justamente para isso, demonstrar a quantidade de tarefas de uma forma superficial, como se alguém estivesse tentando olhar para todos os processos ao mesmo tempo.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Através do snapshot, é possível capturar com exatidão a quantidade de tarefas pendentes, concluídas e em rede</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Se tratando de uma constante, é possível utilizar esse dado para verificar se houve condição de corrida em algum worker que resultou na perda ou duplicação de alguma tarefa.</a:t>
            </a:r>
            <a:endParaRPr sz="1600">
              <a:solidFill>
                <a:schemeClr val="dk1"/>
              </a:solidFill>
              <a:latin typeface="Inter"/>
              <a:ea typeface="Inter"/>
              <a:cs typeface="Inter"/>
              <a:sym typeface="Inter"/>
            </a:endParaRPr>
          </a:p>
        </p:txBody>
      </p:sp>
      <p:grpSp>
        <p:nvGrpSpPr>
          <p:cNvPr id="1231" name="Google Shape;1231;p111"/>
          <p:cNvGrpSpPr/>
          <p:nvPr/>
        </p:nvGrpSpPr>
        <p:grpSpPr>
          <a:xfrm>
            <a:off x="457200" y="4762500"/>
            <a:ext cx="8229600" cy="304800"/>
            <a:chOff x="0" y="0"/>
            <a:chExt cx="8229600" cy="304800"/>
          </a:xfrm>
        </p:grpSpPr>
        <p:cxnSp>
          <p:nvCxnSpPr>
            <p:cNvPr id="1232" name="Google Shape;1232;p111"/>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33" name="Google Shape;1233;p111"/>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34" name="Google Shape;1234;p111"/>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38" name="Shape 1238"/>
        <p:cNvGrpSpPr/>
        <p:nvPr/>
      </p:nvGrpSpPr>
      <p:grpSpPr>
        <a:xfrm>
          <a:off x="0" y="0"/>
          <a:ext cx="0" cy="0"/>
          <a:chOff x="0" y="0"/>
          <a:chExt cx="0" cy="0"/>
        </a:xfrm>
      </p:grpSpPr>
      <p:pic>
        <p:nvPicPr>
          <p:cNvPr id="1239" name="Google Shape;1239;p112"/>
          <p:cNvPicPr preferRelativeResize="0"/>
          <p:nvPr/>
        </p:nvPicPr>
        <p:blipFill rotWithShape="1">
          <a:blip r:embed="rId3">
            <a:alphaModFix/>
          </a:blip>
          <a:srcRect b="0" l="0" r="0" t="0"/>
          <a:stretch/>
        </p:blipFill>
        <p:spPr>
          <a:xfrm>
            <a:off x="-15778" y="0"/>
            <a:ext cx="9144000" cy="5143500"/>
          </a:xfrm>
          <a:prstGeom prst="rect">
            <a:avLst/>
          </a:prstGeom>
          <a:noFill/>
          <a:ln>
            <a:noFill/>
          </a:ln>
        </p:spPr>
      </p:pic>
      <p:sp>
        <p:nvSpPr>
          <p:cNvPr id="1240" name="Google Shape;1240;p112"/>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41" name="Google Shape;1241;p112"/>
          <p:cNvSpPr txBox="1"/>
          <p:nvPr/>
        </p:nvSpPr>
        <p:spPr>
          <a:xfrm>
            <a:off x="449300" y="205100"/>
            <a:ext cx="8229600" cy="36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Aplicação: Cluster de Computação Distribuído</a:t>
            </a:r>
            <a:endParaRPr b="1" sz="2240">
              <a:solidFill>
                <a:srgbClr val="111827"/>
              </a:solidFill>
              <a:latin typeface="Inter"/>
              <a:ea typeface="Inter"/>
              <a:cs typeface="Inter"/>
              <a:sym typeface="Inter"/>
            </a:endParaRPr>
          </a:p>
        </p:txBody>
      </p:sp>
      <p:sp>
        <p:nvSpPr>
          <p:cNvPr id="1242" name="Google Shape;1242;p112"/>
          <p:cNvSpPr txBox="1"/>
          <p:nvPr/>
        </p:nvSpPr>
        <p:spPr>
          <a:xfrm>
            <a:off x="418400" y="1259975"/>
            <a:ext cx="8385600" cy="34182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chemeClr val="accent1"/>
              </a:buClr>
              <a:buSzPts val="1900"/>
              <a:buFont typeface="Inter"/>
              <a:buChar char="●"/>
            </a:pPr>
            <a:r>
              <a:rPr b="1" lang="en" sz="1900">
                <a:solidFill>
                  <a:srgbClr val="111827"/>
                </a:solidFill>
                <a:latin typeface="Inter"/>
                <a:ea typeface="Inter"/>
                <a:cs typeface="Inter"/>
                <a:sym typeface="Inter"/>
              </a:rPr>
              <a:t>Limitações conhecidas</a:t>
            </a:r>
            <a:endParaRPr sz="1900">
              <a:solidFill>
                <a:srgbClr val="111827"/>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Entidade controlando o snapshot vs snapshot </a:t>
            </a:r>
            <a:r>
              <a:rPr lang="en" sz="1600">
                <a:solidFill>
                  <a:schemeClr val="dk1"/>
                </a:solidFill>
                <a:latin typeface="Inter"/>
                <a:ea typeface="Inter"/>
                <a:cs typeface="Inter"/>
                <a:sym typeface="Inter"/>
              </a:rPr>
              <a:t>espontâneo</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Uma thread consumidora vs múltiplas threads consumidoras</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Alternativa a considerar: Manter uma thread consumidora e duplicar os processos, mantém o worker lock free no snapshot.</a:t>
            </a:r>
            <a:endParaRPr sz="1600">
              <a:solidFill>
                <a:schemeClr val="dk1"/>
              </a:solidFill>
              <a:latin typeface="Inter"/>
              <a:ea typeface="Inter"/>
              <a:cs typeface="Inter"/>
              <a:sym typeface="Inter"/>
            </a:endParaRPr>
          </a:p>
          <a:p>
            <a:pPr indent="-330200" lvl="1" marL="914400" rtl="0" algn="l">
              <a:spcBef>
                <a:spcPts val="0"/>
              </a:spcBef>
              <a:spcAft>
                <a:spcPts val="0"/>
              </a:spcAft>
              <a:buClr>
                <a:schemeClr val="accent1"/>
              </a:buClr>
              <a:buSzPts val="1600"/>
              <a:buFont typeface="Inter"/>
              <a:buChar char="○"/>
            </a:pPr>
            <a:r>
              <a:rPr lang="en" sz="1600">
                <a:solidFill>
                  <a:schemeClr val="dk1"/>
                </a:solidFill>
                <a:latin typeface="Inter"/>
                <a:ea typeface="Inter"/>
                <a:cs typeface="Inter"/>
                <a:sym typeface="Inter"/>
              </a:rPr>
              <a:t>Topologia estática não permite a adição de workers on the fly</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A alternativa invade outro building blocks: Group Membership</a:t>
            </a:r>
            <a:endParaRPr sz="1600">
              <a:solidFill>
                <a:schemeClr val="dk1"/>
              </a:solidFill>
              <a:latin typeface="Inter"/>
              <a:ea typeface="Inter"/>
              <a:cs typeface="Inter"/>
              <a:sym typeface="Inter"/>
            </a:endParaRPr>
          </a:p>
          <a:p>
            <a:pPr indent="-330200" lvl="2" marL="1371600" rtl="0" algn="l">
              <a:spcBef>
                <a:spcPts val="0"/>
              </a:spcBef>
              <a:spcAft>
                <a:spcPts val="0"/>
              </a:spcAft>
              <a:buClr>
                <a:schemeClr val="dk1"/>
              </a:buClr>
              <a:buSzPts val="1600"/>
              <a:buFont typeface="Inter"/>
              <a:buChar char="■"/>
            </a:pPr>
            <a:r>
              <a:rPr lang="en" sz="1600">
                <a:solidFill>
                  <a:schemeClr val="dk1"/>
                </a:solidFill>
                <a:latin typeface="Inter"/>
                <a:ea typeface="Inter"/>
                <a:cs typeface="Inter"/>
                <a:sym typeface="Inter"/>
              </a:rPr>
              <a:t>Mesmo sob o group membership, é necessário que o snapshot ocorra sob um grupo bem definido de processos.</a:t>
            </a:r>
            <a:endParaRPr sz="1600">
              <a:solidFill>
                <a:schemeClr val="dk1"/>
              </a:solidFill>
              <a:latin typeface="Inter"/>
              <a:ea typeface="Inter"/>
              <a:cs typeface="Inter"/>
              <a:sym typeface="Inter"/>
            </a:endParaRPr>
          </a:p>
        </p:txBody>
      </p:sp>
      <p:grpSp>
        <p:nvGrpSpPr>
          <p:cNvPr id="1243" name="Google Shape;1243;p112"/>
          <p:cNvGrpSpPr/>
          <p:nvPr/>
        </p:nvGrpSpPr>
        <p:grpSpPr>
          <a:xfrm>
            <a:off x="457200" y="4762500"/>
            <a:ext cx="8229600" cy="304800"/>
            <a:chOff x="0" y="0"/>
            <a:chExt cx="8229600" cy="304800"/>
          </a:xfrm>
        </p:grpSpPr>
        <p:cxnSp>
          <p:nvCxnSpPr>
            <p:cNvPr id="1244" name="Google Shape;1244;p112"/>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45" name="Google Shape;1245;p112"/>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46" name="Google Shape;1246;p112"/>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250" name="Shape 1250"/>
        <p:cNvGrpSpPr/>
        <p:nvPr/>
      </p:nvGrpSpPr>
      <p:grpSpPr>
        <a:xfrm>
          <a:off x="0" y="0"/>
          <a:ext cx="0" cy="0"/>
          <a:chOff x="0" y="0"/>
          <a:chExt cx="0" cy="0"/>
        </a:xfrm>
      </p:grpSpPr>
      <p:pic>
        <p:nvPicPr>
          <p:cNvPr id="1251" name="Google Shape;1251;p1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52" name="Google Shape;1252;p113"/>
          <p:cNvSpPr/>
          <p:nvPr/>
        </p:nvSpPr>
        <p:spPr>
          <a:xfrm>
            <a:off x="0" y="0"/>
            <a:ext cx="9144000" cy="7077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53" name="Google Shape;1253;p113"/>
          <p:cNvSpPr txBox="1"/>
          <p:nvPr/>
        </p:nvSpPr>
        <p:spPr>
          <a:xfrm>
            <a:off x="457200" y="201450"/>
            <a:ext cx="82296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40">
                <a:solidFill>
                  <a:srgbClr val="111827"/>
                </a:solidFill>
                <a:latin typeface="Inter"/>
                <a:ea typeface="Inter"/>
                <a:cs typeface="Inter"/>
                <a:sym typeface="Inter"/>
              </a:rPr>
              <a:t>Referências</a:t>
            </a:r>
            <a:endParaRPr b="1" sz="2240">
              <a:solidFill>
                <a:srgbClr val="111827"/>
              </a:solidFill>
              <a:latin typeface="Inter"/>
              <a:ea typeface="Inter"/>
              <a:cs typeface="Inter"/>
              <a:sym typeface="Inter"/>
            </a:endParaRPr>
          </a:p>
        </p:txBody>
      </p:sp>
      <p:grpSp>
        <p:nvGrpSpPr>
          <p:cNvPr id="1254" name="Google Shape;1254;p113"/>
          <p:cNvGrpSpPr/>
          <p:nvPr/>
        </p:nvGrpSpPr>
        <p:grpSpPr>
          <a:xfrm>
            <a:off x="457200" y="4762500"/>
            <a:ext cx="8229600" cy="304800"/>
            <a:chOff x="0" y="0"/>
            <a:chExt cx="8229600" cy="304800"/>
          </a:xfrm>
        </p:grpSpPr>
        <p:cxnSp>
          <p:nvCxnSpPr>
            <p:cNvPr id="1255" name="Google Shape;1255;p113"/>
            <p:cNvCxnSpPr/>
            <p:nvPr/>
          </p:nvCxnSpPr>
          <p:spPr>
            <a:xfrm>
              <a:off x="0" y="0"/>
              <a:ext cx="8229600" cy="0"/>
            </a:xfrm>
            <a:prstGeom prst="straightConnector1">
              <a:avLst/>
            </a:prstGeom>
            <a:solidFill>
              <a:srgbClr val="FFFFFF"/>
            </a:solidFill>
            <a:ln cap="flat" cmpd="sng" w="9525">
              <a:solidFill>
                <a:srgbClr val="E5E7EB"/>
              </a:solidFill>
              <a:prstDash val="solid"/>
              <a:round/>
              <a:headEnd len="sm" w="sm" type="none"/>
              <a:tailEnd len="sm" w="sm" type="none"/>
            </a:ln>
          </p:spPr>
        </p:cxnSp>
        <p:sp>
          <p:nvSpPr>
            <p:cNvPr id="1256" name="Google Shape;1256;p113"/>
            <p:cNvSpPr txBox="1"/>
            <p:nvPr/>
          </p:nvSpPr>
          <p:spPr>
            <a:xfrm>
              <a:off x="0" y="11430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9CA3AF"/>
                  </a:solidFill>
                  <a:latin typeface="Inter SemiBold"/>
                  <a:ea typeface="Inter SemiBold"/>
                  <a:cs typeface="Inter SemiBold"/>
                  <a:sym typeface="Inter SemiBold"/>
                </a:rPr>
                <a:t>KAUAN FANK</a:t>
              </a:r>
              <a:endParaRPr b="0" sz="1000">
                <a:solidFill>
                  <a:srgbClr val="9CA3AF"/>
                </a:solidFill>
                <a:latin typeface="Inter SemiBold"/>
                <a:ea typeface="Inter SemiBold"/>
                <a:cs typeface="Inter SemiBold"/>
                <a:sym typeface="Inter SemiBold"/>
              </a:endParaRPr>
            </a:p>
          </p:txBody>
        </p:sp>
        <p:sp>
          <p:nvSpPr>
            <p:cNvPr id="1257" name="Google Shape;1257;p113"/>
            <p:cNvSpPr txBox="1"/>
            <p:nvPr/>
          </p:nvSpPr>
          <p:spPr>
            <a:xfrm>
              <a:off x="4419600" y="114300"/>
              <a:ext cx="3810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000">
                  <a:solidFill>
                    <a:srgbClr val="9CA3AF"/>
                  </a:solidFill>
                  <a:latin typeface="Inter SemiBold"/>
                  <a:ea typeface="Inter SemiBold"/>
                  <a:cs typeface="Inter SemiBold"/>
                  <a:sym typeface="Inter SemiBold"/>
                </a:rPr>
                <a:t>SNAPSHOT DISTRIBUÍDO</a:t>
              </a:r>
              <a:endParaRPr b="0" sz="1000">
                <a:solidFill>
                  <a:srgbClr val="9CA3AF"/>
                </a:solidFill>
                <a:latin typeface="Inter SemiBold"/>
                <a:ea typeface="Inter SemiBold"/>
                <a:cs typeface="Inter SemiBold"/>
                <a:sym typeface="Inter SemiBold"/>
              </a:endParaRPr>
            </a:p>
          </p:txBody>
        </p:sp>
      </p:grpSp>
      <p:sp>
        <p:nvSpPr>
          <p:cNvPr id="1258" name="Google Shape;1258;p113"/>
          <p:cNvSpPr txBox="1"/>
          <p:nvPr/>
        </p:nvSpPr>
        <p:spPr>
          <a:xfrm>
            <a:off x="191425" y="986025"/>
            <a:ext cx="86205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1"/>
              </a:buClr>
              <a:buSzPts val="1400"/>
              <a:buChar char="●"/>
            </a:pPr>
            <a:r>
              <a:rPr lang="en">
                <a:solidFill>
                  <a:schemeClr val="dk1"/>
                </a:solidFill>
              </a:rPr>
              <a:t> K. Mani Chandy and Leslie Lamport. 1985. Distributed snapshots: determining global states of distributed systems. ACM Trans. Comput. Syst. 3, 1 (Feb. 1985), 63–75. </a:t>
            </a:r>
            <a:r>
              <a:rPr lang="en" u="sng">
                <a:solidFill>
                  <a:schemeClr val="hlink"/>
                </a:solidFill>
                <a:hlinkClick r:id="rId4"/>
              </a:rPr>
              <a:t>https://doi.org/10.1145/214451.214456</a:t>
            </a:r>
            <a:r>
              <a:rPr lang="en">
                <a:solidFill>
                  <a:schemeClr val="dk2"/>
                </a:solidFill>
              </a:rPr>
              <a:t> </a:t>
            </a:r>
            <a:endParaRPr>
              <a:solidFill>
                <a:schemeClr val="dk2"/>
              </a:solidFill>
            </a:endParaRPr>
          </a:p>
          <a:p>
            <a:pPr indent="-317500" lvl="0" marL="457200" rtl="0" algn="l">
              <a:spcBef>
                <a:spcPts val="0"/>
              </a:spcBef>
              <a:spcAft>
                <a:spcPts val="0"/>
              </a:spcAft>
              <a:buClr>
                <a:schemeClr val="accent1"/>
              </a:buClr>
              <a:buSzPts val="1400"/>
              <a:buChar char="●"/>
            </a:pPr>
            <a:r>
              <a:rPr lang="en" u="sng">
                <a:solidFill>
                  <a:schemeClr val="hlink"/>
                </a:solidFill>
                <a:hlinkClick r:id="rId5"/>
              </a:rPr>
              <a:t>https://github.com/ocornut/imgui</a:t>
            </a:r>
            <a:r>
              <a:rPr lang="en">
                <a:solidFill>
                  <a:schemeClr val="accent1"/>
                </a:solidFill>
              </a:rPr>
              <a:t> + </a:t>
            </a:r>
            <a:r>
              <a:rPr lang="en" u="sng">
                <a:solidFill>
                  <a:schemeClr val="hlink"/>
                </a:solidFill>
                <a:hlinkClick r:id="rId6"/>
              </a:rPr>
              <a:t>glfw.org</a:t>
            </a:r>
            <a:r>
              <a:rPr lang="en">
                <a:solidFill>
                  <a:schemeClr val="accent1"/>
                </a:solidFill>
              </a:rPr>
              <a:t> </a:t>
            </a:r>
            <a:r>
              <a:rPr lang="en">
                <a:solidFill>
                  <a:schemeClr val="dk1"/>
                </a:solidFill>
              </a:rPr>
              <a:t>-&gt; Bibliotecas da interface gráfica</a:t>
            </a:r>
            <a:endParaRPr>
              <a:solidFill>
                <a:schemeClr val="dk1"/>
              </a:solidFill>
            </a:endParaRPr>
          </a:p>
          <a:p>
            <a:pPr indent="-317500" lvl="0" marL="457200" rtl="0" algn="l">
              <a:spcBef>
                <a:spcPts val="0"/>
              </a:spcBef>
              <a:spcAft>
                <a:spcPts val="0"/>
              </a:spcAft>
              <a:buClr>
                <a:schemeClr val="accent1"/>
              </a:buClr>
              <a:buSzPts val="1400"/>
              <a:buChar char="●"/>
            </a:pPr>
            <a:r>
              <a:rPr lang="en">
                <a:solidFill>
                  <a:schemeClr val="dk1"/>
                </a:solidFill>
              </a:rPr>
              <a:t>Berkeley Sockets / Linux man-pages -&gt; Documentação da biblioteca de sockets utilizada para as comunicações TCP e UDP.</a:t>
            </a:r>
            <a:endParaRPr b="1">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