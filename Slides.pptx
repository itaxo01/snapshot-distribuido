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Lst>
  <p:sldSz cy="5143500" cx="9144000"/>
  <p:notesSz cx="6858000" cy="9144000"/>
  <p:embeddedFontLst>
    <p:embeddedFont>
      <p:font typeface="Roboto Mono Medium"/>
      <p:regular r:id="rId126"/>
      <p:bold r:id="rId127"/>
      <p:italic r:id="rId128"/>
      <p:boldItalic r:id="rId129"/>
    </p:embeddedFont>
    <p:embeddedFont>
      <p:font typeface="Inter SemiBold"/>
      <p:regular r:id="rId130"/>
      <p:bold r:id="rId131"/>
      <p:italic r:id="rId132"/>
      <p:boldItalic r:id="rId133"/>
    </p:embeddedFont>
    <p:embeddedFont>
      <p:font typeface="Inter"/>
      <p:bold r:id="rId134"/>
      <p:boldItalic r:id="rId135"/>
    </p:embeddedFont>
    <p:embeddedFont>
      <p:font typeface="Inter Medium"/>
      <p:regular r:id="rId136"/>
      <p:bold r:id="rId137"/>
      <p:italic r:id="rId138"/>
      <p:boldItalic r:id="rId1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146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466"/>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font" Target="fonts/RobotoMonoMedium-boldItalic.fntdata"/><Relationship Id="rId128" Type="http://schemas.openxmlformats.org/officeDocument/2006/relationships/font" Target="fonts/RobotoMonoMedium-italic.fntdata"/><Relationship Id="rId127" Type="http://schemas.openxmlformats.org/officeDocument/2006/relationships/font" Target="fonts/RobotoMonoMedium-bold.fntdata"/><Relationship Id="rId126" Type="http://schemas.openxmlformats.org/officeDocument/2006/relationships/font" Target="fonts/RobotoMonoMedium-regular.fntdata"/><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font" Target="fonts/InterMedium-boldItalic.fntdata"/><Relationship Id="rId138" Type="http://schemas.openxmlformats.org/officeDocument/2006/relationships/font" Target="fonts/InterMedium-italic.fntdata"/><Relationship Id="rId137" Type="http://schemas.openxmlformats.org/officeDocument/2006/relationships/font" Target="fonts/InterMedium-bold.fntdata"/><Relationship Id="rId132" Type="http://schemas.openxmlformats.org/officeDocument/2006/relationships/font" Target="fonts/InterSemiBold-italic.fntdata"/><Relationship Id="rId131" Type="http://schemas.openxmlformats.org/officeDocument/2006/relationships/font" Target="fonts/InterSemiBold-bold.fntdata"/><Relationship Id="rId130" Type="http://schemas.openxmlformats.org/officeDocument/2006/relationships/font" Target="fonts/InterSemiBold-regular.fntdata"/><Relationship Id="rId136" Type="http://schemas.openxmlformats.org/officeDocument/2006/relationships/font" Target="fonts/InterMedium-regular.fntdata"/><Relationship Id="rId135" Type="http://schemas.openxmlformats.org/officeDocument/2006/relationships/font" Target="fonts/Inter-boldItalic.fntdata"/><Relationship Id="rId134" Type="http://schemas.openxmlformats.org/officeDocument/2006/relationships/font" Target="fonts/Inter-bold.fntdata"/><Relationship Id="rId133" Type="http://schemas.openxmlformats.org/officeDocument/2006/relationships/font" Target="fonts/InterSemiBold-boldItalic.fntdata"/><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f187236dc1_16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3f187236dc1_1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f187236dc1_1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f187236dc1_1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ed8b6ab45b_14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ed8b6ab45b_14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d8b6ab45b_2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ed8b6ab45b_2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ed8b6ab45b_14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ed8b6ab45b_14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ed8b6ab45b_14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ed8b6ab45b_14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ed8b6ab45b_1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ed8b6ab45b_1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ed8b6ab45b_14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ed8b6ab45b_14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ed8b6ab45b_14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ed8b6ab45b_14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ed8b6ab45b_14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ed8b6ab45b_14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d8b6ab45b_14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ed8b6ab45b_14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ed8b6ab45b_14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ed8b6ab45b_14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ed8b6ab45b_14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ed8b6ab45b_14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ed8b6ab45b_14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ed8b6ab45b_14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ed8b6ab45b_14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ed8b6ab45b_14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efc46d0a28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efc46d0a28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ed8b6ab45b_14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ed8b6ab45b_14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ed8b6ab45b_14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ed8b6ab45b_14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ed8b6ab45b_14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ed8b6ab45b_14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ed8b6ab45b_14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ed8b6ab45b_14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ed8b6ab45b_14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ed8b6ab45b_14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ed8b6ab45b_14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ed8b6ab45b_14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ed8b6ab45b_14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ed8b6ab45b_14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ed8b6ab45b_14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ed8b6ab45b_14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ed8b6ab45b_14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ed8b6ab45b_14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ed8b6ab45b_14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ed8b6ab45b_14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ed8b6ab45b_15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ed8b6ab45b_15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ed8b6ab45b_15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ed8b6ab45b_15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ed8b6ab45b_15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3ed8b6ab45b_15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ed8b6ab45b_15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ed8b6ab45b_15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ed8b6ab45b_15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3ed8b6ab45b_15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ed8b6ab45b_15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ed8b6ab45b_15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ed8b6ab45b_15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3ed8b6ab45b_15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ed8b6ab45b_15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ed8b6ab45b_15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ed8b6ab45b_15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3ed8b6ab45b_15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ed8b6ab45b_15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3ed8b6ab45b_15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ed8b6ab45b_15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ed8b6ab45b_15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ed8b6ab45b_15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ed8b6ab45b_15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ed8b6ab45b_15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3ed8b6ab45b_15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ed8b6ab45b_15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ed8b6ab45b_15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ed8b6ab45b_15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3ed8b6ab45b_15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ed8b6ab45b_15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3ed8b6ab45b_15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3ed8b6ab45b_15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3ed8b6ab45b_15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3ed8b6ab45b_15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3ed8b6ab45b_15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ed8b6ab45b_15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3ed8b6ab45b_15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3ed8b6ab45b_15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3ed8b6ab45b_15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ed8b6ab45b_16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3ed8b6ab45b_16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ed8b6ab45b_16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3ed8b6ab45b_16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3ed8b6ab45b_16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3ed8b6ab45b_16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3ed8b6ab45b_16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3ed8b6ab45b_16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edbab2f99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3edbab2f99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3edbab2f990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3" name="Google Shape;673;g3edbab2f99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3edbab2f990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5" name="Google Shape;685;g3edbab2f990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3edbab2f990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g3edbab2f990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3edbab2f990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9" name="Google Shape;709;g3edbab2f990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edbab2f990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1" name="Google Shape;721;g3edbab2f990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3edbab2f990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3" name="Google Shape;733;g3edbab2f990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g3edbab2f990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5" name="Google Shape;745;g3edbab2f990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g3edbab2f990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7" name="Google Shape;757;g3edbab2f990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3edd3fffd0a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9" name="Google Shape;769;g3edd3fffd0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3edd3fffd0a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1" name="Google Shape;781;g3edd3fffd0a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3edd3fffd0a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3" name="Google Shape;793;g3edd3fffd0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3edd3fffd0a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5" name="Google Shape;805;g3edd3fffd0a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g3edd3fffd0a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7" name="Google Shape;817;g3edd3fffd0a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3edd3fffd0a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9" name="Google Shape;829;g3edd3fffd0a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edd3fffd0a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1" name="Google Shape;841;g3edd3fffd0a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g3edd3fffd0a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3" name="Google Shape;853;g3edd3fffd0a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3edd3fffd0a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5" name="Google Shape;865;g3edd3fffd0a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g3edd3fffd0a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7" name="Google Shape;877;g3edd3fffd0a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g3edd3fffd0a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9" name="Google Shape;889;g3edd3fffd0a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g3edd3fffd0a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1" name="Google Shape;901;g3edd3fffd0a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3edd3fffd0a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3" name="Google Shape;913;g3edd3fffd0a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edd3fffd0a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5" name="Google Shape;925;g3edd3fffd0a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3edd3fffd0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7" name="Google Shape;937;g3edd3fffd0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3edd3fffd0a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9" name="Google Shape;949;g3edd3fffd0a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3edd3fffd0a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1" name="Google Shape;961;g3edd3fffd0a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g3edd3fffd0a_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3" name="Google Shape;973;g3edd3fffd0a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3edd3fffd0a_1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5" name="Google Shape;985;g3edd3fffd0a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g3edd3fffd0a_1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7" name="Google Shape;997;g3edd3fffd0a_1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g3edd3fffd0a_1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9" name="Google Shape;1009;g3edd3fffd0a_1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3edd3fffd0a_1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1" name="Google Shape;1021;g3edd3fffd0a_1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g3edd3fffd0a_1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3" name="Google Shape;1033;g3edd3fffd0a_1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f1a1b21980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5" name="Google Shape;1045;g3f1a1b21980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g3f1a1b21980_4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7" name="Google Shape;1057;g3f1a1b21980_4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g3f1a1b21980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9" name="Google Shape;1069;g3f1a1b21980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3f1a1b21980_4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1" name="Google Shape;1081;g3f1a1b21980_4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g3f1a1b21980_4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3" name="Google Shape;1093;g3f1a1b21980_4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3f1a1b21980_4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5" name="Google Shape;1105;g3f1a1b21980_4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g3f1a1b21980_4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7" name="Google Shape;1117;g3f1a1b21980_4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3f1a1b21980_4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9" name="Google Shape;1129;g3f1a1b21980_4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3f1a1b21980_4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1" name="Google Shape;1141;g3f1a1b21980_4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g3f1a1b21980_4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3" name="Google Shape;1153;g3f1a1b21980_4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3" name="Shape 1163"/>
        <p:cNvGrpSpPr/>
        <p:nvPr/>
      </p:nvGrpSpPr>
      <p:grpSpPr>
        <a:xfrm>
          <a:off x="0" y="0"/>
          <a:ext cx="0" cy="0"/>
          <a:chOff x="0" y="0"/>
          <a:chExt cx="0" cy="0"/>
        </a:xfrm>
      </p:grpSpPr>
      <p:sp>
        <p:nvSpPr>
          <p:cNvPr id="1164" name="Google Shape;1164;g3edd3fffd0a_1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5" name="Google Shape;1165;g3edd3fffd0a_1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5" name="Shape 1175"/>
        <p:cNvGrpSpPr/>
        <p:nvPr/>
      </p:nvGrpSpPr>
      <p:grpSpPr>
        <a:xfrm>
          <a:off x="0" y="0"/>
          <a:ext cx="0" cy="0"/>
          <a:chOff x="0" y="0"/>
          <a:chExt cx="0" cy="0"/>
        </a:xfrm>
      </p:grpSpPr>
      <p:sp>
        <p:nvSpPr>
          <p:cNvPr id="1176" name="Google Shape;1176;g3edd3fffd0a_1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7" name="Google Shape;1177;g3edd3fffd0a_1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g3edd3fffd0a_1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9" name="Google Shape;1189;g3edd3fffd0a_1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3edd3fffd0a_1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1" name="Google Shape;1201;g3edd3fffd0a_1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g3edd3fffd0a_1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3" name="Google Shape;1213;g3edd3fffd0a_1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g3edd3fffd0a_1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5" name="Google Shape;1225;g3edd3fffd0a_1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5" name="Shape 1235"/>
        <p:cNvGrpSpPr/>
        <p:nvPr/>
      </p:nvGrpSpPr>
      <p:grpSpPr>
        <a:xfrm>
          <a:off x="0" y="0"/>
          <a:ext cx="0" cy="0"/>
          <a:chOff x="0" y="0"/>
          <a:chExt cx="0" cy="0"/>
        </a:xfrm>
      </p:grpSpPr>
      <p:sp>
        <p:nvSpPr>
          <p:cNvPr id="1236" name="Google Shape;1236;g3f1a1b21980_5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7" name="Google Shape;1237;g3f1a1b21980_5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7" name="Shape 1247"/>
        <p:cNvGrpSpPr/>
        <p:nvPr/>
      </p:nvGrpSpPr>
      <p:grpSpPr>
        <a:xfrm>
          <a:off x="0" y="0"/>
          <a:ext cx="0" cy="0"/>
          <a:chOff x="0" y="0"/>
          <a:chExt cx="0" cy="0"/>
        </a:xfrm>
      </p:grpSpPr>
      <p:sp>
        <p:nvSpPr>
          <p:cNvPr id="1248" name="Google Shape;1248;g3efc46d0a28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9" name="Google Shape;1249;g3efc46d0a28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g3efc46d0a28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1" name="Google Shape;1261;g3efc46d0a28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1" name="Shape 1271"/>
        <p:cNvGrpSpPr/>
        <p:nvPr/>
      </p:nvGrpSpPr>
      <p:grpSpPr>
        <a:xfrm>
          <a:off x="0" y="0"/>
          <a:ext cx="0" cy="0"/>
          <a:chOff x="0" y="0"/>
          <a:chExt cx="0" cy="0"/>
        </a:xfrm>
      </p:grpSpPr>
      <p:sp>
        <p:nvSpPr>
          <p:cNvPr id="1272" name="Google Shape;1272;g3efc46d0a28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3" name="Google Shape;1273;g3efc46d0a28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g3efc46d0a28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5" name="Google Shape;1285;g3efc46d0a28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5" name="Shape 1295"/>
        <p:cNvGrpSpPr/>
        <p:nvPr/>
      </p:nvGrpSpPr>
      <p:grpSpPr>
        <a:xfrm>
          <a:off x="0" y="0"/>
          <a:ext cx="0" cy="0"/>
          <a:chOff x="0" y="0"/>
          <a:chExt cx="0" cy="0"/>
        </a:xfrm>
      </p:grpSpPr>
      <p:sp>
        <p:nvSpPr>
          <p:cNvPr id="1296" name="Google Shape;1296;g3efc46d0a28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7" name="Google Shape;1297;g3efc46d0a28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7" name="Shape 1307"/>
        <p:cNvGrpSpPr/>
        <p:nvPr/>
      </p:nvGrpSpPr>
      <p:grpSpPr>
        <a:xfrm>
          <a:off x="0" y="0"/>
          <a:ext cx="0" cy="0"/>
          <a:chOff x="0" y="0"/>
          <a:chExt cx="0" cy="0"/>
        </a:xfrm>
      </p:grpSpPr>
      <p:sp>
        <p:nvSpPr>
          <p:cNvPr id="1308" name="Google Shape;1308;g3efc46d0a28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9" name="Google Shape;1309;g3efc46d0a28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9" name="Shape 1319"/>
        <p:cNvGrpSpPr/>
        <p:nvPr/>
      </p:nvGrpSpPr>
      <p:grpSpPr>
        <a:xfrm>
          <a:off x="0" y="0"/>
          <a:ext cx="0" cy="0"/>
          <a:chOff x="0" y="0"/>
          <a:chExt cx="0" cy="0"/>
        </a:xfrm>
      </p:grpSpPr>
      <p:sp>
        <p:nvSpPr>
          <p:cNvPr id="1320" name="Google Shape;1320;g3efc46d0a28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1" name="Google Shape;1321;g3efc46d0a28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1" name="Shape 1331"/>
        <p:cNvGrpSpPr/>
        <p:nvPr/>
      </p:nvGrpSpPr>
      <p:grpSpPr>
        <a:xfrm>
          <a:off x="0" y="0"/>
          <a:ext cx="0" cy="0"/>
          <a:chOff x="0" y="0"/>
          <a:chExt cx="0" cy="0"/>
        </a:xfrm>
      </p:grpSpPr>
      <p:sp>
        <p:nvSpPr>
          <p:cNvPr id="1332" name="Google Shape;1332;g3efc46d0a28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3" name="Google Shape;1333;g3efc46d0a28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3" name="Shape 1343"/>
        <p:cNvGrpSpPr/>
        <p:nvPr/>
      </p:nvGrpSpPr>
      <p:grpSpPr>
        <a:xfrm>
          <a:off x="0" y="0"/>
          <a:ext cx="0" cy="0"/>
          <a:chOff x="0" y="0"/>
          <a:chExt cx="0" cy="0"/>
        </a:xfrm>
      </p:grpSpPr>
      <p:sp>
        <p:nvSpPr>
          <p:cNvPr id="1344" name="Google Shape;1344;g3efc46d0a28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5" name="Google Shape;1345;g3efc46d0a28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5" name="Shape 1355"/>
        <p:cNvGrpSpPr/>
        <p:nvPr/>
      </p:nvGrpSpPr>
      <p:grpSpPr>
        <a:xfrm>
          <a:off x="0" y="0"/>
          <a:ext cx="0" cy="0"/>
          <a:chOff x="0" y="0"/>
          <a:chExt cx="0" cy="0"/>
        </a:xfrm>
      </p:grpSpPr>
      <p:sp>
        <p:nvSpPr>
          <p:cNvPr id="1356" name="Google Shape;1356;g3efc46d0a28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7" name="Google Shape;1357;g3efc46d0a28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7" name="Shape 1367"/>
        <p:cNvGrpSpPr/>
        <p:nvPr/>
      </p:nvGrpSpPr>
      <p:grpSpPr>
        <a:xfrm>
          <a:off x="0" y="0"/>
          <a:ext cx="0" cy="0"/>
          <a:chOff x="0" y="0"/>
          <a:chExt cx="0" cy="0"/>
        </a:xfrm>
      </p:grpSpPr>
      <p:sp>
        <p:nvSpPr>
          <p:cNvPr id="1368" name="Google Shape;1368;g3f041529ac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9" name="Google Shape;1369;g3f041529ac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9" name="Shape 1379"/>
        <p:cNvGrpSpPr/>
        <p:nvPr/>
      </p:nvGrpSpPr>
      <p:grpSpPr>
        <a:xfrm>
          <a:off x="0" y="0"/>
          <a:ext cx="0" cy="0"/>
          <a:chOff x="0" y="0"/>
          <a:chExt cx="0" cy="0"/>
        </a:xfrm>
      </p:grpSpPr>
      <p:sp>
        <p:nvSpPr>
          <p:cNvPr id="1380" name="Google Shape;1380;g3efc46d0a28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1" name="Google Shape;1381;g3efc46d0a28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1" name="Shape 1391"/>
        <p:cNvGrpSpPr/>
        <p:nvPr/>
      </p:nvGrpSpPr>
      <p:grpSpPr>
        <a:xfrm>
          <a:off x="0" y="0"/>
          <a:ext cx="0" cy="0"/>
          <a:chOff x="0" y="0"/>
          <a:chExt cx="0" cy="0"/>
        </a:xfrm>
      </p:grpSpPr>
      <p:sp>
        <p:nvSpPr>
          <p:cNvPr id="1392" name="Google Shape;1392;g3efc46d0a28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3" name="Google Shape;1393;g3efc46d0a28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3" name="Shape 1403"/>
        <p:cNvGrpSpPr/>
        <p:nvPr/>
      </p:nvGrpSpPr>
      <p:grpSpPr>
        <a:xfrm>
          <a:off x="0" y="0"/>
          <a:ext cx="0" cy="0"/>
          <a:chOff x="0" y="0"/>
          <a:chExt cx="0" cy="0"/>
        </a:xfrm>
      </p:grpSpPr>
      <p:sp>
        <p:nvSpPr>
          <p:cNvPr id="1404" name="Google Shape;1404;g3efc46d0a28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5" name="Google Shape;1405;g3efc46d0a28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5" name="Shape 1415"/>
        <p:cNvGrpSpPr/>
        <p:nvPr/>
      </p:nvGrpSpPr>
      <p:grpSpPr>
        <a:xfrm>
          <a:off x="0" y="0"/>
          <a:ext cx="0" cy="0"/>
          <a:chOff x="0" y="0"/>
          <a:chExt cx="0" cy="0"/>
        </a:xfrm>
      </p:grpSpPr>
      <p:sp>
        <p:nvSpPr>
          <p:cNvPr id="1416" name="Google Shape;1416;g3efc46d0a28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7" name="Google Shape;1417;g3efc46d0a28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7" name="Shape 1427"/>
        <p:cNvGrpSpPr/>
        <p:nvPr/>
      </p:nvGrpSpPr>
      <p:grpSpPr>
        <a:xfrm>
          <a:off x="0" y="0"/>
          <a:ext cx="0" cy="0"/>
          <a:chOff x="0" y="0"/>
          <a:chExt cx="0" cy="0"/>
        </a:xfrm>
      </p:grpSpPr>
      <p:sp>
        <p:nvSpPr>
          <p:cNvPr id="1428" name="Google Shape;1428;g3efc46d0a28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9" name="Google Shape;1429;g3efc46d0a28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9" name="Shape 1439"/>
        <p:cNvGrpSpPr/>
        <p:nvPr/>
      </p:nvGrpSpPr>
      <p:grpSpPr>
        <a:xfrm>
          <a:off x="0" y="0"/>
          <a:ext cx="0" cy="0"/>
          <a:chOff x="0" y="0"/>
          <a:chExt cx="0" cy="0"/>
        </a:xfrm>
      </p:grpSpPr>
      <p:sp>
        <p:nvSpPr>
          <p:cNvPr id="1440" name="Google Shape;1440;g3efc46d0a28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1" name="Google Shape;1441;g3efc46d0a28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1" name="Shape 1451"/>
        <p:cNvGrpSpPr/>
        <p:nvPr/>
      </p:nvGrpSpPr>
      <p:grpSpPr>
        <a:xfrm>
          <a:off x="0" y="0"/>
          <a:ext cx="0" cy="0"/>
          <a:chOff x="0" y="0"/>
          <a:chExt cx="0" cy="0"/>
        </a:xfrm>
      </p:grpSpPr>
      <p:sp>
        <p:nvSpPr>
          <p:cNvPr id="1452" name="Google Shape;1452;g3efc46d0a28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3" name="Google Shape;1453;g3efc46d0a28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3" name="Shape 1463"/>
        <p:cNvGrpSpPr/>
        <p:nvPr/>
      </p:nvGrpSpPr>
      <p:grpSpPr>
        <a:xfrm>
          <a:off x="0" y="0"/>
          <a:ext cx="0" cy="0"/>
          <a:chOff x="0" y="0"/>
          <a:chExt cx="0" cy="0"/>
        </a:xfrm>
      </p:grpSpPr>
      <p:sp>
        <p:nvSpPr>
          <p:cNvPr id="1464" name="Google Shape;1464;g3efc46d0a28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5" name="Google Shape;1465;g3efc46d0a28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5" name="Shape 1475"/>
        <p:cNvGrpSpPr/>
        <p:nvPr/>
      </p:nvGrpSpPr>
      <p:grpSpPr>
        <a:xfrm>
          <a:off x="0" y="0"/>
          <a:ext cx="0" cy="0"/>
          <a:chOff x="0" y="0"/>
          <a:chExt cx="0" cy="0"/>
        </a:xfrm>
      </p:grpSpPr>
      <p:sp>
        <p:nvSpPr>
          <p:cNvPr id="1476" name="Google Shape;1476;g3efc46d0a28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7" name="Google Shape;1477;g3efc46d0a28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7" name="Shape 1487"/>
        <p:cNvGrpSpPr/>
        <p:nvPr/>
      </p:nvGrpSpPr>
      <p:grpSpPr>
        <a:xfrm>
          <a:off x="0" y="0"/>
          <a:ext cx="0" cy="0"/>
          <a:chOff x="0" y="0"/>
          <a:chExt cx="0" cy="0"/>
        </a:xfrm>
      </p:grpSpPr>
      <p:sp>
        <p:nvSpPr>
          <p:cNvPr id="1488" name="Google Shape;1488;g3ed8b6ab45b_14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9" name="Google Shape;1489;g3ed8b6ab45b_14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187236dc1_4_0)">
  <p:cSld name="Generated (g3f187236dc1_4_0)">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8"/>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8"/>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9"/>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10"/>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10"/>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10"/>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 name="Google Shape;4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1"/>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2"/>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8" name="Google Shape;4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image" Target="../media/image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3" Type="http://schemas.openxmlformats.org/officeDocument/2006/relationships/image" Target="../media/image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3" Type="http://schemas.openxmlformats.org/officeDocument/2006/relationships/image" Target="../media/image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3" Type="http://schemas.openxmlformats.org/officeDocument/2006/relationships/image" Target="../media/image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 Id="rId3" Type="http://schemas.openxmlformats.org/officeDocument/2006/relationships/image" Target="../media/image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 Id="rId3" Type="http://schemas.openxmlformats.org/officeDocument/2006/relationships/image" Target="../media/image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image" Target="../media/image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 Id="rId3" Type="http://schemas.openxmlformats.org/officeDocument/2006/relationships/image" Target="../media/image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3" Type="http://schemas.openxmlformats.org/officeDocument/2006/relationships/image" Target="../media/image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 Id="rId3" Type="http://schemas.openxmlformats.org/officeDocument/2006/relationships/image" Target="../media/image2.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 Id="rId3" Type="http://schemas.openxmlformats.org/officeDocument/2006/relationships/image" Target="../media/image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 Id="rId3" Type="http://schemas.openxmlformats.org/officeDocument/2006/relationships/image" Target="../media/image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 Id="rId3" Type="http://schemas.openxmlformats.org/officeDocument/2006/relationships/image" Target="../media/image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 Id="rId3" Type="http://schemas.openxmlformats.org/officeDocument/2006/relationships/image" Target="../media/image2.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 Id="rId3" Type="http://schemas.openxmlformats.org/officeDocument/2006/relationships/image" Target="../media/image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 Id="rId3" Type="http://schemas.openxmlformats.org/officeDocument/2006/relationships/image" Target="../media/image2.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 Id="rId3" Type="http://schemas.openxmlformats.org/officeDocument/2006/relationships/image" Target="../media/image2.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 Id="rId3" Type="http://schemas.openxmlformats.org/officeDocument/2006/relationships/image" Target="../media/image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 Id="rId3" Type="http://schemas.openxmlformats.org/officeDocument/2006/relationships/image" Target="../media/image2.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 Id="rId3" Type="http://schemas.openxmlformats.org/officeDocument/2006/relationships/image" Target="../media/image2.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 Id="rId3" Type="http://schemas.openxmlformats.org/officeDocument/2006/relationships/image" Target="../media/image2.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 Id="rId3" Type="http://schemas.openxmlformats.org/officeDocument/2006/relationships/image" Target="../media/image2.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 Id="rId3" Type="http://schemas.openxmlformats.org/officeDocument/2006/relationships/image" Target="../media/image2.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 Id="rId3" Type="http://schemas.openxmlformats.org/officeDocument/2006/relationships/image" Target="../media/image2.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 Id="rId3" Type="http://schemas.openxmlformats.org/officeDocument/2006/relationships/image" Target="../media/image2.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 Id="rId3" Type="http://schemas.openxmlformats.org/officeDocument/2006/relationships/image" Target="../media/image2.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 Id="rId3" Type="http://schemas.openxmlformats.org/officeDocument/2006/relationships/image" Target="../media/image2.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 Id="rId3" Type="http://schemas.openxmlformats.org/officeDocument/2006/relationships/image" Target="../media/image2.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 Id="rId3" Type="http://schemas.openxmlformats.org/officeDocument/2006/relationships/image" Target="../media/image2.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 Id="rId3" Type="http://schemas.openxmlformats.org/officeDocument/2006/relationships/image" Target="../media/image2.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3" Type="http://schemas.openxmlformats.org/officeDocument/2006/relationships/image" Target="../media/image2.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 Id="rId3" Type="http://schemas.openxmlformats.org/officeDocument/2006/relationships/image" Target="../media/image2.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 Id="rId3" Type="http://schemas.openxmlformats.org/officeDocument/2006/relationships/image" Target="../media/image2.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 Id="rId3" Type="http://schemas.openxmlformats.org/officeDocument/2006/relationships/image" Target="../media/image2.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 Id="rId3" Type="http://schemas.openxmlformats.org/officeDocument/2006/relationships/image" Target="../media/image2.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2.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 Id="rId3" Type="http://schemas.openxmlformats.org/officeDocument/2006/relationships/image" Target="../media/image2.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 Id="rId3" Type="http://schemas.openxmlformats.org/officeDocument/2006/relationships/image" Target="../media/image2.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 Id="rId3" Type="http://schemas.openxmlformats.org/officeDocument/2006/relationships/image" Target="../media/image2.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 Id="rId3" Type="http://schemas.openxmlformats.org/officeDocument/2006/relationships/image" Target="../media/image2.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 Id="rId3" Type="http://schemas.openxmlformats.org/officeDocument/2006/relationships/image" Target="../media/image2.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 Id="rId3" Type="http://schemas.openxmlformats.org/officeDocument/2006/relationships/image" Target="../media/image2.png"/><Relationship Id="rId4" Type="http://schemas.openxmlformats.org/officeDocument/2006/relationships/hyperlink" Target="https://doi.org/10.1145/214451.214456" TargetMode="External"/><Relationship Id="rId5" Type="http://schemas.openxmlformats.org/officeDocument/2006/relationships/hyperlink" Target="https://github.com/ocornut/imgui" TargetMode="External"/><Relationship Id="rId6" Type="http://schemas.openxmlformats.org/officeDocument/2006/relationships/hyperlink" Target="http://glfw.or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54" name="Shape 54"/>
        <p:cNvGrpSpPr/>
        <p:nvPr/>
      </p:nvGrpSpPr>
      <p:grpSpPr>
        <a:xfrm>
          <a:off x="0" y="0"/>
          <a:ext cx="0" cy="0"/>
          <a:chOff x="0" y="0"/>
          <a:chExt cx="0" cy="0"/>
        </a:xfrm>
      </p:grpSpPr>
      <p:pic>
        <p:nvPicPr>
          <p:cNvPr id="55" name="Google Shape;55;p14"/>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id="56" name="Google Shape;56;p14"/>
          <p:cNvPicPr preferRelativeResize="0"/>
          <p:nvPr/>
        </p:nvPicPr>
        <p:blipFill rotWithShape="1">
          <a:blip r:embed="rId4">
            <a:alphaModFix/>
          </a:blip>
          <a:srcRect b="0" l="0" r="0" t="0"/>
          <a:stretch/>
        </p:blipFill>
        <p:spPr>
          <a:xfrm>
            <a:off x="0" y="0"/>
            <a:ext cx="9144000" cy="5143500"/>
          </a:xfrm>
          <a:prstGeom prst="rect">
            <a:avLst/>
          </a:prstGeom>
          <a:noFill/>
          <a:ln>
            <a:noFill/>
          </a:ln>
        </p:spPr>
      </p:pic>
      <p:grpSp>
        <p:nvGrpSpPr>
          <p:cNvPr id="57" name="Google Shape;57;p14"/>
          <p:cNvGrpSpPr/>
          <p:nvPr/>
        </p:nvGrpSpPr>
        <p:grpSpPr>
          <a:xfrm>
            <a:off x="4429125" y="1038225"/>
            <a:ext cx="514350" cy="457200"/>
            <a:chOff x="57150" y="57150"/>
            <a:chExt cx="342900" cy="304800"/>
          </a:xfrm>
        </p:grpSpPr>
        <p:cxnSp>
          <p:nvCxnSpPr>
            <p:cNvPr id="58" name="Google Shape;58;p14"/>
            <p:cNvCxnSpPr/>
            <p:nvPr/>
          </p:nvCxnSpPr>
          <p:spPr>
            <a:xfrm>
              <a:off x="114300" y="114300"/>
              <a:ext cx="228600" cy="0"/>
            </a:xfrm>
            <a:prstGeom prst="straightConnector1">
              <a:avLst/>
            </a:prstGeom>
            <a:solidFill>
              <a:srgbClr val="FFFFFF"/>
            </a:solidFill>
            <a:ln cap="flat" cmpd="sng" w="19050">
              <a:solidFill>
                <a:srgbClr val="2563EB"/>
              </a:solidFill>
              <a:prstDash val="solid"/>
              <a:round/>
              <a:headEnd len="sm" w="sm" type="none"/>
              <a:tailEnd len="sm" w="sm" type="none"/>
            </a:ln>
          </p:spPr>
        </p:cxnSp>
        <p:cxnSp>
          <p:nvCxnSpPr>
            <p:cNvPr id="59" name="Google Shape;59;p14"/>
            <p:cNvCxnSpPr/>
            <p:nvPr/>
          </p:nvCxnSpPr>
          <p:spPr>
            <a:xfrm>
              <a:off x="114300" y="114300"/>
              <a:ext cx="114300" cy="190500"/>
            </a:xfrm>
            <a:prstGeom prst="straightConnector1">
              <a:avLst/>
            </a:prstGeom>
            <a:solidFill>
              <a:srgbClr val="FFFFFF"/>
            </a:solidFill>
            <a:ln cap="flat" cmpd="sng" w="19050">
              <a:solidFill>
                <a:srgbClr val="2563EB"/>
              </a:solidFill>
              <a:prstDash val="solid"/>
              <a:round/>
              <a:headEnd len="sm" w="sm" type="none"/>
              <a:tailEnd len="sm" w="sm" type="none"/>
            </a:ln>
          </p:spPr>
        </p:cxnSp>
        <p:cxnSp>
          <p:nvCxnSpPr>
            <p:cNvPr id="60" name="Google Shape;60;p14"/>
            <p:cNvCxnSpPr/>
            <p:nvPr/>
          </p:nvCxnSpPr>
          <p:spPr>
            <a:xfrm flipH="1">
              <a:off x="228600" y="114300"/>
              <a:ext cx="114300" cy="190500"/>
            </a:xfrm>
            <a:prstGeom prst="straightConnector1">
              <a:avLst/>
            </a:prstGeom>
            <a:solidFill>
              <a:srgbClr val="FFFFFF"/>
            </a:solidFill>
            <a:ln cap="flat" cmpd="sng" w="19050">
              <a:solidFill>
                <a:srgbClr val="2563EB"/>
              </a:solidFill>
              <a:prstDash val="solid"/>
              <a:round/>
              <a:headEnd len="sm" w="sm" type="none"/>
              <a:tailEnd len="sm" w="sm" type="none"/>
            </a:ln>
          </p:spPr>
        </p:cxnSp>
        <p:sp>
          <p:nvSpPr>
            <p:cNvPr id="61" name="Google Shape;61;p14"/>
            <p:cNvSpPr/>
            <p:nvPr/>
          </p:nvSpPr>
          <p:spPr>
            <a:xfrm>
              <a:off x="57150" y="57150"/>
              <a:ext cx="114300" cy="114300"/>
            </a:xfrm>
            <a:prstGeom prst="ellipse">
              <a:avLst/>
            </a:prstGeom>
            <a:solidFill>
              <a:srgbClr val="FFFFFF"/>
            </a:solidFill>
            <a:ln cap="flat" cmpd="sng" w="1905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 name="Google Shape;62;p14"/>
            <p:cNvSpPr/>
            <p:nvPr/>
          </p:nvSpPr>
          <p:spPr>
            <a:xfrm>
              <a:off x="285750" y="57150"/>
              <a:ext cx="114300" cy="114300"/>
            </a:xfrm>
            <a:prstGeom prst="ellipse">
              <a:avLst/>
            </a:prstGeom>
            <a:solidFill>
              <a:srgbClr val="FFFFFF"/>
            </a:solidFill>
            <a:ln cap="flat" cmpd="sng" w="1905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 name="Google Shape;63;p14"/>
            <p:cNvSpPr/>
            <p:nvPr/>
          </p:nvSpPr>
          <p:spPr>
            <a:xfrm>
              <a:off x="171450" y="247650"/>
              <a:ext cx="114300" cy="114300"/>
            </a:xfrm>
            <a:prstGeom prst="ellipse">
              <a:avLst/>
            </a:prstGeom>
            <a:solidFill>
              <a:srgbClr val="FFFFFF"/>
            </a:solidFill>
            <a:ln cap="flat" cmpd="sng" w="1905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4" name="Google Shape;64;p14"/>
          <p:cNvSpPr txBox="1"/>
          <p:nvPr/>
        </p:nvSpPr>
        <p:spPr>
          <a:xfrm>
            <a:off x="914400" y="1905000"/>
            <a:ext cx="73152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3200">
                <a:solidFill>
                  <a:srgbClr val="111827"/>
                </a:solidFill>
                <a:latin typeface="Inter"/>
                <a:ea typeface="Inter"/>
                <a:cs typeface="Inter"/>
                <a:sym typeface="Inter"/>
              </a:rPr>
              <a:t>Snapshot Distribuído para</a:t>
            </a:r>
            <a:endParaRPr b="1" sz="3200">
              <a:solidFill>
                <a:srgbClr val="111827"/>
              </a:solidFill>
              <a:latin typeface="Inter"/>
              <a:ea typeface="Inter"/>
              <a:cs typeface="Inter"/>
              <a:sym typeface="Inter"/>
            </a:endParaRPr>
          </a:p>
          <a:p>
            <a:pPr indent="0" lvl="0" marL="0" rtl="0" algn="ctr">
              <a:spcBef>
                <a:spcPts val="750"/>
              </a:spcBef>
              <a:spcAft>
                <a:spcPts val="0"/>
              </a:spcAft>
              <a:buNone/>
            </a:pPr>
            <a:r>
              <a:rPr b="1" lang="en" sz="3200">
                <a:solidFill>
                  <a:srgbClr val="111827"/>
                </a:solidFill>
                <a:latin typeface="Inter"/>
                <a:ea typeface="Inter"/>
                <a:cs typeface="Inter"/>
                <a:sym typeface="Inter"/>
              </a:rPr>
              <a:t>Programação Distribuída</a:t>
            </a:r>
            <a:endParaRPr b="1" sz="3200">
              <a:solidFill>
                <a:srgbClr val="111827"/>
              </a:solidFill>
              <a:latin typeface="Inter"/>
              <a:ea typeface="Inter"/>
              <a:cs typeface="Inter"/>
              <a:sym typeface="Inter"/>
            </a:endParaRPr>
          </a:p>
        </p:txBody>
      </p:sp>
      <p:sp>
        <p:nvSpPr>
          <p:cNvPr id="65" name="Google Shape;65;p14"/>
          <p:cNvSpPr txBox="1"/>
          <p:nvPr/>
        </p:nvSpPr>
        <p:spPr>
          <a:xfrm>
            <a:off x="914400" y="3143250"/>
            <a:ext cx="73152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2000">
                <a:solidFill>
                  <a:srgbClr val="4B5563"/>
                </a:solidFill>
                <a:latin typeface="Inter Medium"/>
                <a:ea typeface="Inter Medium"/>
                <a:cs typeface="Inter Medium"/>
                <a:sym typeface="Inter Medium"/>
              </a:rPr>
              <a:t>Teoria, Aplicações Práticas e Implementação</a:t>
            </a:r>
            <a:endParaRPr b="0" sz="2000">
              <a:solidFill>
                <a:srgbClr val="4B5563"/>
              </a:solidFill>
              <a:latin typeface="Inter Medium"/>
              <a:ea typeface="Inter Medium"/>
              <a:cs typeface="Inter Medium"/>
              <a:sym typeface="Inter Medium"/>
            </a:endParaRPr>
          </a:p>
          <a:p>
            <a:pPr indent="0" lvl="0" marL="0" rtl="0" algn="ctr">
              <a:spcBef>
                <a:spcPts val="375"/>
              </a:spcBef>
              <a:spcAft>
                <a:spcPts val="0"/>
              </a:spcAft>
              <a:buNone/>
            </a:pPr>
            <a:r>
              <a:rPr b="0" lang="en" sz="2000">
                <a:solidFill>
                  <a:srgbClr val="4B5563"/>
                </a:solidFill>
                <a:latin typeface="Inter Medium"/>
                <a:ea typeface="Inter Medium"/>
                <a:cs typeface="Inter Medium"/>
                <a:sym typeface="Inter Medium"/>
              </a:rPr>
              <a:t>em Clusters Heterogêneos</a:t>
            </a:r>
            <a:endParaRPr b="0" sz="2000">
              <a:solidFill>
                <a:srgbClr val="4B5563"/>
              </a:solidFill>
              <a:latin typeface="Inter Medium"/>
              <a:ea typeface="Inter Medium"/>
              <a:cs typeface="Inter Medium"/>
              <a:sym typeface="Inter Medium"/>
            </a:endParaRPr>
          </a:p>
        </p:txBody>
      </p:sp>
      <p:sp>
        <p:nvSpPr>
          <p:cNvPr id="66" name="Google Shape;66;p14"/>
          <p:cNvSpPr txBox="1"/>
          <p:nvPr/>
        </p:nvSpPr>
        <p:spPr>
          <a:xfrm>
            <a:off x="914400" y="4191000"/>
            <a:ext cx="73152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200">
                <a:solidFill>
                  <a:srgbClr val="4B5563"/>
                </a:solidFill>
                <a:latin typeface="Roboto Mono Medium"/>
                <a:ea typeface="Roboto Mono Medium"/>
                <a:cs typeface="Roboto Mono Medium"/>
                <a:sym typeface="Roboto Mono Medium"/>
              </a:rPr>
              <a:t>Kauan Fank • Junho de 2026</a:t>
            </a:r>
            <a:endParaRPr b="0" sz="1200">
              <a:solidFill>
                <a:srgbClr val="4B5563"/>
              </a:solidFill>
              <a:latin typeface="Roboto Mono Medium"/>
              <a:ea typeface="Roboto Mono Medium"/>
              <a:cs typeface="Roboto Mono Medium"/>
              <a:sym typeface="Roboto Mono Medium"/>
            </a:endParaRPr>
          </a:p>
        </p:txBody>
      </p:sp>
      <p:pic>
        <p:nvPicPr>
          <p:cNvPr id="67" name="Google Shape;67;p14"/>
          <p:cNvPicPr preferRelativeResize="0"/>
          <p:nvPr/>
        </p:nvPicPr>
        <p:blipFill rotWithShape="1">
          <a:blip r:embed="rId5">
            <a:alphaModFix/>
          </a:blip>
          <a:srcRect b="0" l="0" r="0" t="0"/>
          <a:stretch/>
        </p:blipFill>
        <p:spPr>
          <a:xfrm>
            <a:off x="3810000" y="4038600"/>
            <a:ext cx="1505100" cy="19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71" name="Shape 71"/>
        <p:cNvGrpSpPr/>
        <p:nvPr/>
      </p:nvGrpSpPr>
      <p:grpSpPr>
        <a:xfrm>
          <a:off x="0" y="0"/>
          <a:ext cx="0" cy="0"/>
          <a:chOff x="0" y="0"/>
          <a:chExt cx="0" cy="0"/>
        </a:xfrm>
      </p:grpSpPr>
      <p:pic>
        <p:nvPicPr>
          <p:cNvPr id="72" name="Google Shape;72;p1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73" name="Google Shape;73;p15"/>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4" name="Google Shape;74;p15"/>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O Desafio Central: Definindo um Estado Global Consistente</a:t>
            </a:r>
            <a:endParaRPr b="1" sz="2240">
              <a:solidFill>
                <a:srgbClr val="111827"/>
              </a:solidFill>
              <a:latin typeface="Inter"/>
              <a:ea typeface="Inter"/>
              <a:cs typeface="Inter"/>
              <a:sym typeface="Inter"/>
            </a:endParaRPr>
          </a:p>
        </p:txBody>
      </p:sp>
      <p:grpSp>
        <p:nvGrpSpPr>
          <p:cNvPr id="75" name="Google Shape;75;p15"/>
          <p:cNvGrpSpPr/>
          <p:nvPr/>
        </p:nvGrpSpPr>
        <p:grpSpPr>
          <a:xfrm>
            <a:off x="457200" y="4762500"/>
            <a:ext cx="8229600" cy="304800"/>
            <a:chOff x="0" y="0"/>
            <a:chExt cx="8229600" cy="304800"/>
          </a:xfrm>
        </p:grpSpPr>
        <p:cxnSp>
          <p:nvCxnSpPr>
            <p:cNvPr id="76" name="Google Shape;76;p15"/>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77" name="Google Shape;77;p15"/>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78" name="Google Shape;78;p15"/>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79" name="Google Shape;79;p15"/>
          <p:cNvSpPr txBox="1"/>
          <p:nvPr/>
        </p:nvSpPr>
        <p:spPr>
          <a:xfrm>
            <a:off x="426300" y="938325"/>
            <a:ext cx="8291400" cy="129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Gostaríamos de capturar um estado global dos processos:</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Tirar uma “Fotografia” do estado atual de todo o sistema</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83" name="Shape 83"/>
        <p:cNvGrpSpPr/>
        <p:nvPr/>
      </p:nvGrpSpPr>
      <p:grpSpPr>
        <a:xfrm>
          <a:off x="0" y="0"/>
          <a:ext cx="0" cy="0"/>
          <a:chOff x="0" y="0"/>
          <a:chExt cx="0" cy="0"/>
        </a:xfrm>
      </p:grpSpPr>
      <p:pic>
        <p:nvPicPr>
          <p:cNvPr id="84" name="Google Shape;84;p1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85" name="Google Shape;85;p16"/>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6" name="Google Shape;86;p16"/>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O Desafio Central: Definindo um Estado Global Consistente</a:t>
            </a:r>
            <a:endParaRPr b="1" sz="2240">
              <a:solidFill>
                <a:srgbClr val="111827"/>
              </a:solidFill>
              <a:latin typeface="Inter"/>
              <a:ea typeface="Inter"/>
              <a:cs typeface="Inter"/>
              <a:sym typeface="Inter"/>
            </a:endParaRPr>
          </a:p>
        </p:txBody>
      </p:sp>
      <p:grpSp>
        <p:nvGrpSpPr>
          <p:cNvPr id="87" name="Google Shape;87;p16"/>
          <p:cNvGrpSpPr/>
          <p:nvPr/>
        </p:nvGrpSpPr>
        <p:grpSpPr>
          <a:xfrm>
            <a:off x="457200" y="4762500"/>
            <a:ext cx="8229600" cy="304800"/>
            <a:chOff x="0" y="0"/>
            <a:chExt cx="8229600" cy="304800"/>
          </a:xfrm>
        </p:grpSpPr>
        <p:cxnSp>
          <p:nvCxnSpPr>
            <p:cNvPr id="88" name="Google Shape;88;p16"/>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89" name="Google Shape;89;p16"/>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90" name="Google Shape;90;p16"/>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91" name="Google Shape;91;p16"/>
          <p:cNvSpPr txBox="1"/>
          <p:nvPr/>
        </p:nvSpPr>
        <p:spPr>
          <a:xfrm>
            <a:off x="426300" y="938325"/>
            <a:ext cx="8291400" cy="129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Gostaríamos de capturar um estado global dos processos:</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Tirar uma “Fotografia” do estado atual de todo o sistema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Travar os processos, salvar o valor de todas as variáveis de cada processo + mensagens em rede, e continuar como se nada tivesse acontecido.</a:t>
            </a:r>
            <a:endParaRPr b="1" sz="1800">
              <a:solidFill>
                <a:srgbClr val="111827"/>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95" name="Shape 95"/>
        <p:cNvGrpSpPr/>
        <p:nvPr/>
      </p:nvGrpSpPr>
      <p:grpSpPr>
        <a:xfrm>
          <a:off x="0" y="0"/>
          <a:ext cx="0" cy="0"/>
          <a:chOff x="0" y="0"/>
          <a:chExt cx="0" cy="0"/>
        </a:xfrm>
      </p:grpSpPr>
      <p:pic>
        <p:nvPicPr>
          <p:cNvPr id="96" name="Google Shape;96;p17"/>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97" name="Google Shape;97;p17"/>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8" name="Google Shape;98;p17"/>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O Desafio Central: Definindo um Estado Global Consistente</a:t>
            </a:r>
            <a:endParaRPr b="1" sz="2240">
              <a:solidFill>
                <a:srgbClr val="111827"/>
              </a:solidFill>
              <a:latin typeface="Inter"/>
              <a:ea typeface="Inter"/>
              <a:cs typeface="Inter"/>
              <a:sym typeface="Inter"/>
            </a:endParaRPr>
          </a:p>
        </p:txBody>
      </p:sp>
      <p:grpSp>
        <p:nvGrpSpPr>
          <p:cNvPr id="99" name="Google Shape;99;p17"/>
          <p:cNvGrpSpPr/>
          <p:nvPr/>
        </p:nvGrpSpPr>
        <p:grpSpPr>
          <a:xfrm>
            <a:off x="457200" y="4762500"/>
            <a:ext cx="8229600" cy="304800"/>
            <a:chOff x="0" y="0"/>
            <a:chExt cx="8229600" cy="304800"/>
          </a:xfrm>
        </p:grpSpPr>
        <p:cxnSp>
          <p:nvCxnSpPr>
            <p:cNvPr id="100" name="Google Shape;100;p17"/>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01" name="Google Shape;101;p17"/>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02" name="Google Shape;102;p17"/>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103" name="Google Shape;103;p17"/>
          <p:cNvSpPr txBox="1"/>
          <p:nvPr/>
        </p:nvSpPr>
        <p:spPr>
          <a:xfrm>
            <a:off x="426300" y="938325"/>
            <a:ext cx="8291400" cy="129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Gostaríamos de capturar um estado global dos processos:</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Tirar uma “Fotografia” do estado atual de todo o sistema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Travar os processos, salvar o valor de todas as variáveis de cada processo + mensagens em rede, e continuar como se nada tivesse acontecido.</a:t>
            </a:r>
            <a:endParaRPr b="1" sz="1800">
              <a:solidFill>
                <a:srgbClr val="111827"/>
              </a:solidFill>
              <a:latin typeface="Inter"/>
              <a:ea typeface="Inter"/>
              <a:cs typeface="Inter"/>
              <a:sym typeface="Inter"/>
            </a:endParaRPr>
          </a:p>
        </p:txBody>
      </p:sp>
      <p:sp>
        <p:nvSpPr>
          <p:cNvPr id="104" name="Google Shape;104;p17"/>
          <p:cNvSpPr txBox="1"/>
          <p:nvPr/>
        </p:nvSpPr>
        <p:spPr>
          <a:xfrm>
            <a:off x="457200" y="2301300"/>
            <a:ext cx="8291400" cy="2282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Pois assim, conseguimos</a:t>
            </a:r>
            <a:r>
              <a:rPr b="1" lang="en" sz="1800">
                <a:solidFill>
                  <a:srgbClr val="111827"/>
                </a:solidFill>
                <a:latin typeface="Inter"/>
                <a:ea typeface="Inter"/>
                <a:cs typeface="Inter"/>
                <a:sym typeface="Inter"/>
              </a:rPr>
              <a:t>:</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accent1"/>
                </a:solidFill>
                <a:latin typeface="Inter"/>
                <a:ea typeface="Inter"/>
                <a:cs typeface="Inter"/>
                <a:sym typeface="Inter"/>
              </a:rPr>
              <a:t> </a:t>
            </a:r>
            <a:r>
              <a:rPr lang="en" sz="1600">
                <a:solidFill>
                  <a:schemeClr val="dk1"/>
                </a:solidFill>
                <a:latin typeface="Inter"/>
                <a:ea typeface="Inter"/>
                <a:cs typeface="Inter"/>
                <a:sym typeface="Inter"/>
              </a:rPr>
              <a:t>Criar pontos de restauração para o sistema, combinados com log ou não </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Ex: Save states em um ROM emulator (distribuido em PokeMMO)</a:t>
            </a:r>
            <a:endParaRPr sz="1600">
              <a:solidFill>
                <a:schemeClr val="dk1"/>
              </a:solidFill>
              <a:latin typeface="Inter"/>
              <a:ea typeface="Inter"/>
              <a:cs typeface="Inter"/>
              <a:sym typeface="Inter"/>
            </a:endParaRPr>
          </a:p>
          <a:p>
            <a:pPr indent="0" lvl="0" marL="45720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08" name="Shape 108"/>
        <p:cNvGrpSpPr/>
        <p:nvPr/>
      </p:nvGrpSpPr>
      <p:grpSpPr>
        <a:xfrm>
          <a:off x="0" y="0"/>
          <a:ext cx="0" cy="0"/>
          <a:chOff x="0" y="0"/>
          <a:chExt cx="0" cy="0"/>
        </a:xfrm>
      </p:grpSpPr>
      <p:pic>
        <p:nvPicPr>
          <p:cNvPr id="109" name="Google Shape;109;p18"/>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10" name="Google Shape;110;p18"/>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1" name="Google Shape;111;p18"/>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O Desafio Central: Definindo um Estado Global Consistente</a:t>
            </a:r>
            <a:endParaRPr b="1" sz="2240">
              <a:solidFill>
                <a:srgbClr val="111827"/>
              </a:solidFill>
              <a:latin typeface="Inter"/>
              <a:ea typeface="Inter"/>
              <a:cs typeface="Inter"/>
              <a:sym typeface="Inter"/>
            </a:endParaRPr>
          </a:p>
        </p:txBody>
      </p:sp>
      <p:grpSp>
        <p:nvGrpSpPr>
          <p:cNvPr id="112" name="Google Shape;112;p18"/>
          <p:cNvGrpSpPr/>
          <p:nvPr/>
        </p:nvGrpSpPr>
        <p:grpSpPr>
          <a:xfrm>
            <a:off x="457200" y="4762500"/>
            <a:ext cx="8229600" cy="304800"/>
            <a:chOff x="0" y="0"/>
            <a:chExt cx="8229600" cy="304800"/>
          </a:xfrm>
        </p:grpSpPr>
        <p:cxnSp>
          <p:nvCxnSpPr>
            <p:cNvPr id="113" name="Google Shape;113;p18"/>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14" name="Google Shape;114;p18"/>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15" name="Google Shape;115;p18"/>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116" name="Google Shape;116;p18"/>
          <p:cNvSpPr txBox="1"/>
          <p:nvPr/>
        </p:nvSpPr>
        <p:spPr>
          <a:xfrm>
            <a:off x="457200" y="2301300"/>
            <a:ext cx="8291400" cy="2282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Pois assim, conseguimos:</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accent1"/>
                </a:solidFill>
                <a:latin typeface="Inter"/>
                <a:ea typeface="Inter"/>
                <a:cs typeface="Inter"/>
                <a:sym typeface="Inter"/>
              </a:rPr>
              <a:t> </a:t>
            </a:r>
            <a:r>
              <a:rPr lang="en" sz="1600">
                <a:solidFill>
                  <a:schemeClr val="dk1"/>
                </a:solidFill>
                <a:latin typeface="Inter"/>
                <a:ea typeface="Inter"/>
                <a:cs typeface="Inter"/>
                <a:sym typeface="Inter"/>
              </a:rPr>
              <a:t>Criar pontos de restauração para o sistema, combinados com log ou não </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Ex: Save states em um ROM emulator (distribuido em PokeMMO)</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accent1"/>
                </a:solidFill>
                <a:latin typeface="Inter"/>
                <a:ea typeface="Inter"/>
                <a:cs typeface="Inter"/>
                <a:sym typeface="Inter"/>
              </a:rPr>
              <a:t> </a:t>
            </a:r>
            <a:r>
              <a:rPr lang="en" sz="1600">
                <a:solidFill>
                  <a:schemeClr val="dk1"/>
                </a:solidFill>
                <a:latin typeface="Inter"/>
                <a:ea typeface="Inter"/>
                <a:cs typeface="Inter"/>
                <a:sym typeface="Inter"/>
              </a:rPr>
              <a:t>Coleta de lixo, identificar regiões inalcançáveis do sistema </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Não são alcançáveis por nenhum nó ou por um nó raiz.</a:t>
            </a:r>
            <a:endParaRPr sz="1600">
              <a:solidFill>
                <a:schemeClr val="dk1"/>
              </a:solidFill>
              <a:latin typeface="Inter"/>
              <a:ea typeface="Inter"/>
              <a:cs typeface="Inter"/>
              <a:sym typeface="Inter"/>
            </a:endParaRPr>
          </a:p>
        </p:txBody>
      </p:sp>
      <p:sp>
        <p:nvSpPr>
          <p:cNvPr id="117" name="Google Shape;117;p18"/>
          <p:cNvSpPr txBox="1"/>
          <p:nvPr/>
        </p:nvSpPr>
        <p:spPr>
          <a:xfrm>
            <a:off x="426300" y="938325"/>
            <a:ext cx="8291400" cy="129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Gostaríamos de capturar um estado global dos processos:</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Tirar uma “Fotografia” do estado atual de todo o sistema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Travar os processos, salvar o valor de todas as variáveis de cada processo + mensagens em rede, e continuar como se nada tivesse acontecido.</a:t>
            </a:r>
            <a:endParaRPr b="1" sz="1800">
              <a:solidFill>
                <a:srgbClr val="111827"/>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21" name="Shape 121"/>
        <p:cNvGrpSpPr/>
        <p:nvPr/>
      </p:nvGrpSpPr>
      <p:grpSpPr>
        <a:xfrm>
          <a:off x="0" y="0"/>
          <a:ext cx="0" cy="0"/>
          <a:chOff x="0" y="0"/>
          <a:chExt cx="0" cy="0"/>
        </a:xfrm>
      </p:grpSpPr>
      <p:pic>
        <p:nvPicPr>
          <p:cNvPr id="122" name="Google Shape;122;p19"/>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123" name="Google Shape;123;p19"/>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24" name="Google Shape;124;p19"/>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O Desafio Central: Definindo um Estado Global Consistente</a:t>
            </a:r>
            <a:endParaRPr b="1" sz="2240">
              <a:solidFill>
                <a:srgbClr val="111827"/>
              </a:solidFill>
              <a:latin typeface="Inter"/>
              <a:ea typeface="Inter"/>
              <a:cs typeface="Inter"/>
              <a:sym typeface="Inter"/>
            </a:endParaRPr>
          </a:p>
        </p:txBody>
      </p:sp>
      <p:grpSp>
        <p:nvGrpSpPr>
          <p:cNvPr id="125" name="Google Shape;125;p19"/>
          <p:cNvGrpSpPr/>
          <p:nvPr/>
        </p:nvGrpSpPr>
        <p:grpSpPr>
          <a:xfrm>
            <a:off x="457200" y="4762500"/>
            <a:ext cx="8229600" cy="304800"/>
            <a:chOff x="0" y="0"/>
            <a:chExt cx="8229600" cy="304800"/>
          </a:xfrm>
        </p:grpSpPr>
        <p:cxnSp>
          <p:nvCxnSpPr>
            <p:cNvPr id="126" name="Google Shape;126;p19"/>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27" name="Google Shape;127;p19"/>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28" name="Google Shape;128;p19"/>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129" name="Google Shape;129;p19"/>
          <p:cNvSpPr txBox="1"/>
          <p:nvPr/>
        </p:nvSpPr>
        <p:spPr>
          <a:xfrm>
            <a:off x="457200" y="2301300"/>
            <a:ext cx="8291400" cy="2282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Pois assim, conseguimos:</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accent1"/>
                </a:solidFill>
                <a:latin typeface="Inter"/>
                <a:ea typeface="Inter"/>
                <a:cs typeface="Inter"/>
                <a:sym typeface="Inter"/>
              </a:rPr>
              <a:t> </a:t>
            </a:r>
            <a:r>
              <a:rPr lang="en" sz="1600">
                <a:solidFill>
                  <a:schemeClr val="dk1"/>
                </a:solidFill>
                <a:latin typeface="Inter"/>
                <a:ea typeface="Inter"/>
                <a:cs typeface="Inter"/>
                <a:sym typeface="Inter"/>
              </a:rPr>
              <a:t>Criar pontos de restauração para o sistema, combinados com log ou não </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Ex: Save states em um ROM emulator (distribuido em PokeMMO)</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accent1"/>
                </a:solidFill>
                <a:latin typeface="Inter"/>
                <a:ea typeface="Inter"/>
                <a:cs typeface="Inter"/>
                <a:sym typeface="Inter"/>
              </a:rPr>
              <a:t> </a:t>
            </a:r>
            <a:r>
              <a:rPr lang="en" sz="1600">
                <a:solidFill>
                  <a:schemeClr val="dk1"/>
                </a:solidFill>
                <a:latin typeface="Inter"/>
                <a:ea typeface="Inter"/>
                <a:cs typeface="Inter"/>
                <a:sym typeface="Inter"/>
              </a:rPr>
              <a:t>Coleta de lixo, identificar regiões inalcançáveis do sistema </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Não são alcançáveis por nenhum nó ou por um nó raiz.</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 Verificação de invariantes globais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Quando o estado do sistema ou de alguma variável precisa se manter constante em referência a algo.</a:t>
            </a:r>
            <a:endParaRPr sz="1600">
              <a:solidFill>
                <a:schemeClr val="dk1"/>
              </a:solidFill>
              <a:latin typeface="Inter"/>
              <a:ea typeface="Inter"/>
              <a:cs typeface="Inter"/>
              <a:sym typeface="Inter"/>
            </a:endParaRPr>
          </a:p>
        </p:txBody>
      </p:sp>
      <p:sp>
        <p:nvSpPr>
          <p:cNvPr id="130" name="Google Shape;130;p19"/>
          <p:cNvSpPr txBox="1"/>
          <p:nvPr/>
        </p:nvSpPr>
        <p:spPr>
          <a:xfrm>
            <a:off x="426300" y="938325"/>
            <a:ext cx="8291400" cy="129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Gostaríamos de capturar um estado global dos processos:</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Tirar uma “Fotografia” do estado atual de todo o sistema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Travar os processos, salvar o valor de todas as variáveis de cada processo + mensagens em rede, e continuar como se nada tivesse acontecido.</a:t>
            </a:r>
            <a:endParaRPr b="1" sz="1800">
              <a:solidFill>
                <a:srgbClr val="111827"/>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34" name="Shape 134"/>
        <p:cNvGrpSpPr/>
        <p:nvPr/>
      </p:nvGrpSpPr>
      <p:grpSpPr>
        <a:xfrm>
          <a:off x="0" y="0"/>
          <a:ext cx="0" cy="0"/>
          <a:chOff x="0" y="0"/>
          <a:chExt cx="0" cy="0"/>
        </a:xfrm>
      </p:grpSpPr>
      <p:pic>
        <p:nvPicPr>
          <p:cNvPr id="135" name="Google Shape;135;p20"/>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36" name="Google Shape;136;p20"/>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37" name="Google Shape;137;p20"/>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O Desafio Central: Definindo um Estado Global Consistente</a:t>
            </a:r>
            <a:endParaRPr b="1" sz="2240">
              <a:solidFill>
                <a:srgbClr val="111827"/>
              </a:solidFill>
              <a:latin typeface="Inter"/>
              <a:ea typeface="Inter"/>
              <a:cs typeface="Inter"/>
              <a:sym typeface="Inter"/>
            </a:endParaRPr>
          </a:p>
        </p:txBody>
      </p:sp>
      <p:grpSp>
        <p:nvGrpSpPr>
          <p:cNvPr id="138" name="Google Shape;138;p20"/>
          <p:cNvGrpSpPr/>
          <p:nvPr/>
        </p:nvGrpSpPr>
        <p:grpSpPr>
          <a:xfrm>
            <a:off x="457200" y="4762500"/>
            <a:ext cx="8229600" cy="304800"/>
            <a:chOff x="0" y="0"/>
            <a:chExt cx="8229600" cy="304800"/>
          </a:xfrm>
        </p:grpSpPr>
        <p:cxnSp>
          <p:nvCxnSpPr>
            <p:cNvPr id="139" name="Google Shape;139;p20"/>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40" name="Google Shape;140;p20"/>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41" name="Google Shape;141;p20"/>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142" name="Google Shape;142;p20"/>
          <p:cNvSpPr txBox="1"/>
          <p:nvPr/>
        </p:nvSpPr>
        <p:spPr>
          <a:xfrm>
            <a:off x="426300" y="1259975"/>
            <a:ext cx="8385600" cy="2282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Pois assim, conseguimos:</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accent1"/>
                </a:solidFill>
                <a:latin typeface="Inter"/>
                <a:ea typeface="Inter"/>
                <a:cs typeface="Inter"/>
                <a:sym typeface="Inter"/>
              </a:rPr>
              <a:t> </a:t>
            </a:r>
            <a:r>
              <a:rPr lang="en" sz="1600">
                <a:solidFill>
                  <a:schemeClr val="dk1"/>
                </a:solidFill>
                <a:latin typeface="Inter"/>
                <a:ea typeface="Inter"/>
                <a:cs typeface="Inter"/>
                <a:sym typeface="Inter"/>
              </a:rPr>
              <a:t>Detecção de Deadlocks </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Se nessa foto percebermos que existe uma relação de “A espera B, B espera C, C espera A”, podemos concluir que há um deadlock entre múltiplos processos.</a:t>
            </a:r>
            <a:endParaRPr sz="1600">
              <a:solidFill>
                <a:schemeClr val="dk1"/>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46" name="Shape 146"/>
        <p:cNvGrpSpPr/>
        <p:nvPr/>
      </p:nvGrpSpPr>
      <p:grpSpPr>
        <a:xfrm>
          <a:off x="0" y="0"/>
          <a:ext cx="0" cy="0"/>
          <a:chOff x="0" y="0"/>
          <a:chExt cx="0" cy="0"/>
        </a:xfrm>
      </p:grpSpPr>
      <p:pic>
        <p:nvPicPr>
          <p:cNvPr id="147" name="Google Shape;147;p21"/>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48" name="Google Shape;148;p21"/>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49" name="Google Shape;149;p21"/>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O Desafio Central: Definindo um Estado Global Consistente</a:t>
            </a:r>
            <a:endParaRPr b="1" sz="2240">
              <a:solidFill>
                <a:srgbClr val="111827"/>
              </a:solidFill>
              <a:latin typeface="Inter"/>
              <a:ea typeface="Inter"/>
              <a:cs typeface="Inter"/>
              <a:sym typeface="Inter"/>
            </a:endParaRPr>
          </a:p>
        </p:txBody>
      </p:sp>
      <p:grpSp>
        <p:nvGrpSpPr>
          <p:cNvPr id="150" name="Google Shape;150;p21"/>
          <p:cNvGrpSpPr/>
          <p:nvPr/>
        </p:nvGrpSpPr>
        <p:grpSpPr>
          <a:xfrm>
            <a:off x="457200" y="4762500"/>
            <a:ext cx="8229600" cy="304800"/>
            <a:chOff x="0" y="0"/>
            <a:chExt cx="8229600" cy="304800"/>
          </a:xfrm>
        </p:grpSpPr>
        <p:cxnSp>
          <p:nvCxnSpPr>
            <p:cNvPr id="151" name="Google Shape;151;p21"/>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52" name="Google Shape;152;p21"/>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53" name="Google Shape;153;p21"/>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154" name="Google Shape;154;p21"/>
          <p:cNvSpPr txBox="1"/>
          <p:nvPr/>
        </p:nvSpPr>
        <p:spPr>
          <a:xfrm>
            <a:off x="426300" y="1259975"/>
            <a:ext cx="8385600" cy="2282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Pois assim, conseguimos:</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accent1"/>
                </a:solidFill>
                <a:latin typeface="Inter"/>
                <a:ea typeface="Inter"/>
                <a:cs typeface="Inter"/>
                <a:sym typeface="Inter"/>
              </a:rPr>
              <a:t> </a:t>
            </a:r>
            <a:r>
              <a:rPr lang="en" sz="1600">
                <a:solidFill>
                  <a:schemeClr val="dk1"/>
                </a:solidFill>
                <a:latin typeface="Inter"/>
                <a:ea typeface="Inter"/>
                <a:cs typeface="Inter"/>
                <a:sym typeface="Inter"/>
              </a:rPr>
              <a:t>Detecção de Deadlocks </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Se nessa foto percebermos que existe uma relação de “A espera B, B espera C, C espera A”, podemos concluir que há um deadlock entre múltiplos processos.</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accent1"/>
                </a:solidFill>
                <a:latin typeface="Inter"/>
                <a:ea typeface="Inter"/>
                <a:cs typeface="Inter"/>
                <a:sym typeface="Inter"/>
              </a:rPr>
              <a:t> </a:t>
            </a:r>
            <a:r>
              <a:rPr lang="en" sz="1600">
                <a:solidFill>
                  <a:schemeClr val="dk1"/>
                </a:solidFill>
                <a:latin typeface="Inter"/>
                <a:ea typeface="Inter"/>
                <a:cs typeface="Inter"/>
                <a:sym typeface="Inter"/>
              </a:rPr>
              <a:t>Detecção de término </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Conseguimos saber se todos os processos estão realmente ociosos e de que não há mensagens voando na rede.</a:t>
            </a:r>
            <a:endParaRPr sz="1600">
              <a:solidFill>
                <a:schemeClr val="dk1"/>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58" name="Shape 158"/>
        <p:cNvGrpSpPr/>
        <p:nvPr/>
      </p:nvGrpSpPr>
      <p:grpSpPr>
        <a:xfrm>
          <a:off x="0" y="0"/>
          <a:ext cx="0" cy="0"/>
          <a:chOff x="0" y="0"/>
          <a:chExt cx="0" cy="0"/>
        </a:xfrm>
      </p:grpSpPr>
      <p:pic>
        <p:nvPicPr>
          <p:cNvPr id="159" name="Google Shape;159;p22"/>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60" name="Google Shape;160;p22"/>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61" name="Google Shape;161;p22"/>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O Desafio Central: Definindo um Estado Global Consistente</a:t>
            </a:r>
            <a:endParaRPr b="1" sz="2240">
              <a:solidFill>
                <a:srgbClr val="111827"/>
              </a:solidFill>
              <a:latin typeface="Inter"/>
              <a:ea typeface="Inter"/>
              <a:cs typeface="Inter"/>
              <a:sym typeface="Inter"/>
            </a:endParaRPr>
          </a:p>
        </p:txBody>
      </p:sp>
      <p:grpSp>
        <p:nvGrpSpPr>
          <p:cNvPr id="162" name="Google Shape;162;p22"/>
          <p:cNvGrpSpPr/>
          <p:nvPr/>
        </p:nvGrpSpPr>
        <p:grpSpPr>
          <a:xfrm>
            <a:off x="457200" y="4762500"/>
            <a:ext cx="8229600" cy="304800"/>
            <a:chOff x="0" y="0"/>
            <a:chExt cx="8229600" cy="304800"/>
          </a:xfrm>
        </p:grpSpPr>
        <p:cxnSp>
          <p:nvCxnSpPr>
            <p:cNvPr id="163" name="Google Shape;163;p22"/>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64" name="Google Shape;164;p22"/>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65" name="Google Shape;165;p22"/>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166" name="Google Shape;166;p22"/>
          <p:cNvSpPr txBox="1"/>
          <p:nvPr/>
        </p:nvSpPr>
        <p:spPr>
          <a:xfrm>
            <a:off x="426300" y="1259975"/>
            <a:ext cx="8385600" cy="2282100"/>
          </a:xfrm>
          <a:prstGeom prst="rect">
            <a:avLst/>
          </a:prstGeom>
          <a:noFill/>
          <a:ln>
            <a:noFill/>
          </a:ln>
        </p:spPr>
        <p:txBody>
          <a:bodyPr anchorCtr="0" anchor="t" bIns="0" lIns="0" spcFirstLastPara="1" rIns="0" wrap="square" tIns="0">
            <a:noAutofit/>
          </a:bodyPr>
          <a:lstStyle/>
          <a:p>
            <a:pPr indent="0" lvl="0" marL="0" rtl="0" algn="l">
              <a:spcBef>
                <a:spcPts val="0"/>
              </a:spcBef>
              <a:spcAft>
                <a:spcPts val="1200"/>
              </a:spcAft>
              <a:buNone/>
            </a:pPr>
            <a:r>
              <a:rPr b="1" lang="en" sz="1800">
                <a:solidFill>
                  <a:srgbClr val="111827"/>
                </a:solidFill>
                <a:latin typeface="Inter"/>
                <a:ea typeface="Inter"/>
                <a:cs typeface="Inter"/>
                <a:sym typeface="Inter"/>
              </a:rPr>
              <a:t>Por que isso é difícil?</a:t>
            </a:r>
            <a:endParaRPr sz="1600">
              <a:solidFill>
                <a:schemeClr val="dk1"/>
              </a:solidFill>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70" name="Shape 170"/>
        <p:cNvGrpSpPr/>
        <p:nvPr/>
      </p:nvGrpSpPr>
      <p:grpSpPr>
        <a:xfrm>
          <a:off x="0" y="0"/>
          <a:ext cx="0" cy="0"/>
          <a:chOff x="0" y="0"/>
          <a:chExt cx="0" cy="0"/>
        </a:xfrm>
      </p:grpSpPr>
      <p:pic>
        <p:nvPicPr>
          <p:cNvPr id="171" name="Google Shape;171;p2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72" name="Google Shape;172;p23"/>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73" name="Google Shape;173;p23"/>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O Desafio Central: Definindo um Estado Global Consistente</a:t>
            </a:r>
            <a:endParaRPr b="1" sz="2240">
              <a:solidFill>
                <a:srgbClr val="111827"/>
              </a:solidFill>
              <a:latin typeface="Inter"/>
              <a:ea typeface="Inter"/>
              <a:cs typeface="Inter"/>
              <a:sym typeface="Inter"/>
            </a:endParaRPr>
          </a:p>
        </p:txBody>
      </p:sp>
      <p:grpSp>
        <p:nvGrpSpPr>
          <p:cNvPr id="174" name="Google Shape;174;p23"/>
          <p:cNvGrpSpPr/>
          <p:nvPr/>
        </p:nvGrpSpPr>
        <p:grpSpPr>
          <a:xfrm>
            <a:off x="457200" y="4762500"/>
            <a:ext cx="8229600" cy="304800"/>
            <a:chOff x="0" y="0"/>
            <a:chExt cx="8229600" cy="304800"/>
          </a:xfrm>
        </p:grpSpPr>
        <p:cxnSp>
          <p:nvCxnSpPr>
            <p:cNvPr id="175" name="Google Shape;175;p23"/>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76" name="Google Shape;176;p23"/>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77" name="Google Shape;177;p23"/>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178" name="Google Shape;178;p23"/>
          <p:cNvSpPr txBox="1"/>
          <p:nvPr/>
        </p:nvSpPr>
        <p:spPr>
          <a:xfrm>
            <a:off x="426300" y="1259975"/>
            <a:ext cx="8385600" cy="2282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Por que isso é difícil?</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É impossível sincronizar todos os processos sob um relógio global</a:t>
            </a:r>
            <a:endParaRPr sz="1600">
              <a:solidFill>
                <a:schemeClr val="dk1"/>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82" name="Shape 182"/>
        <p:cNvGrpSpPr/>
        <p:nvPr/>
      </p:nvGrpSpPr>
      <p:grpSpPr>
        <a:xfrm>
          <a:off x="0" y="0"/>
          <a:ext cx="0" cy="0"/>
          <a:chOff x="0" y="0"/>
          <a:chExt cx="0" cy="0"/>
        </a:xfrm>
      </p:grpSpPr>
      <p:pic>
        <p:nvPicPr>
          <p:cNvPr id="183" name="Google Shape;183;p24"/>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84" name="Google Shape;184;p24"/>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85" name="Google Shape;185;p24"/>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O Desafio Central: Definindo um Estado Global Consistente</a:t>
            </a:r>
            <a:endParaRPr b="1" sz="2240">
              <a:solidFill>
                <a:srgbClr val="111827"/>
              </a:solidFill>
              <a:latin typeface="Inter"/>
              <a:ea typeface="Inter"/>
              <a:cs typeface="Inter"/>
              <a:sym typeface="Inter"/>
            </a:endParaRPr>
          </a:p>
        </p:txBody>
      </p:sp>
      <p:grpSp>
        <p:nvGrpSpPr>
          <p:cNvPr id="186" name="Google Shape;186;p24"/>
          <p:cNvGrpSpPr/>
          <p:nvPr/>
        </p:nvGrpSpPr>
        <p:grpSpPr>
          <a:xfrm>
            <a:off x="457200" y="4762500"/>
            <a:ext cx="8229600" cy="304800"/>
            <a:chOff x="0" y="0"/>
            <a:chExt cx="8229600" cy="304800"/>
          </a:xfrm>
        </p:grpSpPr>
        <p:cxnSp>
          <p:nvCxnSpPr>
            <p:cNvPr id="187" name="Google Shape;187;p24"/>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88" name="Google Shape;188;p24"/>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89" name="Google Shape;189;p24"/>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190" name="Google Shape;190;p24"/>
          <p:cNvSpPr txBox="1"/>
          <p:nvPr/>
        </p:nvSpPr>
        <p:spPr>
          <a:xfrm>
            <a:off x="426300" y="1259975"/>
            <a:ext cx="8385600" cy="2282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Por que isso é difícil?</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É impossível sincronizar todos os processos sob um relógio global</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Em uma máquina local, poderíamos fazer uma presunção de que todos os processos salvem seu estado com o clock do sistema. Em um sistema distribuido, isso não é possível.</a:t>
            </a:r>
            <a:endParaRPr sz="1600">
              <a:solidFill>
                <a:schemeClr val="dk1"/>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94" name="Shape 194"/>
        <p:cNvGrpSpPr/>
        <p:nvPr/>
      </p:nvGrpSpPr>
      <p:grpSpPr>
        <a:xfrm>
          <a:off x="0" y="0"/>
          <a:ext cx="0" cy="0"/>
          <a:chOff x="0" y="0"/>
          <a:chExt cx="0" cy="0"/>
        </a:xfrm>
      </p:grpSpPr>
      <p:pic>
        <p:nvPicPr>
          <p:cNvPr id="195" name="Google Shape;195;p2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96" name="Google Shape;196;p25"/>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97" name="Google Shape;197;p25"/>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O Desafio Central: Definindo um Estado Global Consistente</a:t>
            </a:r>
            <a:endParaRPr b="1" sz="2240">
              <a:solidFill>
                <a:srgbClr val="111827"/>
              </a:solidFill>
              <a:latin typeface="Inter"/>
              <a:ea typeface="Inter"/>
              <a:cs typeface="Inter"/>
              <a:sym typeface="Inter"/>
            </a:endParaRPr>
          </a:p>
        </p:txBody>
      </p:sp>
      <p:sp>
        <p:nvSpPr>
          <p:cNvPr id="198" name="Google Shape;198;p25"/>
          <p:cNvSpPr txBox="1"/>
          <p:nvPr/>
        </p:nvSpPr>
        <p:spPr>
          <a:xfrm>
            <a:off x="426300" y="1259975"/>
            <a:ext cx="8385600" cy="358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Por que isso é difícil?</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É impossível sincronizar todos os processos sob um relógio global</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Em uma máquina local, poderíamos fazer uma presunção de que todos os processos salvem seu </a:t>
            </a:r>
            <a:r>
              <a:rPr lang="en" sz="1600">
                <a:solidFill>
                  <a:schemeClr val="dk1"/>
                </a:solidFill>
                <a:latin typeface="Inter"/>
                <a:ea typeface="Inter"/>
                <a:cs typeface="Inter"/>
                <a:sym typeface="Inter"/>
              </a:rPr>
              <a:t>e</a:t>
            </a:r>
            <a:r>
              <a:rPr lang="en" sz="1600">
                <a:solidFill>
                  <a:schemeClr val="dk1"/>
                </a:solidFill>
                <a:latin typeface="Inter"/>
                <a:ea typeface="Inter"/>
                <a:cs typeface="Inter"/>
                <a:sym typeface="Inter"/>
              </a:rPr>
              <a:t>stado com o clock do sistema. Em um sistema distribuido, isso não é possível.</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Processos não possuem uma memória compartilhada</a:t>
            </a:r>
            <a:endParaRPr sz="1600">
              <a:solidFill>
                <a:schemeClr val="dk1"/>
              </a:solidFill>
              <a:latin typeface="Inter"/>
              <a:ea typeface="Inter"/>
              <a:cs typeface="Inter"/>
              <a:sym typeface="Inter"/>
            </a:endParaRPr>
          </a:p>
        </p:txBody>
      </p:sp>
      <p:grpSp>
        <p:nvGrpSpPr>
          <p:cNvPr id="199" name="Google Shape;199;p25"/>
          <p:cNvGrpSpPr/>
          <p:nvPr/>
        </p:nvGrpSpPr>
        <p:grpSpPr>
          <a:xfrm>
            <a:off x="457200" y="4762500"/>
            <a:ext cx="8229600" cy="304800"/>
            <a:chOff x="0" y="0"/>
            <a:chExt cx="8229600" cy="304800"/>
          </a:xfrm>
        </p:grpSpPr>
        <p:cxnSp>
          <p:nvCxnSpPr>
            <p:cNvPr id="200" name="Google Shape;200;p25"/>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201" name="Google Shape;201;p25"/>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202" name="Google Shape;202;p25"/>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206" name="Shape 206"/>
        <p:cNvGrpSpPr/>
        <p:nvPr/>
      </p:nvGrpSpPr>
      <p:grpSpPr>
        <a:xfrm>
          <a:off x="0" y="0"/>
          <a:ext cx="0" cy="0"/>
          <a:chOff x="0" y="0"/>
          <a:chExt cx="0" cy="0"/>
        </a:xfrm>
      </p:grpSpPr>
      <p:pic>
        <p:nvPicPr>
          <p:cNvPr id="207" name="Google Shape;207;p2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08" name="Google Shape;208;p26"/>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09" name="Google Shape;209;p26"/>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O Desafio Central: Definindo um Estado Global Consistente</a:t>
            </a:r>
            <a:endParaRPr b="1" sz="2240">
              <a:solidFill>
                <a:srgbClr val="111827"/>
              </a:solidFill>
              <a:latin typeface="Inter"/>
              <a:ea typeface="Inter"/>
              <a:cs typeface="Inter"/>
              <a:sym typeface="Inter"/>
            </a:endParaRPr>
          </a:p>
        </p:txBody>
      </p:sp>
      <p:grpSp>
        <p:nvGrpSpPr>
          <p:cNvPr id="210" name="Google Shape;210;p26"/>
          <p:cNvGrpSpPr/>
          <p:nvPr/>
        </p:nvGrpSpPr>
        <p:grpSpPr>
          <a:xfrm>
            <a:off x="457200" y="4762500"/>
            <a:ext cx="8229600" cy="304800"/>
            <a:chOff x="0" y="0"/>
            <a:chExt cx="8229600" cy="304800"/>
          </a:xfrm>
        </p:grpSpPr>
        <p:cxnSp>
          <p:nvCxnSpPr>
            <p:cNvPr id="211" name="Google Shape;211;p26"/>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212" name="Google Shape;212;p26"/>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213" name="Google Shape;213;p26"/>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214" name="Google Shape;214;p26"/>
          <p:cNvSpPr txBox="1"/>
          <p:nvPr/>
        </p:nvSpPr>
        <p:spPr>
          <a:xfrm>
            <a:off x="426300" y="1259975"/>
            <a:ext cx="8385600" cy="358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Por que isso é difícil?</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É impossível sincronizar todos os processos sob um relógio global</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Em uma máquina local, poderíamos fazer uma presunção de que todos os processos salvem seu estado com o clock do sistema. Em um sistema distribuido, isso não é possível.</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Processos não possuem uma memória compartilhada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Um processo não consegue simplesmente ler o estado dos outros e salvar o que vê, tudo acontece por troca de mensagens.</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218" name="Shape 218"/>
        <p:cNvGrpSpPr/>
        <p:nvPr/>
      </p:nvGrpSpPr>
      <p:grpSpPr>
        <a:xfrm>
          <a:off x="0" y="0"/>
          <a:ext cx="0" cy="0"/>
          <a:chOff x="0" y="0"/>
          <a:chExt cx="0" cy="0"/>
        </a:xfrm>
      </p:grpSpPr>
      <p:pic>
        <p:nvPicPr>
          <p:cNvPr id="219" name="Google Shape;219;p27"/>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20" name="Google Shape;220;p27"/>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21" name="Google Shape;221;p27"/>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O Desafio Central: Definindo um Estado Global Consistente</a:t>
            </a:r>
            <a:endParaRPr b="1" sz="2240">
              <a:solidFill>
                <a:srgbClr val="111827"/>
              </a:solidFill>
              <a:latin typeface="Inter"/>
              <a:ea typeface="Inter"/>
              <a:cs typeface="Inter"/>
              <a:sym typeface="Inter"/>
            </a:endParaRPr>
          </a:p>
        </p:txBody>
      </p:sp>
      <p:grpSp>
        <p:nvGrpSpPr>
          <p:cNvPr id="222" name="Google Shape;222;p27"/>
          <p:cNvGrpSpPr/>
          <p:nvPr/>
        </p:nvGrpSpPr>
        <p:grpSpPr>
          <a:xfrm>
            <a:off x="457200" y="4762500"/>
            <a:ext cx="8229600" cy="304800"/>
            <a:chOff x="0" y="0"/>
            <a:chExt cx="8229600" cy="304800"/>
          </a:xfrm>
        </p:grpSpPr>
        <p:cxnSp>
          <p:nvCxnSpPr>
            <p:cNvPr id="223" name="Google Shape;223;p27"/>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224" name="Google Shape;224;p27"/>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225" name="Google Shape;225;p27"/>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226" name="Google Shape;226;p27"/>
          <p:cNvSpPr txBox="1"/>
          <p:nvPr/>
        </p:nvSpPr>
        <p:spPr>
          <a:xfrm>
            <a:off x="426300" y="1259975"/>
            <a:ext cx="8385600" cy="358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Por que isso é difícil?</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É impossível sincronizar todos os processos sob um relógio global</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Em uma máquina local, poderíamos fazer uma presunção de que todos os processos salvem seu estado com o clock do sistema. Em um sistema distribuido, isso não é possível.</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Processos não possuem uma memória compartilhada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Um processo não consegue simplesmente ler o estado dos outros e salvar o que vê, tudo acontece por troca de mensagens.</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Atrasos e comunicação assíncrona</a:t>
            </a:r>
            <a:endParaRPr sz="1600">
              <a:solidFill>
                <a:schemeClr val="dk1"/>
              </a:solidFill>
              <a:latin typeface="Inter"/>
              <a:ea typeface="Inter"/>
              <a:cs typeface="Inter"/>
              <a:sym typeface="Int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230" name="Shape 230"/>
        <p:cNvGrpSpPr/>
        <p:nvPr/>
      </p:nvGrpSpPr>
      <p:grpSpPr>
        <a:xfrm>
          <a:off x="0" y="0"/>
          <a:ext cx="0" cy="0"/>
          <a:chOff x="0" y="0"/>
          <a:chExt cx="0" cy="0"/>
        </a:xfrm>
      </p:grpSpPr>
      <p:pic>
        <p:nvPicPr>
          <p:cNvPr id="231" name="Google Shape;231;p28"/>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32" name="Google Shape;232;p28"/>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3" name="Google Shape;233;p28"/>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O Desafio Central: Definindo um Estado Global Consistente</a:t>
            </a:r>
            <a:endParaRPr b="1" sz="2240">
              <a:solidFill>
                <a:srgbClr val="111827"/>
              </a:solidFill>
              <a:latin typeface="Inter"/>
              <a:ea typeface="Inter"/>
              <a:cs typeface="Inter"/>
              <a:sym typeface="Inter"/>
            </a:endParaRPr>
          </a:p>
        </p:txBody>
      </p:sp>
      <p:grpSp>
        <p:nvGrpSpPr>
          <p:cNvPr id="234" name="Google Shape;234;p28"/>
          <p:cNvGrpSpPr/>
          <p:nvPr/>
        </p:nvGrpSpPr>
        <p:grpSpPr>
          <a:xfrm>
            <a:off x="457200" y="4762500"/>
            <a:ext cx="8229600" cy="304800"/>
            <a:chOff x="0" y="0"/>
            <a:chExt cx="8229600" cy="304800"/>
          </a:xfrm>
        </p:grpSpPr>
        <p:cxnSp>
          <p:nvCxnSpPr>
            <p:cNvPr id="235" name="Google Shape;235;p28"/>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236" name="Google Shape;236;p28"/>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237" name="Google Shape;237;p28"/>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238" name="Google Shape;238;p28"/>
          <p:cNvSpPr txBox="1"/>
          <p:nvPr/>
        </p:nvSpPr>
        <p:spPr>
          <a:xfrm>
            <a:off x="426300" y="1259975"/>
            <a:ext cx="8385600" cy="358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Por que isso é difícil?</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É impossível sincronizar todos os processos sob um relógio global</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Em uma máquina local, poderíamos fazer uma presunção de que todos os processos salvem seu estado com o clock do sistema. Em um sistema distribuido, isso não é possível.</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Processos não possuem uma memória compartilhada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Um processo não consegue simplesmente ler o estado dos outros e salvar o que vê, tudo acontece por troca de mensagens.</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Atrasos e comunicação assíncrona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Comunicações via rede possuem atrasos inerentes, tentar iniciar um snapshot mandando um broadcast para os processos não é possível, pois não há garantia de que os processos irão receber a mensagem ao mesmo tempo.</a:t>
            </a:r>
            <a:endParaRPr sz="1600">
              <a:solidFill>
                <a:schemeClr val="dk1"/>
              </a:solidFill>
              <a:latin typeface="Inter"/>
              <a:ea typeface="Inter"/>
              <a:cs typeface="Inter"/>
              <a:sym typeface="Inte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242" name="Shape 242"/>
        <p:cNvGrpSpPr/>
        <p:nvPr/>
      </p:nvGrpSpPr>
      <p:grpSpPr>
        <a:xfrm>
          <a:off x="0" y="0"/>
          <a:ext cx="0" cy="0"/>
          <a:chOff x="0" y="0"/>
          <a:chExt cx="0" cy="0"/>
        </a:xfrm>
      </p:grpSpPr>
      <p:pic>
        <p:nvPicPr>
          <p:cNvPr id="243" name="Google Shape;243;p29"/>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44" name="Google Shape;244;p29"/>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5" name="Google Shape;245;p29"/>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246" name="Google Shape;246;p29"/>
          <p:cNvGrpSpPr/>
          <p:nvPr/>
        </p:nvGrpSpPr>
        <p:grpSpPr>
          <a:xfrm>
            <a:off x="457200" y="4762500"/>
            <a:ext cx="8229600" cy="304800"/>
            <a:chOff x="0" y="0"/>
            <a:chExt cx="8229600" cy="304800"/>
          </a:xfrm>
        </p:grpSpPr>
        <p:cxnSp>
          <p:nvCxnSpPr>
            <p:cNvPr id="247" name="Google Shape;247;p29"/>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248" name="Google Shape;248;p29"/>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249" name="Google Shape;249;p29"/>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250" name="Google Shape;250;p29"/>
          <p:cNvSpPr txBox="1"/>
          <p:nvPr/>
        </p:nvSpPr>
        <p:spPr>
          <a:xfrm>
            <a:off x="426300" y="1259975"/>
            <a:ext cx="8385600" cy="358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Algoritmo de Chandy-Lamport</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Proposto em 1985 por Kanianthra Mani Chandy e Leslie Lamport</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254" name="Shape 254"/>
        <p:cNvGrpSpPr/>
        <p:nvPr/>
      </p:nvGrpSpPr>
      <p:grpSpPr>
        <a:xfrm>
          <a:off x="0" y="0"/>
          <a:ext cx="0" cy="0"/>
          <a:chOff x="0" y="0"/>
          <a:chExt cx="0" cy="0"/>
        </a:xfrm>
      </p:grpSpPr>
      <p:pic>
        <p:nvPicPr>
          <p:cNvPr id="255" name="Google Shape;255;p30"/>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56" name="Google Shape;256;p30"/>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57" name="Google Shape;257;p30"/>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258" name="Google Shape;258;p30"/>
          <p:cNvGrpSpPr/>
          <p:nvPr/>
        </p:nvGrpSpPr>
        <p:grpSpPr>
          <a:xfrm>
            <a:off x="457200" y="4762500"/>
            <a:ext cx="8229600" cy="304800"/>
            <a:chOff x="0" y="0"/>
            <a:chExt cx="8229600" cy="304800"/>
          </a:xfrm>
        </p:grpSpPr>
        <p:cxnSp>
          <p:nvCxnSpPr>
            <p:cNvPr id="259" name="Google Shape;259;p30"/>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260" name="Google Shape;260;p30"/>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261" name="Google Shape;261;p30"/>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262" name="Google Shape;262;p30"/>
          <p:cNvSpPr txBox="1"/>
          <p:nvPr/>
        </p:nvSpPr>
        <p:spPr>
          <a:xfrm>
            <a:off x="426300" y="1259975"/>
            <a:ext cx="8385600" cy="358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Algoritmo de Chandy-Lamport</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Proposto em 1985 por Kanianthra Mani Chandy e Leslie Lamport</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Até então, se acreditava que a solução para capturar o estado global de um sistema envolvia um relógio global que congelasse o sistema de forma síncrona.</a:t>
            </a:r>
            <a:endParaRPr sz="1600">
              <a:solidFill>
                <a:schemeClr val="dk1"/>
              </a:solidFill>
              <a:latin typeface="Inter"/>
              <a:ea typeface="Inter"/>
              <a:cs typeface="Inter"/>
              <a:sym typeface="Inte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266" name="Shape 266"/>
        <p:cNvGrpSpPr/>
        <p:nvPr/>
      </p:nvGrpSpPr>
      <p:grpSpPr>
        <a:xfrm>
          <a:off x="0" y="0"/>
          <a:ext cx="0" cy="0"/>
          <a:chOff x="0" y="0"/>
          <a:chExt cx="0" cy="0"/>
        </a:xfrm>
      </p:grpSpPr>
      <p:pic>
        <p:nvPicPr>
          <p:cNvPr id="267" name="Google Shape;267;p31"/>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68" name="Google Shape;268;p31"/>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69" name="Google Shape;269;p31"/>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270" name="Google Shape;270;p31"/>
          <p:cNvGrpSpPr/>
          <p:nvPr/>
        </p:nvGrpSpPr>
        <p:grpSpPr>
          <a:xfrm>
            <a:off x="457200" y="4762500"/>
            <a:ext cx="8229600" cy="304800"/>
            <a:chOff x="0" y="0"/>
            <a:chExt cx="8229600" cy="304800"/>
          </a:xfrm>
        </p:grpSpPr>
        <p:cxnSp>
          <p:nvCxnSpPr>
            <p:cNvPr id="271" name="Google Shape;271;p31"/>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272" name="Google Shape;272;p31"/>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273" name="Google Shape;273;p31"/>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274" name="Google Shape;274;p31"/>
          <p:cNvSpPr txBox="1"/>
          <p:nvPr/>
        </p:nvSpPr>
        <p:spPr>
          <a:xfrm>
            <a:off x="426300" y="1259975"/>
            <a:ext cx="8385600" cy="358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Algoritmo de Chandy-Lamport</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Proposto em 1985 por Kanianthra Mani Chandy e Leslie Lamport</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Até então, se acreditava que a solução para capturar o estado global de um sistema envolvia um relógio global que congelasse o sistema de forma síncrona.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Chandy e Lamport provaram </a:t>
            </a:r>
            <a:r>
              <a:rPr lang="en" sz="1600">
                <a:solidFill>
                  <a:schemeClr val="dk1"/>
                </a:solidFill>
                <a:latin typeface="Inter"/>
                <a:ea typeface="Inter"/>
                <a:cs typeface="Inter"/>
                <a:sym typeface="Inter"/>
              </a:rPr>
              <a:t>matematicamente</a:t>
            </a:r>
            <a:r>
              <a:rPr lang="en" sz="1600">
                <a:solidFill>
                  <a:schemeClr val="dk1"/>
                </a:solidFill>
                <a:latin typeface="Inter"/>
                <a:ea typeface="Inter"/>
                <a:cs typeface="Inter"/>
                <a:sym typeface="Inter"/>
              </a:rPr>
              <a:t> que é possível capturar o estado global sem a necessidade de um relógio global ou de congelar o sistema como um todo.</a:t>
            </a:r>
            <a:endParaRPr sz="1600">
              <a:solidFill>
                <a:schemeClr val="dk1"/>
              </a:solidFill>
              <a:latin typeface="Inter"/>
              <a:ea typeface="Inter"/>
              <a:cs typeface="Inter"/>
              <a:sym typeface="Int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278" name="Shape 278"/>
        <p:cNvGrpSpPr/>
        <p:nvPr/>
      </p:nvGrpSpPr>
      <p:grpSpPr>
        <a:xfrm>
          <a:off x="0" y="0"/>
          <a:ext cx="0" cy="0"/>
          <a:chOff x="0" y="0"/>
          <a:chExt cx="0" cy="0"/>
        </a:xfrm>
      </p:grpSpPr>
      <p:pic>
        <p:nvPicPr>
          <p:cNvPr id="279" name="Google Shape;279;p32"/>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280" name="Google Shape;280;p32"/>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81" name="Google Shape;281;p32"/>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282" name="Google Shape;282;p32"/>
          <p:cNvGrpSpPr/>
          <p:nvPr/>
        </p:nvGrpSpPr>
        <p:grpSpPr>
          <a:xfrm>
            <a:off x="457200" y="4762500"/>
            <a:ext cx="8229600" cy="304800"/>
            <a:chOff x="0" y="0"/>
            <a:chExt cx="8229600" cy="304800"/>
          </a:xfrm>
        </p:grpSpPr>
        <p:cxnSp>
          <p:nvCxnSpPr>
            <p:cNvPr id="283" name="Google Shape;283;p32"/>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284" name="Google Shape;284;p32"/>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285" name="Google Shape;285;p32"/>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286" name="Google Shape;286;p32"/>
          <p:cNvSpPr txBox="1"/>
          <p:nvPr/>
        </p:nvSpPr>
        <p:spPr>
          <a:xfrm>
            <a:off x="426300" y="1259975"/>
            <a:ext cx="8385600" cy="358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As regras do jogo (Suposições do modelo)</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O Algoritmo não funciona sob todos os cenários, certas suposições são necessárias para garantir a corretude do algoritmo</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290" name="Shape 290"/>
        <p:cNvGrpSpPr/>
        <p:nvPr/>
      </p:nvGrpSpPr>
      <p:grpSpPr>
        <a:xfrm>
          <a:off x="0" y="0"/>
          <a:ext cx="0" cy="0"/>
          <a:chOff x="0" y="0"/>
          <a:chExt cx="0" cy="0"/>
        </a:xfrm>
      </p:grpSpPr>
      <p:pic>
        <p:nvPicPr>
          <p:cNvPr id="291" name="Google Shape;291;p33"/>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292" name="Google Shape;292;p33"/>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93" name="Google Shape;293;p33"/>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294" name="Google Shape;294;p33"/>
          <p:cNvGrpSpPr/>
          <p:nvPr/>
        </p:nvGrpSpPr>
        <p:grpSpPr>
          <a:xfrm>
            <a:off x="457200" y="4762500"/>
            <a:ext cx="8229600" cy="304800"/>
            <a:chOff x="0" y="0"/>
            <a:chExt cx="8229600" cy="304800"/>
          </a:xfrm>
        </p:grpSpPr>
        <p:cxnSp>
          <p:nvCxnSpPr>
            <p:cNvPr id="295" name="Google Shape;295;p33"/>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296" name="Google Shape;296;p33"/>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297" name="Google Shape;297;p33"/>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298" name="Google Shape;298;p33"/>
          <p:cNvSpPr txBox="1"/>
          <p:nvPr/>
        </p:nvSpPr>
        <p:spPr>
          <a:xfrm>
            <a:off x="426300" y="1259975"/>
            <a:ext cx="8385600" cy="358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As regras do jogo (Suposições do modelo)</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O Algoritmo não funciona sob todos os cenários, certas suposições são necessárias para garantir a corretude do algoritmo</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Suposições Fortes:</a:t>
            </a:r>
            <a:endParaRPr sz="1600">
              <a:solidFill>
                <a:schemeClr val="accent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Canais confiáveis -&gt; Nenhuma mensagem é perdida, corrompida ou duplicada.</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302" name="Shape 302"/>
        <p:cNvGrpSpPr/>
        <p:nvPr/>
      </p:nvGrpSpPr>
      <p:grpSpPr>
        <a:xfrm>
          <a:off x="0" y="0"/>
          <a:ext cx="0" cy="0"/>
          <a:chOff x="0" y="0"/>
          <a:chExt cx="0" cy="0"/>
        </a:xfrm>
      </p:grpSpPr>
      <p:pic>
        <p:nvPicPr>
          <p:cNvPr id="303" name="Google Shape;303;p34"/>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304" name="Google Shape;304;p34"/>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05" name="Google Shape;305;p34"/>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306" name="Google Shape;306;p34"/>
          <p:cNvGrpSpPr/>
          <p:nvPr/>
        </p:nvGrpSpPr>
        <p:grpSpPr>
          <a:xfrm>
            <a:off x="457200" y="4762500"/>
            <a:ext cx="8229600" cy="304800"/>
            <a:chOff x="0" y="0"/>
            <a:chExt cx="8229600" cy="304800"/>
          </a:xfrm>
        </p:grpSpPr>
        <p:cxnSp>
          <p:nvCxnSpPr>
            <p:cNvPr id="307" name="Google Shape;307;p34"/>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308" name="Google Shape;308;p34"/>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309" name="Google Shape;309;p34"/>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310" name="Google Shape;310;p34"/>
          <p:cNvSpPr txBox="1"/>
          <p:nvPr/>
        </p:nvSpPr>
        <p:spPr>
          <a:xfrm>
            <a:off x="426300" y="1259975"/>
            <a:ext cx="8385600" cy="358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As regras do jogo (Suposições do modelo)</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O Algoritmo não funciona sob todos os cenários, certas suposições são necessárias para garantir a corretude do algoritmo</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Suposições Fortes:</a:t>
            </a:r>
            <a:endParaRPr sz="1600">
              <a:solidFill>
                <a:schemeClr val="accent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Canais confiáveis -&gt; Nenhuma mensagem é perdida, corrompida ou duplicada.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Canais FIFO -&gt; As mensagens chegam na exata ordem em que são mandadas</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314" name="Shape 314"/>
        <p:cNvGrpSpPr/>
        <p:nvPr/>
      </p:nvGrpSpPr>
      <p:grpSpPr>
        <a:xfrm>
          <a:off x="0" y="0"/>
          <a:ext cx="0" cy="0"/>
          <a:chOff x="0" y="0"/>
          <a:chExt cx="0" cy="0"/>
        </a:xfrm>
      </p:grpSpPr>
      <p:pic>
        <p:nvPicPr>
          <p:cNvPr id="315" name="Google Shape;315;p35"/>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316" name="Google Shape;316;p35"/>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17" name="Google Shape;317;p35"/>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318" name="Google Shape;318;p35"/>
          <p:cNvGrpSpPr/>
          <p:nvPr/>
        </p:nvGrpSpPr>
        <p:grpSpPr>
          <a:xfrm>
            <a:off x="457200" y="4762500"/>
            <a:ext cx="8229600" cy="304800"/>
            <a:chOff x="0" y="0"/>
            <a:chExt cx="8229600" cy="304800"/>
          </a:xfrm>
        </p:grpSpPr>
        <p:cxnSp>
          <p:nvCxnSpPr>
            <p:cNvPr id="319" name="Google Shape;319;p35"/>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320" name="Google Shape;320;p35"/>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321" name="Google Shape;321;p35"/>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322" name="Google Shape;322;p35"/>
          <p:cNvSpPr txBox="1"/>
          <p:nvPr/>
        </p:nvSpPr>
        <p:spPr>
          <a:xfrm>
            <a:off x="426300" y="1259975"/>
            <a:ext cx="8385600" cy="358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As regras do jogo (Suposições do modelo)</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O Algoritmo não funciona sob todos os cenários, certas suposições são necessárias para garantir a corretude do algoritmo</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Suposições Fortes:</a:t>
            </a:r>
            <a:endParaRPr sz="1600">
              <a:solidFill>
                <a:schemeClr val="accent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Canais confiáveis -&gt; Nenhuma mensagem é perdida, corrompida ou duplicada.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Canais FIFO -&gt; As mensagens chegam na exata ordem em que são mandadas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Ausência de falhas -&gt; Nenhum processo falha durante o snapshot</a:t>
            </a:r>
            <a:endParaRPr sz="1600">
              <a:solidFill>
                <a:schemeClr val="dk1"/>
              </a:solidFill>
              <a:latin typeface="Inter"/>
              <a:ea typeface="Inter"/>
              <a:cs typeface="Inter"/>
              <a:sym typeface="Inter"/>
            </a:endParaRPr>
          </a:p>
          <a:p>
            <a:pPr indent="0" lvl="0" marL="0" rtl="0" algn="l">
              <a:spcBef>
                <a:spcPts val="1200"/>
              </a:spcBef>
              <a:spcAft>
                <a:spcPts val="0"/>
              </a:spcAft>
              <a:buNone/>
            </a:pPr>
            <a:r>
              <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326" name="Shape 326"/>
        <p:cNvGrpSpPr/>
        <p:nvPr/>
      </p:nvGrpSpPr>
      <p:grpSpPr>
        <a:xfrm>
          <a:off x="0" y="0"/>
          <a:ext cx="0" cy="0"/>
          <a:chOff x="0" y="0"/>
          <a:chExt cx="0" cy="0"/>
        </a:xfrm>
      </p:grpSpPr>
      <p:pic>
        <p:nvPicPr>
          <p:cNvPr id="327" name="Google Shape;327;p36"/>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328" name="Google Shape;328;p36"/>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29" name="Google Shape;329;p36"/>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330" name="Google Shape;330;p36"/>
          <p:cNvGrpSpPr/>
          <p:nvPr/>
        </p:nvGrpSpPr>
        <p:grpSpPr>
          <a:xfrm>
            <a:off x="457200" y="4762500"/>
            <a:ext cx="8229600" cy="304800"/>
            <a:chOff x="0" y="0"/>
            <a:chExt cx="8229600" cy="304800"/>
          </a:xfrm>
        </p:grpSpPr>
        <p:cxnSp>
          <p:nvCxnSpPr>
            <p:cNvPr id="331" name="Google Shape;331;p36"/>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332" name="Google Shape;332;p36"/>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333" name="Google Shape;333;p36"/>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334" name="Google Shape;334;p36"/>
          <p:cNvSpPr txBox="1"/>
          <p:nvPr/>
        </p:nvSpPr>
        <p:spPr>
          <a:xfrm>
            <a:off x="426300" y="1259975"/>
            <a:ext cx="8385600" cy="358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As regras do jogo (Suposições do modelo)</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O Algoritmo não funciona sob todos os cenários, certas suposições são necessárias para garantir a corretude do algoritmo</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Suposições Fortes:</a:t>
            </a:r>
            <a:endParaRPr sz="1600">
              <a:solidFill>
                <a:schemeClr val="accent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Canais confiáveis -&gt; Nenhuma mensagem é perdida, corrompida ou duplicada.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Canais FIFO -&gt; As mensagens chegam na exata ordem em que são mandadas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Ausência de falhas -&gt; Nenhum processo falha durante o snapshot</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Topologia -&gt; Os processos formam um grafo fortemente conexo</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338" name="Shape 338"/>
        <p:cNvGrpSpPr/>
        <p:nvPr/>
      </p:nvGrpSpPr>
      <p:grpSpPr>
        <a:xfrm>
          <a:off x="0" y="0"/>
          <a:ext cx="0" cy="0"/>
          <a:chOff x="0" y="0"/>
          <a:chExt cx="0" cy="0"/>
        </a:xfrm>
      </p:grpSpPr>
      <p:pic>
        <p:nvPicPr>
          <p:cNvPr id="339" name="Google Shape;339;p37"/>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340" name="Google Shape;340;p37"/>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41" name="Google Shape;341;p37"/>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342" name="Google Shape;342;p37"/>
          <p:cNvGrpSpPr/>
          <p:nvPr/>
        </p:nvGrpSpPr>
        <p:grpSpPr>
          <a:xfrm>
            <a:off x="457200" y="4762500"/>
            <a:ext cx="8229600" cy="304800"/>
            <a:chOff x="0" y="0"/>
            <a:chExt cx="8229600" cy="304800"/>
          </a:xfrm>
        </p:grpSpPr>
        <p:cxnSp>
          <p:nvCxnSpPr>
            <p:cNvPr id="343" name="Google Shape;343;p37"/>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344" name="Google Shape;344;p37"/>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345" name="Google Shape;345;p37"/>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346" name="Google Shape;346;p37"/>
          <p:cNvSpPr txBox="1"/>
          <p:nvPr/>
        </p:nvSpPr>
        <p:spPr>
          <a:xfrm>
            <a:off x="442078" y="1259975"/>
            <a:ext cx="8385600" cy="358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As regras do jogo (Suposições do modelo)</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O Algoritmo não funciona sob todos os cenários, certas suposições são necessárias para garantir a corretude do algoritmo</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Suposições Fortes:</a:t>
            </a:r>
            <a:endParaRPr sz="1600">
              <a:solidFill>
                <a:schemeClr val="accent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Canais confiáveis -&gt; Nenhuma mensagem é perdida, corrompida ou duplicada.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Canais FIFO -&gt; As mensagens chegam na exata ordem em que são mandadas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Ausência de falhas -&gt; Nenhum processo falha durante o snapshot</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Topologia -&gt; Os processos formam um grafo fortemente conexo</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Suposições Fracas: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Totalmente assíncrono -&gt; Não exige limite de tempo para processamento, atraso de mensagens ou relógios sincronizados.</a:t>
            </a:r>
            <a:endParaRPr sz="1600">
              <a:solidFill>
                <a:schemeClr val="accent1"/>
              </a:solidFill>
              <a:latin typeface="Inter"/>
              <a:ea typeface="Inter"/>
              <a:cs typeface="Inter"/>
              <a:sym typeface="Inter"/>
            </a:endParaRPr>
          </a:p>
          <a:p>
            <a:pPr indent="0" lvl="0" marL="0" rtl="0" algn="l">
              <a:spcBef>
                <a:spcPts val="1200"/>
              </a:spcBef>
              <a:spcAft>
                <a:spcPts val="0"/>
              </a:spcAft>
              <a:buNone/>
            </a:pPr>
            <a:r>
              <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350" name="Shape 350"/>
        <p:cNvGrpSpPr/>
        <p:nvPr/>
      </p:nvGrpSpPr>
      <p:grpSpPr>
        <a:xfrm>
          <a:off x="0" y="0"/>
          <a:ext cx="0" cy="0"/>
          <a:chOff x="0" y="0"/>
          <a:chExt cx="0" cy="0"/>
        </a:xfrm>
      </p:grpSpPr>
      <p:pic>
        <p:nvPicPr>
          <p:cNvPr id="351" name="Google Shape;351;p38"/>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352" name="Google Shape;352;p38"/>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53" name="Google Shape;353;p38"/>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354" name="Google Shape;354;p38"/>
          <p:cNvGrpSpPr/>
          <p:nvPr/>
        </p:nvGrpSpPr>
        <p:grpSpPr>
          <a:xfrm>
            <a:off x="457200" y="4762500"/>
            <a:ext cx="8229600" cy="304800"/>
            <a:chOff x="0" y="0"/>
            <a:chExt cx="8229600" cy="304800"/>
          </a:xfrm>
        </p:grpSpPr>
        <p:cxnSp>
          <p:nvCxnSpPr>
            <p:cNvPr id="355" name="Google Shape;355;p38"/>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356" name="Google Shape;356;p38"/>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357" name="Google Shape;357;p38"/>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358" name="Google Shape;358;p38"/>
          <p:cNvSpPr txBox="1"/>
          <p:nvPr/>
        </p:nvSpPr>
        <p:spPr>
          <a:xfrm>
            <a:off x="426300" y="1259975"/>
            <a:ext cx="8385600" cy="3583800"/>
          </a:xfrm>
          <a:prstGeom prst="rect">
            <a:avLst/>
          </a:prstGeom>
          <a:noFill/>
          <a:ln>
            <a:noFill/>
          </a:ln>
        </p:spPr>
        <p:txBody>
          <a:bodyPr anchorCtr="0" anchor="t" bIns="0" lIns="0" spcFirstLastPara="1" rIns="0" wrap="square" tIns="0">
            <a:noAutofit/>
          </a:bodyPr>
          <a:lstStyle/>
          <a:p>
            <a:pPr indent="-342900" lvl="0" marL="457200" rtl="0" algn="l">
              <a:spcBef>
                <a:spcPts val="0"/>
              </a:spcBef>
              <a:spcAft>
                <a:spcPts val="0"/>
              </a:spcAft>
              <a:buClr>
                <a:schemeClr val="accent1"/>
              </a:buClr>
              <a:buSzPts val="1800"/>
              <a:buFont typeface="Inter"/>
              <a:buChar char="●"/>
            </a:pPr>
            <a:r>
              <a:rPr b="1" lang="en" sz="1800">
                <a:solidFill>
                  <a:srgbClr val="111827"/>
                </a:solidFill>
                <a:latin typeface="Inter"/>
                <a:ea typeface="Inter"/>
                <a:cs typeface="Inter"/>
                <a:sym typeface="Inter"/>
              </a:rPr>
              <a:t>Marcador (Marker):</a:t>
            </a:r>
            <a:endParaRPr sz="1800">
              <a:solidFill>
                <a:srgbClr val="111827"/>
              </a:solidFill>
              <a:latin typeface="Inter"/>
              <a:ea typeface="Inter"/>
              <a:cs typeface="Inter"/>
              <a:sym typeface="Inter"/>
            </a:endParaRPr>
          </a:p>
          <a:p>
            <a:pPr indent="0" lvl="0" marL="0" rtl="0" algn="l">
              <a:spcBef>
                <a:spcPts val="1200"/>
              </a:spcBef>
              <a:spcAft>
                <a:spcPts val="1200"/>
              </a:spcAft>
              <a:buNone/>
            </a:pPr>
            <a:r>
              <a:t/>
            </a:r>
            <a:endParaRPr sz="1600">
              <a:solidFill>
                <a:schemeClr val="accent1"/>
              </a:solidFill>
              <a:latin typeface="Inter"/>
              <a:ea typeface="Inter"/>
              <a:cs typeface="Inter"/>
              <a:sym typeface="Inte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362" name="Shape 362"/>
        <p:cNvGrpSpPr/>
        <p:nvPr/>
      </p:nvGrpSpPr>
      <p:grpSpPr>
        <a:xfrm>
          <a:off x="0" y="0"/>
          <a:ext cx="0" cy="0"/>
          <a:chOff x="0" y="0"/>
          <a:chExt cx="0" cy="0"/>
        </a:xfrm>
      </p:grpSpPr>
      <p:pic>
        <p:nvPicPr>
          <p:cNvPr id="363" name="Google Shape;363;p39"/>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364" name="Google Shape;364;p39"/>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65" name="Google Shape;365;p39"/>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366" name="Google Shape;366;p39"/>
          <p:cNvGrpSpPr/>
          <p:nvPr/>
        </p:nvGrpSpPr>
        <p:grpSpPr>
          <a:xfrm>
            <a:off x="457200" y="4762500"/>
            <a:ext cx="8229600" cy="304800"/>
            <a:chOff x="0" y="0"/>
            <a:chExt cx="8229600" cy="304800"/>
          </a:xfrm>
        </p:grpSpPr>
        <p:cxnSp>
          <p:nvCxnSpPr>
            <p:cNvPr id="367" name="Google Shape;367;p39"/>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368" name="Google Shape;368;p39"/>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369" name="Google Shape;369;p39"/>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370" name="Google Shape;370;p39"/>
          <p:cNvSpPr txBox="1"/>
          <p:nvPr/>
        </p:nvSpPr>
        <p:spPr>
          <a:xfrm>
            <a:off x="426300" y="1259975"/>
            <a:ext cx="8385600" cy="35838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Marcador (Marker):</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 marcador é o coração do algoritmo</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accent1"/>
              </a:solidFill>
              <a:latin typeface="Inter"/>
              <a:ea typeface="Inter"/>
              <a:cs typeface="Inter"/>
              <a:sym typeface="Inte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374" name="Shape 374"/>
        <p:cNvGrpSpPr/>
        <p:nvPr/>
      </p:nvGrpSpPr>
      <p:grpSpPr>
        <a:xfrm>
          <a:off x="0" y="0"/>
          <a:ext cx="0" cy="0"/>
          <a:chOff x="0" y="0"/>
          <a:chExt cx="0" cy="0"/>
        </a:xfrm>
      </p:grpSpPr>
      <p:pic>
        <p:nvPicPr>
          <p:cNvPr id="375" name="Google Shape;375;p40"/>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376" name="Google Shape;376;p40"/>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77" name="Google Shape;377;p40"/>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378" name="Google Shape;378;p40"/>
          <p:cNvGrpSpPr/>
          <p:nvPr/>
        </p:nvGrpSpPr>
        <p:grpSpPr>
          <a:xfrm>
            <a:off x="457200" y="4762500"/>
            <a:ext cx="8229600" cy="304800"/>
            <a:chOff x="0" y="0"/>
            <a:chExt cx="8229600" cy="304800"/>
          </a:xfrm>
        </p:grpSpPr>
        <p:cxnSp>
          <p:nvCxnSpPr>
            <p:cNvPr id="379" name="Google Shape;379;p40"/>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380" name="Google Shape;380;p40"/>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381" name="Google Shape;381;p40"/>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382" name="Google Shape;382;p40"/>
          <p:cNvSpPr txBox="1"/>
          <p:nvPr/>
        </p:nvSpPr>
        <p:spPr>
          <a:xfrm>
            <a:off x="426300" y="1259975"/>
            <a:ext cx="8385600" cy="35838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Marcador (Marker):</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 marcador é o coração do algoritmo</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Se trata de uma mensagem de controle enviada para os processos, chega no mesmo canal que uma mensagem qualquer.</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accent1"/>
              </a:solidFill>
              <a:latin typeface="Inter"/>
              <a:ea typeface="Inter"/>
              <a:cs typeface="Inter"/>
              <a:sym typeface="Inte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386" name="Shape 386"/>
        <p:cNvGrpSpPr/>
        <p:nvPr/>
      </p:nvGrpSpPr>
      <p:grpSpPr>
        <a:xfrm>
          <a:off x="0" y="0"/>
          <a:ext cx="0" cy="0"/>
          <a:chOff x="0" y="0"/>
          <a:chExt cx="0" cy="0"/>
        </a:xfrm>
      </p:grpSpPr>
      <p:pic>
        <p:nvPicPr>
          <p:cNvPr id="387" name="Google Shape;387;p41"/>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388" name="Google Shape;388;p41"/>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89" name="Google Shape;389;p41"/>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390" name="Google Shape;390;p41"/>
          <p:cNvGrpSpPr/>
          <p:nvPr/>
        </p:nvGrpSpPr>
        <p:grpSpPr>
          <a:xfrm>
            <a:off x="457200" y="4762500"/>
            <a:ext cx="8229600" cy="304800"/>
            <a:chOff x="0" y="0"/>
            <a:chExt cx="8229600" cy="304800"/>
          </a:xfrm>
        </p:grpSpPr>
        <p:cxnSp>
          <p:nvCxnSpPr>
            <p:cNvPr id="391" name="Google Shape;391;p41"/>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392" name="Google Shape;392;p41"/>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393" name="Google Shape;393;p41"/>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394" name="Google Shape;394;p41"/>
          <p:cNvSpPr txBox="1"/>
          <p:nvPr/>
        </p:nvSpPr>
        <p:spPr>
          <a:xfrm>
            <a:off x="426300" y="1259975"/>
            <a:ext cx="8385600" cy="35838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Marcador (Marker):</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 marcador é o coração do algoritmo</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Se trata de uma mensagem de controle enviada para os processos, chega no mesmo canal que uma mensagem qualquer.</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Ela marca o início do snapshot em um nó qualquer.</a:t>
            </a:r>
            <a:endParaRPr sz="1600">
              <a:solidFill>
                <a:schemeClr val="dk1"/>
              </a:solidFill>
              <a:latin typeface="Inter"/>
              <a:ea typeface="Inter"/>
              <a:cs typeface="Inter"/>
              <a:sym typeface="Inter"/>
            </a:endParaRPr>
          </a:p>
          <a:p>
            <a:pPr indent="0" lvl="0" marL="0" rtl="0" algn="l">
              <a:spcBef>
                <a:spcPts val="1200"/>
              </a:spcBef>
              <a:spcAft>
                <a:spcPts val="0"/>
              </a:spcAft>
              <a:buNone/>
            </a:pPr>
            <a:r>
              <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accent1"/>
              </a:solidFill>
              <a:latin typeface="Inter"/>
              <a:ea typeface="Inter"/>
              <a:cs typeface="Inter"/>
              <a:sym typeface="Inte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398" name="Shape 398"/>
        <p:cNvGrpSpPr/>
        <p:nvPr/>
      </p:nvGrpSpPr>
      <p:grpSpPr>
        <a:xfrm>
          <a:off x="0" y="0"/>
          <a:ext cx="0" cy="0"/>
          <a:chOff x="0" y="0"/>
          <a:chExt cx="0" cy="0"/>
        </a:xfrm>
      </p:grpSpPr>
      <p:pic>
        <p:nvPicPr>
          <p:cNvPr id="399" name="Google Shape;399;p42"/>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400" name="Google Shape;400;p42"/>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01" name="Google Shape;401;p42"/>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402" name="Google Shape;402;p42"/>
          <p:cNvGrpSpPr/>
          <p:nvPr/>
        </p:nvGrpSpPr>
        <p:grpSpPr>
          <a:xfrm>
            <a:off x="457200" y="4762500"/>
            <a:ext cx="8229600" cy="304800"/>
            <a:chOff x="0" y="0"/>
            <a:chExt cx="8229600" cy="304800"/>
          </a:xfrm>
        </p:grpSpPr>
        <p:cxnSp>
          <p:nvCxnSpPr>
            <p:cNvPr id="403" name="Google Shape;403;p42"/>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404" name="Google Shape;404;p42"/>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405" name="Google Shape;405;p42"/>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406" name="Google Shape;406;p42"/>
          <p:cNvSpPr txBox="1"/>
          <p:nvPr/>
        </p:nvSpPr>
        <p:spPr>
          <a:xfrm>
            <a:off x="426300" y="1259975"/>
            <a:ext cx="8385600" cy="15486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Início do Snapshot (Nó inicializador)</a:t>
            </a:r>
            <a:endParaRPr sz="1600">
              <a:solidFill>
                <a:schemeClr val="dk1"/>
              </a:solidFill>
              <a:latin typeface="Inter"/>
              <a:ea typeface="Inter"/>
              <a:cs typeface="Inter"/>
              <a:sym typeface="Inter"/>
            </a:endParaRPr>
          </a:p>
          <a:p>
            <a:pPr indent="0" lvl="0" marL="914400" rtl="0" algn="l">
              <a:spcBef>
                <a:spcPts val="1200"/>
              </a:spcBef>
              <a:spcAft>
                <a:spcPts val="1200"/>
              </a:spcAft>
              <a:buNone/>
            </a:pPr>
            <a:r>
              <a:t/>
            </a:r>
            <a:endParaRPr sz="1600">
              <a:solidFill>
                <a:schemeClr val="accent1"/>
              </a:solidFill>
              <a:latin typeface="Inter"/>
              <a:ea typeface="Inter"/>
              <a:cs typeface="Inter"/>
              <a:sym typeface="Inte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410" name="Shape 410"/>
        <p:cNvGrpSpPr/>
        <p:nvPr/>
      </p:nvGrpSpPr>
      <p:grpSpPr>
        <a:xfrm>
          <a:off x="0" y="0"/>
          <a:ext cx="0" cy="0"/>
          <a:chOff x="0" y="0"/>
          <a:chExt cx="0" cy="0"/>
        </a:xfrm>
      </p:grpSpPr>
      <p:pic>
        <p:nvPicPr>
          <p:cNvPr id="411" name="Google Shape;411;p43"/>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412" name="Google Shape;412;p43"/>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13" name="Google Shape;413;p43"/>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414" name="Google Shape;414;p43"/>
          <p:cNvGrpSpPr/>
          <p:nvPr/>
        </p:nvGrpSpPr>
        <p:grpSpPr>
          <a:xfrm>
            <a:off x="457200" y="4762500"/>
            <a:ext cx="8229600" cy="304800"/>
            <a:chOff x="0" y="0"/>
            <a:chExt cx="8229600" cy="304800"/>
          </a:xfrm>
        </p:grpSpPr>
        <p:cxnSp>
          <p:nvCxnSpPr>
            <p:cNvPr id="415" name="Google Shape;415;p43"/>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416" name="Google Shape;416;p43"/>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417" name="Google Shape;417;p43"/>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418" name="Google Shape;418;p43"/>
          <p:cNvSpPr txBox="1"/>
          <p:nvPr/>
        </p:nvSpPr>
        <p:spPr>
          <a:xfrm>
            <a:off x="426300" y="1259975"/>
            <a:ext cx="8385600" cy="15486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Início do Snapshot (Nó inicializador)</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Qualquer nó pode iniciar o snapshot (Por conta de ser um GFC).</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accent1"/>
              </a:solidFill>
              <a:latin typeface="Inter"/>
              <a:ea typeface="Inter"/>
              <a:cs typeface="Inter"/>
              <a:sym typeface="Inte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422" name="Shape 422"/>
        <p:cNvGrpSpPr/>
        <p:nvPr/>
      </p:nvGrpSpPr>
      <p:grpSpPr>
        <a:xfrm>
          <a:off x="0" y="0"/>
          <a:ext cx="0" cy="0"/>
          <a:chOff x="0" y="0"/>
          <a:chExt cx="0" cy="0"/>
        </a:xfrm>
      </p:grpSpPr>
      <p:pic>
        <p:nvPicPr>
          <p:cNvPr id="423" name="Google Shape;423;p44"/>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424" name="Google Shape;424;p44"/>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25" name="Google Shape;425;p44"/>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426" name="Google Shape;426;p44"/>
          <p:cNvGrpSpPr/>
          <p:nvPr/>
        </p:nvGrpSpPr>
        <p:grpSpPr>
          <a:xfrm>
            <a:off x="457200" y="4762500"/>
            <a:ext cx="8229600" cy="304800"/>
            <a:chOff x="0" y="0"/>
            <a:chExt cx="8229600" cy="304800"/>
          </a:xfrm>
        </p:grpSpPr>
        <p:cxnSp>
          <p:nvCxnSpPr>
            <p:cNvPr id="427" name="Google Shape;427;p44"/>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428" name="Google Shape;428;p44"/>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429" name="Google Shape;429;p44"/>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430" name="Google Shape;430;p44"/>
          <p:cNvSpPr txBox="1"/>
          <p:nvPr/>
        </p:nvSpPr>
        <p:spPr>
          <a:xfrm>
            <a:off x="426300" y="1259975"/>
            <a:ext cx="8385600" cy="15486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Início do Snapshot (Nó inicializador)</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Qualquer nó pode iniciar o snapshot (Por conta de ser um GFC).</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Ao começar um snapshot, o nó:</a:t>
            </a:r>
            <a:endParaRPr sz="1600">
              <a:solidFill>
                <a:schemeClr val="accent1"/>
              </a:solidFill>
              <a:latin typeface="Inter"/>
              <a:ea typeface="Inter"/>
              <a:cs typeface="Inter"/>
              <a:sym typeface="Inter"/>
            </a:endParaRPr>
          </a:p>
          <a:p>
            <a:pPr indent="-330200" lvl="2" marL="13716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Salva seu estado local.</a:t>
            </a:r>
            <a:endParaRPr sz="1600">
              <a:solidFill>
                <a:schemeClr val="dk1"/>
              </a:solidFill>
              <a:latin typeface="Inter"/>
              <a:ea typeface="Inter"/>
              <a:cs typeface="Inter"/>
              <a:sym typeface="Inter"/>
            </a:endParaRPr>
          </a:p>
          <a:p>
            <a:pPr indent="0" lvl="0" marL="1371600" rtl="0" algn="l">
              <a:spcBef>
                <a:spcPts val="1200"/>
              </a:spcBef>
              <a:spcAft>
                <a:spcPts val="1200"/>
              </a:spcAft>
              <a:buNone/>
            </a:pPr>
            <a:r>
              <a:t/>
            </a:r>
            <a:endParaRPr sz="1600">
              <a:solidFill>
                <a:schemeClr val="accent1"/>
              </a:solidFill>
              <a:latin typeface="Inter"/>
              <a:ea typeface="Inter"/>
              <a:cs typeface="Inter"/>
              <a:sym typeface="Inte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434" name="Shape 434"/>
        <p:cNvGrpSpPr/>
        <p:nvPr/>
      </p:nvGrpSpPr>
      <p:grpSpPr>
        <a:xfrm>
          <a:off x="0" y="0"/>
          <a:ext cx="0" cy="0"/>
          <a:chOff x="0" y="0"/>
          <a:chExt cx="0" cy="0"/>
        </a:xfrm>
      </p:grpSpPr>
      <p:pic>
        <p:nvPicPr>
          <p:cNvPr id="435" name="Google Shape;435;p45"/>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436" name="Google Shape;436;p45"/>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37" name="Google Shape;437;p45"/>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438" name="Google Shape;438;p45"/>
          <p:cNvGrpSpPr/>
          <p:nvPr/>
        </p:nvGrpSpPr>
        <p:grpSpPr>
          <a:xfrm>
            <a:off x="457200" y="4762500"/>
            <a:ext cx="8229600" cy="304800"/>
            <a:chOff x="0" y="0"/>
            <a:chExt cx="8229600" cy="304800"/>
          </a:xfrm>
        </p:grpSpPr>
        <p:cxnSp>
          <p:nvCxnSpPr>
            <p:cNvPr id="439" name="Google Shape;439;p45"/>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440" name="Google Shape;440;p45"/>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441" name="Google Shape;441;p45"/>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442" name="Google Shape;442;p45"/>
          <p:cNvSpPr txBox="1"/>
          <p:nvPr/>
        </p:nvSpPr>
        <p:spPr>
          <a:xfrm>
            <a:off x="426300" y="1259975"/>
            <a:ext cx="8385600" cy="15486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Início do Snapshot (Nó inicializador)</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Qualquer nó pode iniciar o snapshot (Por conta de ser um GFC).</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Ao começar um snapshot, o nó:</a:t>
            </a:r>
            <a:endParaRPr sz="1600">
              <a:solidFill>
                <a:schemeClr val="accent1"/>
              </a:solidFill>
              <a:latin typeface="Inter"/>
              <a:ea typeface="Inter"/>
              <a:cs typeface="Inter"/>
              <a:sym typeface="Inter"/>
            </a:endParaRPr>
          </a:p>
          <a:p>
            <a:pPr indent="-330200" lvl="2" marL="13716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Salva seu estado local.</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Envia o marker para todos os seus canais de saída.</a:t>
            </a:r>
            <a:endParaRPr sz="1600">
              <a:solidFill>
                <a:schemeClr val="dk1"/>
              </a:solidFill>
              <a:latin typeface="Inter"/>
              <a:ea typeface="Inter"/>
              <a:cs typeface="Inter"/>
              <a:sym typeface="Inter"/>
            </a:endParaRPr>
          </a:p>
          <a:p>
            <a:pPr indent="0" lvl="0" marL="1371600" rtl="0" algn="l">
              <a:spcBef>
                <a:spcPts val="1200"/>
              </a:spcBef>
              <a:spcAft>
                <a:spcPts val="1200"/>
              </a:spcAft>
              <a:buNone/>
            </a:pPr>
            <a:r>
              <a:t/>
            </a:r>
            <a:endParaRPr sz="1600">
              <a:solidFill>
                <a:schemeClr val="accent1"/>
              </a:solidFill>
              <a:latin typeface="Inter"/>
              <a:ea typeface="Inter"/>
              <a:cs typeface="Inter"/>
              <a:sym typeface="Inte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446" name="Shape 446"/>
        <p:cNvGrpSpPr/>
        <p:nvPr/>
      </p:nvGrpSpPr>
      <p:grpSpPr>
        <a:xfrm>
          <a:off x="0" y="0"/>
          <a:ext cx="0" cy="0"/>
          <a:chOff x="0" y="0"/>
          <a:chExt cx="0" cy="0"/>
        </a:xfrm>
      </p:grpSpPr>
      <p:pic>
        <p:nvPicPr>
          <p:cNvPr id="447" name="Google Shape;447;p46"/>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448" name="Google Shape;448;p46"/>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49" name="Google Shape;449;p46"/>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450" name="Google Shape;450;p46"/>
          <p:cNvGrpSpPr/>
          <p:nvPr/>
        </p:nvGrpSpPr>
        <p:grpSpPr>
          <a:xfrm>
            <a:off x="457200" y="4762500"/>
            <a:ext cx="8229600" cy="304800"/>
            <a:chOff x="0" y="0"/>
            <a:chExt cx="8229600" cy="304800"/>
          </a:xfrm>
        </p:grpSpPr>
        <p:cxnSp>
          <p:nvCxnSpPr>
            <p:cNvPr id="451" name="Google Shape;451;p46"/>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452" name="Google Shape;452;p46"/>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453" name="Google Shape;453;p46"/>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454" name="Google Shape;454;p46"/>
          <p:cNvSpPr txBox="1"/>
          <p:nvPr/>
        </p:nvSpPr>
        <p:spPr>
          <a:xfrm>
            <a:off x="426300" y="1259975"/>
            <a:ext cx="8385600" cy="15486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Início do Snapshot (Nó inicializador)</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Qualquer nó pode iniciar o snapshot (Por conta de ser um GFC).</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Ao começar um snapshot, o nó:</a:t>
            </a:r>
            <a:endParaRPr sz="1600">
              <a:solidFill>
                <a:schemeClr val="accent1"/>
              </a:solidFill>
              <a:latin typeface="Inter"/>
              <a:ea typeface="Inter"/>
              <a:cs typeface="Inter"/>
              <a:sym typeface="Inter"/>
            </a:endParaRPr>
          </a:p>
          <a:p>
            <a:pPr indent="-330200" lvl="2" marL="13716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Salva seu estado local.</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Envia o marker para todos os seus canais de saída.</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Começa a gravar as mensagens que chegam no buffer de entrada.</a:t>
            </a:r>
            <a:endParaRPr sz="1600">
              <a:solidFill>
                <a:schemeClr val="accent1"/>
              </a:solidFill>
              <a:latin typeface="Inter"/>
              <a:ea typeface="Inter"/>
              <a:cs typeface="Inter"/>
              <a:sym typeface="Inte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458" name="Shape 458"/>
        <p:cNvGrpSpPr/>
        <p:nvPr/>
      </p:nvGrpSpPr>
      <p:grpSpPr>
        <a:xfrm>
          <a:off x="0" y="0"/>
          <a:ext cx="0" cy="0"/>
          <a:chOff x="0" y="0"/>
          <a:chExt cx="0" cy="0"/>
        </a:xfrm>
      </p:grpSpPr>
      <p:pic>
        <p:nvPicPr>
          <p:cNvPr id="459" name="Google Shape;459;p47"/>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460" name="Google Shape;460;p47"/>
          <p:cNvSpPr txBox="1"/>
          <p:nvPr/>
        </p:nvSpPr>
        <p:spPr>
          <a:xfrm>
            <a:off x="426300" y="1259975"/>
            <a:ext cx="8385600" cy="19587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Nós receptores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Ao receber o marcador pela primeira vez, o nó:</a:t>
            </a:r>
            <a:endParaRPr sz="1600">
              <a:solidFill>
                <a:schemeClr val="accent1"/>
              </a:solidFill>
              <a:latin typeface="Inter"/>
              <a:ea typeface="Inter"/>
              <a:cs typeface="Inter"/>
              <a:sym typeface="Inter"/>
            </a:endParaRPr>
          </a:p>
          <a:p>
            <a:pPr indent="0" lvl="0" marL="1371600" rtl="0" algn="l">
              <a:spcBef>
                <a:spcPts val="1200"/>
              </a:spcBef>
              <a:spcAft>
                <a:spcPts val="1200"/>
              </a:spcAft>
              <a:buNone/>
            </a:pPr>
            <a:r>
              <a:t/>
            </a:r>
            <a:endParaRPr b="1" sz="1800">
              <a:solidFill>
                <a:srgbClr val="111827"/>
              </a:solidFill>
              <a:latin typeface="Inter"/>
              <a:ea typeface="Inter"/>
              <a:cs typeface="Inter"/>
              <a:sym typeface="Inter"/>
            </a:endParaRPr>
          </a:p>
        </p:txBody>
      </p:sp>
      <p:sp>
        <p:nvSpPr>
          <p:cNvPr id="461" name="Google Shape;461;p47"/>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62" name="Google Shape;462;p47"/>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463" name="Google Shape;463;p47"/>
          <p:cNvGrpSpPr/>
          <p:nvPr/>
        </p:nvGrpSpPr>
        <p:grpSpPr>
          <a:xfrm>
            <a:off x="457200" y="4762500"/>
            <a:ext cx="8229600" cy="304800"/>
            <a:chOff x="0" y="0"/>
            <a:chExt cx="8229600" cy="304800"/>
          </a:xfrm>
        </p:grpSpPr>
        <p:cxnSp>
          <p:nvCxnSpPr>
            <p:cNvPr id="464" name="Google Shape;464;p47"/>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465" name="Google Shape;465;p47"/>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466" name="Google Shape;466;p47"/>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470" name="Shape 470"/>
        <p:cNvGrpSpPr/>
        <p:nvPr/>
      </p:nvGrpSpPr>
      <p:grpSpPr>
        <a:xfrm>
          <a:off x="0" y="0"/>
          <a:ext cx="0" cy="0"/>
          <a:chOff x="0" y="0"/>
          <a:chExt cx="0" cy="0"/>
        </a:xfrm>
      </p:grpSpPr>
      <p:pic>
        <p:nvPicPr>
          <p:cNvPr id="471" name="Google Shape;471;p48"/>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472" name="Google Shape;472;p48"/>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73" name="Google Shape;473;p48"/>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474" name="Google Shape;474;p48"/>
          <p:cNvGrpSpPr/>
          <p:nvPr/>
        </p:nvGrpSpPr>
        <p:grpSpPr>
          <a:xfrm>
            <a:off x="457200" y="4762500"/>
            <a:ext cx="8229600" cy="304800"/>
            <a:chOff x="0" y="0"/>
            <a:chExt cx="8229600" cy="304800"/>
          </a:xfrm>
        </p:grpSpPr>
        <p:cxnSp>
          <p:nvCxnSpPr>
            <p:cNvPr id="475" name="Google Shape;475;p48"/>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476" name="Google Shape;476;p48"/>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477" name="Google Shape;477;p48"/>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478" name="Google Shape;478;p48"/>
          <p:cNvSpPr txBox="1"/>
          <p:nvPr/>
        </p:nvSpPr>
        <p:spPr>
          <a:xfrm>
            <a:off x="426300" y="1259975"/>
            <a:ext cx="8385600" cy="19587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Nós receptores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Ao receber o marcador pela primeira vez, o nó:</a:t>
            </a:r>
            <a:endParaRPr sz="1600">
              <a:solidFill>
                <a:schemeClr val="accent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Salva seu estado local.</a:t>
            </a:r>
            <a:endParaRPr sz="1500">
              <a:solidFill>
                <a:schemeClr val="dk1"/>
              </a:solidFill>
              <a:latin typeface="Inter"/>
              <a:ea typeface="Inter"/>
              <a:cs typeface="Inter"/>
              <a:sym typeface="Inter"/>
            </a:endParaRPr>
          </a:p>
          <a:p>
            <a:pPr indent="0" lvl="0" marL="1371600" rtl="0" algn="l">
              <a:spcBef>
                <a:spcPts val="1200"/>
              </a:spcBef>
              <a:spcAft>
                <a:spcPts val="1200"/>
              </a:spcAft>
              <a:buNone/>
            </a:pPr>
            <a:r>
              <a:t/>
            </a:r>
            <a:endParaRPr b="1" sz="1800">
              <a:solidFill>
                <a:srgbClr val="111827"/>
              </a:solidFill>
              <a:latin typeface="Inter"/>
              <a:ea typeface="Inter"/>
              <a:cs typeface="Inter"/>
              <a:sym typeface="Inte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482" name="Shape 482"/>
        <p:cNvGrpSpPr/>
        <p:nvPr/>
      </p:nvGrpSpPr>
      <p:grpSpPr>
        <a:xfrm>
          <a:off x="0" y="0"/>
          <a:ext cx="0" cy="0"/>
          <a:chOff x="0" y="0"/>
          <a:chExt cx="0" cy="0"/>
        </a:xfrm>
      </p:grpSpPr>
      <p:pic>
        <p:nvPicPr>
          <p:cNvPr id="483" name="Google Shape;483;p49"/>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484" name="Google Shape;484;p49"/>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85" name="Google Shape;485;p49"/>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486" name="Google Shape;486;p49"/>
          <p:cNvGrpSpPr/>
          <p:nvPr/>
        </p:nvGrpSpPr>
        <p:grpSpPr>
          <a:xfrm>
            <a:off x="457200" y="4762500"/>
            <a:ext cx="8229600" cy="304800"/>
            <a:chOff x="0" y="0"/>
            <a:chExt cx="8229600" cy="304800"/>
          </a:xfrm>
        </p:grpSpPr>
        <p:cxnSp>
          <p:nvCxnSpPr>
            <p:cNvPr id="487" name="Google Shape;487;p49"/>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488" name="Google Shape;488;p49"/>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489" name="Google Shape;489;p49"/>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490" name="Google Shape;490;p49"/>
          <p:cNvSpPr txBox="1"/>
          <p:nvPr/>
        </p:nvSpPr>
        <p:spPr>
          <a:xfrm>
            <a:off x="426300" y="1259975"/>
            <a:ext cx="8385600" cy="19587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Nós receptores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Ao receber o marcador pela primeira vez, o nó:</a:t>
            </a:r>
            <a:endParaRPr sz="1600">
              <a:solidFill>
                <a:schemeClr val="accent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Salva seu estado local.</a:t>
            </a:r>
            <a:endParaRPr sz="1500">
              <a:solidFill>
                <a:schemeClr val="dk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Marca o canal em que a mensagem chegou como vazio -&gt; Nenhuma mensagem que chegar naquele canal faz parte do snapshot.</a:t>
            </a:r>
            <a:endParaRPr sz="1500">
              <a:solidFill>
                <a:schemeClr val="dk1"/>
              </a:solidFill>
              <a:latin typeface="Inter"/>
              <a:ea typeface="Inter"/>
              <a:cs typeface="Inter"/>
              <a:sym typeface="Inter"/>
            </a:endParaRPr>
          </a:p>
          <a:p>
            <a:pPr indent="0" lvl="0" marL="1371600" rtl="0" algn="l">
              <a:spcBef>
                <a:spcPts val="1200"/>
              </a:spcBef>
              <a:spcAft>
                <a:spcPts val="1200"/>
              </a:spcAft>
              <a:buNone/>
            </a:pPr>
            <a:r>
              <a:t/>
            </a:r>
            <a:endParaRPr b="1" sz="1800">
              <a:solidFill>
                <a:srgbClr val="111827"/>
              </a:solidFill>
              <a:latin typeface="Inter"/>
              <a:ea typeface="Inter"/>
              <a:cs typeface="Inter"/>
              <a:sym typeface="Inte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494" name="Shape 494"/>
        <p:cNvGrpSpPr/>
        <p:nvPr/>
      </p:nvGrpSpPr>
      <p:grpSpPr>
        <a:xfrm>
          <a:off x="0" y="0"/>
          <a:ext cx="0" cy="0"/>
          <a:chOff x="0" y="0"/>
          <a:chExt cx="0" cy="0"/>
        </a:xfrm>
      </p:grpSpPr>
      <p:pic>
        <p:nvPicPr>
          <p:cNvPr id="495" name="Google Shape;495;p50"/>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496" name="Google Shape;496;p50"/>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97" name="Google Shape;497;p50"/>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498" name="Google Shape;498;p50"/>
          <p:cNvGrpSpPr/>
          <p:nvPr/>
        </p:nvGrpSpPr>
        <p:grpSpPr>
          <a:xfrm>
            <a:off x="457200" y="4762500"/>
            <a:ext cx="8229600" cy="304800"/>
            <a:chOff x="0" y="0"/>
            <a:chExt cx="8229600" cy="304800"/>
          </a:xfrm>
        </p:grpSpPr>
        <p:cxnSp>
          <p:nvCxnSpPr>
            <p:cNvPr id="499" name="Google Shape;499;p50"/>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500" name="Google Shape;500;p50"/>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501" name="Google Shape;501;p50"/>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502" name="Google Shape;502;p50"/>
          <p:cNvSpPr txBox="1"/>
          <p:nvPr/>
        </p:nvSpPr>
        <p:spPr>
          <a:xfrm>
            <a:off x="426300" y="1259975"/>
            <a:ext cx="8385600" cy="19587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Nós receptores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Ao receber o marcador pela primeira vez, o nó:</a:t>
            </a:r>
            <a:endParaRPr sz="1600">
              <a:solidFill>
                <a:schemeClr val="accent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Salva seu estado local.</a:t>
            </a:r>
            <a:endParaRPr sz="1500">
              <a:solidFill>
                <a:schemeClr val="dk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Marca o canal em que a mensagem chegou como vazio -&gt; Nenhuma mensagem que chegar naquele canal faz parte do snapshot.</a:t>
            </a:r>
            <a:endParaRPr sz="1500">
              <a:solidFill>
                <a:schemeClr val="dk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Envia um marker para todos os seus canais de saída</a:t>
            </a:r>
            <a:endParaRPr sz="1500">
              <a:solidFill>
                <a:schemeClr val="accent1"/>
              </a:solidFill>
              <a:latin typeface="Inter"/>
              <a:ea typeface="Inter"/>
              <a:cs typeface="Inter"/>
              <a:sym typeface="Inter"/>
            </a:endParaRPr>
          </a:p>
          <a:p>
            <a:pPr indent="0" lvl="0" marL="1371600" rtl="0" algn="l">
              <a:spcBef>
                <a:spcPts val="1200"/>
              </a:spcBef>
              <a:spcAft>
                <a:spcPts val="1200"/>
              </a:spcAft>
              <a:buNone/>
            </a:pPr>
            <a:r>
              <a:t/>
            </a:r>
            <a:endParaRPr b="1" sz="1800">
              <a:solidFill>
                <a:srgbClr val="111827"/>
              </a:solidFill>
              <a:latin typeface="Inter"/>
              <a:ea typeface="Inter"/>
              <a:cs typeface="Inter"/>
              <a:sym typeface="Inte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506" name="Shape 506"/>
        <p:cNvGrpSpPr/>
        <p:nvPr/>
      </p:nvGrpSpPr>
      <p:grpSpPr>
        <a:xfrm>
          <a:off x="0" y="0"/>
          <a:ext cx="0" cy="0"/>
          <a:chOff x="0" y="0"/>
          <a:chExt cx="0" cy="0"/>
        </a:xfrm>
      </p:grpSpPr>
      <p:pic>
        <p:nvPicPr>
          <p:cNvPr id="507" name="Google Shape;507;p51"/>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508" name="Google Shape;508;p51"/>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09" name="Google Shape;509;p51"/>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510" name="Google Shape;510;p51"/>
          <p:cNvGrpSpPr/>
          <p:nvPr/>
        </p:nvGrpSpPr>
        <p:grpSpPr>
          <a:xfrm>
            <a:off x="457200" y="4762500"/>
            <a:ext cx="8229600" cy="304800"/>
            <a:chOff x="0" y="0"/>
            <a:chExt cx="8229600" cy="304800"/>
          </a:xfrm>
        </p:grpSpPr>
        <p:cxnSp>
          <p:nvCxnSpPr>
            <p:cNvPr id="511" name="Google Shape;511;p51"/>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512" name="Google Shape;512;p51"/>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513" name="Google Shape;513;p51"/>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514" name="Google Shape;514;p51"/>
          <p:cNvSpPr txBox="1"/>
          <p:nvPr/>
        </p:nvSpPr>
        <p:spPr>
          <a:xfrm>
            <a:off x="426300" y="1259975"/>
            <a:ext cx="8385600" cy="19587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Nós receptores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Ao receber o marcador pela primeira vez, o nó:</a:t>
            </a:r>
            <a:endParaRPr sz="1600">
              <a:solidFill>
                <a:schemeClr val="accent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Salva seu estado local.</a:t>
            </a:r>
            <a:endParaRPr sz="1500">
              <a:solidFill>
                <a:schemeClr val="dk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Marca o canal em que a mensagem chegou como vazio -&gt; Nenhuma mensagem que chegar naquele canal faz parte do snapshot.</a:t>
            </a:r>
            <a:endParaRPr sz="1500">
              <a:solidFill>
                <a:schemeClr val="dk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Envia um marker para todos os seus canais de saída</a:t>
            </a:r>
            <a:endParaRPr sz="1500">
              <a:solidFill>
                <a:schemeClr val="accent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Começa a gravar as mensagens dos demais canais de entrada</a:t>
            </a:r>
            <a:endParaRPr sz="1500">
              <a:solidFill>
                <a:schemeClr val="dk1"/>
              </a:solidFill>
              <a:latin typeface="Inter"/>
              <a:ea typeface="Inter"/>
              <a:cs typeface="Inter"/>
              <a:sym typeface="Inter"/>
            </a:endParaRPr>
          </a:p>
          <a:p>
            <a:pPr indent="0" lvl="0" marL="1371600" rtl="0" algn="l">
              <a:spcBef>
                <a:spcPts val="1200"/>
              </a:spcBef>
              <a:spcAft>
                <a:spcPts val="1200"/>
              </a:spcAft>
              <a:buNone/>
            </a:pPr>
            <a:r>
              <a:t/>
            </a:r>
            <a:endParaRPr sz="1500">
              <a:solidFill>
                <a:schemeClr val="dk1"/>
              </a:solidFill>
              <a:latin typeface="Inter"/>
              <a:ea typeface="Inter"/>
              <a:cs typeface="Inter"/>
              <a:sym typeface="Inte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518" name="Shape 518"/>
        <p:cNvGrpSpPr/>
        <p:nvPr/>
      </p:nvGrpSpPr>
      <p:grpSpPr>
        <a:xfrm>
          <a:off x="0" y="0"/>
          <a:ext cx="0" cy="0"/>
          <a:chOff x="0" y="0"/>
          <a:chExt cx="0" cy="0"/>
        </a:xfrm>
      </p:grpSpPr>
      <p:pic>
        <p:nvPicPr>
          <p:cNvPr id="519" name="Google Shape;519;p52"/>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520" name="Google Shape;520;p52"/>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21" name="Google Shape;521;p52"/>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522" name="Google Shape;522;p52"/>
          <p:cNvGrpSpPr/>
          <p:nvPr/>
        </p:nvGrpSpPr>
        <p:grpSpPr>
          <a:xfrm>
            <a:off x="457200" y="4762500"/>
            <a:ext cx="8229600" cy="304800"/>
            <a:chOff x="0" y="0"/>
            <a:chExt cx="8229600" cy="304800"/>
          </a:xfrm>
        </p:grpSpPr>
        <p:cxnSp>
          <p:nvCxnSpPr>
            <p:cNvPr id="523" name="Google Shape;523;p52"/>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524" name="Google Shape;524;p52"/>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525" name="Google Shape;525;p52"/>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526" name="Google Shape;526;p52"/>
          <p:cNvSpPr txBox="1"/>
          <p:nvPr/>
        </p:nvSpPr>
        <p:spPr>
          <a:xfrm>
            <a:off x="426300" y="1259975"/>
            <a:ext cx="8385600" cy="30711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Nós receptores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Ao receber o marcador pela primeira vez, o nó:</a:t>
            </a:r>
            <a:endParaRPr sz="1600">
              <a:solidFill>
                <a:schemeClr val="accent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Salva seu estado local.</a:t>
            </a:r>
            <a:endParaRPr sz="1500">
              <a:solidFill>
                <a:schemeClr val="dk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Marca o canal em que a mensagem chegou como vazio -&gt; Nenhuma mensagem que chegar naquele canal faz parte do snapshot.</a:t>
            </a:r>
            <a:endParaRPr sz="1500">
              <a:solidFill>
                <a:schemeClr val="dk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Envia um marker para todos os seus canais de saída</a:t>
            </a:r>
            <a:endParaRPr sz="1500">
              <a:solidFill>
                <a:schemeClr val="accent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Começa a gravar as mensagens dos demais canais de entrada</a:t>
            </a:r>
            <a:endParaRPr sz="1500">
              <a:solidFill>
                <a:schemeClr val="dk1"/>
              </a:solidFill>
              <a:latin typeface="Inter"/>
              <a:ea typeface="Inter"/>
              <a:cs typeface="Inter"/>
              <a:sym typeface="Inter"/>
            </a:endParaRPr>
          </a:p>
          <a:p>
            <a:pPr indent="-323850" lvl="1" marL="9144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Ao receber um marcador subsequente, o nó:</a:t>
            </a:r>
            <a:endParaRPr sz="1500">
              <a:solidFill>
                <a:schemeClr val="dk1"/>
              </a:solidFill>
              <a:latin typeface="Inter"/>
              <a:ea typeface="Inter"/>
              <a:cs typeface="Inter"/>
              <a:sym typeface="Inter"/>
            </a:endParaRPr>
          </a:p>
          <a:p>
            <a:pPr indent="0" lvl="0" marL="1371600" rtl="0" algn="l">
              <a:spcBef>
                <a:spcPts val="1200"/>
              </a:spcBef>
              <a:spcAft>
                <a:spcPts val="1200"/>
              </a:spcAft>
              <a:buNone/>
            </a:pPr>
            <a:r>
              <a:t/>
            </a:r>
            <a:endParaRPr sz="1500">
              <a:solidFill>
                <a:schemeClr val="accent1"/>
              </a:solidFill>
              <a:latin typeface="Inter"/>
              <a:ea typeface="Inter"/>
              <a:cs typeface="Inter"/>
              <a:sym typeface="Inte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530" name="Shape 530"/>
        <p:cNvGrpSpPr/>
        <p:nvPr/>
      </p:nvGrpSpPr>
      <p:grpSpPr>
        <a:xfrm>
          <a:off x="0" y="0"/>
          <a:ext cx="0" cy="0"/>
          <a:chOff x="0" y="0"/>
          <a:chExt cx="0" cy="0"/>
        </a:xfrm>
      </p:grpSpPr>
      <p:pic>
        <p:nvPicPr>
          <p:cNvPr id="531" name="Google Shape;531;p53"/>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532" name="Google Shape;532;p53"/>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33" name="Google Shape;533;p53"/>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534" name="Google Shape;534;p53"/>
          <p:cNvGrpSpPr/>
          <p:nvPr/>
        </p:nvGrpSpPr>
        <p:grpSpPr>
          <a:xfrm>
            <a:off x="457200" y="4762500"/>
            <a:ext cx="8229600" cy="304800"/>
            <a:chOff x="0" y="0"/>
            <a:chExt cx="8229600" cy="304800"/>
          </a:xfrm>
        </p:grpSpPr>
        <p:cxnSp>
          <p:nvCxnSpPr>
            <p:cNvPr id="535" name="Google Shape;535;p53"/>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536" name="Google Shape;536;p53"/>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537" name="Google Shape;537;p53"/>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538" name="Google Shape;538;p53"/>
          <p:cNvSpPr txBox="1"/>
          <p:nvPr/>
        </p:nvSpPr>
        <p:spPr>
          <a:xfrm>
            <a:off x="426300" y="1259975"/>
            <a:ext cx="8385600" cy="30711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Nós receptores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Ao receber o marcador pela primeira vez, o nó:</a:t>
            </a:r>
            <a:endParaRPr sz="1600">
              <a:solidFill>
                <a:schemeClr val="accent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Salva seu estado local.</a:t>
            </a:r>
            <a:endParaRPr sz="1500">
              <a:solidFill>
                <a:schemeClr val="dk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Marca o canal em que a mensagem chegou como vazio -&gt; Nenhuma mensagem que chegar naquele canal faz parte do snapshot.</a:t>
            </a:r>
            <a:endParaRPr sz="1500">
              <a:solidFill>
                <a:schemeClr val="dk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Envia um marker para todos os seus canais de saída</a:t>
            </a:r>
            <a:endParaRPr sz="1500">
              <a:solidFill>
                <a:schemeClr val="accent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Começa a gravar as mensagens dos demais canais de entrada</a:t>
            </a:r>
            <a:endParaRPr sz="1500">
              <a:solidFill>
                <a:schemeClr val="dk1"/>
              </a:solidFill>
              <a:latin typeface="Inter"/>
              <a:ea typeface="Inter"/>
              <a:cs typeface="Inter"/>
              <a:sym typeface="Inter"/>
            </a:endParaRPr>
          </a:p>
          <a:p>
            <a:pPr indent="-323850" lvl="1" marL="9144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Ao receber um marcador subsequente, o nó:</a:t>
            </a:r>
            <a:endParaRPr sz="1500">
              <a:solidFill>
                <a:schemeClr val="dk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Já está gravando seu estado local -&gt; flag in_snapshot</a:t>
            </a:r>
            <a:endParaRPr sz="1500">
              <a:solidFill>
                <a:schemeClr val="dk1"/>
              </a:solidFill>
              <a:latin typeface="Inter"/>
              <a:ea typeface="Inter"/>
              <a:cs typeface="Inter"/>
              <a:sym typeface="Inter"/>
            </a:endParaRPr>
          </a:p>
          <a:p>
            <a:pPr indent="0" lvl="0" marL="1371600" rtl="0" algn="l">
              <a:spcBef>
                <a:spcPts val="1200"/>
              </a:spcBef>
              <a:spcAft>
                <a:spcPts val="1200"/>
              </a:spcAft>
              <a:buNone/>
            </a:pPr>
            <a:r>
              <a:t/>
            </a:r>
            <a:endParaRPr sz="1500">
              <a:solidFill>
                <a:schemeClr val="accent1"/>
              </a:solidFill>
              <a:latin typeface="Inter"/>
              <a:ea typeface="Inter"/>
              <a:cs typeface="Inter"/>
              <a:sym typeface="Inte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542" name="Shape 542"/>
        <p:cNvGrpSpPr/>
        <p:nvPr/>
      </p:nvGrpSpPr>
      <p:grpSpPr>
        <a:xfrm>
          <a:off x="0" y="0"/>
          <a:ext cx="0" cy="0"/>
          <a:chOff x="0" y="0"/>
          <a:chExt cx="0" cy="0"/>
        </a:xfrm>
      </p:grpSpPr>
      <p:pic>
        <p:nvPicPr>
          <p:cNvPr id="543" name="Google Shape;543;p54"/>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544" name="Google Shape;544;p54"/>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45" name="Google Shape;545;p54"/>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546" name="Google Shape;546;p54"/>
          <p:cNvGrpSpPr/>
          <p:nvPr/>
        </p:nvGrpSpPr>
        <p:grpSpPr>
          <a:xfrm>
            <a:off x="457200" y="4762500"/>
            <a:ext cx="8229600" cy="304800"/>
            <a:chOff x="0" y="0"/>
            <a:chExt cx="8229600" cy="304800"/>
          </a:xfrm>
        </p:grpSpPr>
        <p:cxnSp>
          <p:nvCxnSpPr>
            <p:cNvPr id="547" name="Google Shape;547;p54"/>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548" name="Google Shape;548;p54"/>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549" name="Google Shape;549;p54"/>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550" name="Google Shape;550;p54"/>
          <p:cNvSpPr txBox="1"/>
          <p:nvPr/>
        </p:nvSpPr>
        <p:spPr>
          <a:xfrm>
            <a:off x="426300" y="1259975"/>
            <a:ext cx="8385600" cy="30711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Nós receptores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Ao receber o marcador pela primeira vez, o nó:</a:t>
            </a:r>
            <a:endParaRPr sz="1600">
              <a:solidFill>
                <a:schemeClr val="accent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Salva seu estado local.</a:t>
            </a:r>
            <a:endParaRPr sz="1500">
              <a:solidFill>
                <a:schemeClr val="dk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Marca o canal em que a mensagem chegou como vazio -&gt; Nenhuma mensagem que chegar naquele canal faz parte do snapshot.</a:t>
            </a:r>
            <a:endParaRPr sz="1500">
              <a:solidFill>
                <a:schemeClr val="dk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Envia um marker para todos os seus canais de saída</a:t>
            </a:r>
            <a:endParaRPr sz="1500">
              <a:solidFill>
                <a:schemeClr val="accent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Começa a gravar as mensagens dos demais canais de entrada</a:t>
            </a:r>
            <a:endParaRPr sz="1500">
              <a:solidFill>
                <a:schemeClr val="dk1"/>
              </a:solidFill>
              <a:latin typeface="Inter"/>
              <a:ea typeface="Inter"/>
              <a:cs typeface="Inter"/>
              <a:sym typeface="Inter"/>
            </a:endParaRPr>
          </a:p>
          <a:p>
            <a:pPr indent="-323850" lvl="1" marL="9144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Ao receber um marcador subsequente, o nó:</a:t>
            </a:r>
            <a:endParaRPr sz="1500">
              <a:solidFill>
                <a:schemeClr val="dk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Já está gravando seu estado local -&gt; flag in_snapshot</a:t>
            </a:r>
            <a:endParaRPr sz="1500">
              <a:solidFill>
                <a:schemeClr val="dk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Para de gravar o canal em que a mensagem chegou -&gt; As mensagens no canal são as mensagens que foram transmitidas após o inicio do snapshot.</a:t>
            </a:r>
            <a:endParaRPr sz="1500">
              <a:solidFill>
                <a:schemeClr val="accent1"/>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554" name="Shape 554"/>
        <p:cNvGrpSpPr/>
        <p:nvPr/>
      </p:nvGrpSpPr>
      <p:grpSpPr>
        <a:xfrm>
          <a:off x="0" y="0"/>
          <a:ext cx="0" cy="0"/>
          <a:chOff x="0" y="0"/>
          <a:chExt cx="0" cy="0"/>
        </a:xfrm>
      </p:grpSpPr>
      <p:pic>
        <p:nvPicPr>
          <p:cNvPr id="555" name="Google Shape;555;p55"/>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556" name="Google Shape;556;p55"/>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57" name="Google Shape;557;p55"/>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558" name="Google Shape;558;p55"/>
          <p:cNvGrpSpPr/>
          <p:nvPr/>
        </p:nvGrpSpPr>
        <p:grpSpPr>
          <a:xfrm>
            <a:off x="457200" y="4762500"/>
            <a:ext cx="8229600" cy="304800"/>
            <a:chOff x="0" y="0"/>
            <a:chExt cx="8229600" cy="304800"/>
          </a:xfrm>
        </p:grpSpPr>
        <p:cxnSp>
          <p:nvCxnSpPr>
            <p:cNvPr id="559" name="Google Shape;559;p55"/>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560" name="Google Shape;560;p55"/>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561" name="Google Shape;561;p55"/>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562" name="Google Shape;562;p55"/>
          <p:cNvSpPr txBox="1"/>
          <p:nvPr/>
        </p:nvSpPr>
        <p:spPr>
          <a:xfrm>
            <a:off x="426300" y="1259975"/>
            <a:ext cx="8385600" cy="30711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Quando sabemos que o algoritmo finalizou?</a:t>
            </a:r>
            <a:endParaRPr sz="1600">
              <a:solidFill>
                <a:schemeClr val="dk1"/>
              </a:solidFill>
              <a:latin typeface="Inter"/>
              <a:ea typeface="Inter"/>
              <a:cs typeface="Inter"/>
              <a:sym typeface="Inter"/>
            </a:endParaRPr>
          </a:p>
          <a:p>
            <a:pPr indent="0" lvl="0" marL="914400" rtl="0" algn="l">
              <a:spcBef>
                <a:spcPts val="1200"/>
              </a:spcBef>
              <a:spcAft>
                <a:spcPts val="1200"/>
              </a:spcAft>
              <a:buNone/>
            </a:pPr>
            <a:r>
              <a:t/>
            </a:r>
            <a:endParaRPr sz="1600">
              <a:solidFill>
                <a:schemeClr val="accent1"/>
              </a:solidFill>
              <a:latin typeface="Inter"/>
              <a:ea typeface="Inter"/>
              <a:cs typeface="Inter"/>
              <a:sym typeface="Inte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566" name="Shape 566"/>
        <p:cNvGrpSpPr/>
        <p:nvPr/>
      </p:nvGrpSpPr>
      <p:grpSpPr>
        <a:xfrm>
          <a:off x="0" y="0"/>
          <a:ext cx="0" cy="0"/>
          <a:chOff x="0" y="0"/>
          <a:chExt cx="0" cy="0"/>
        </a:xfrm>
      </p:grpSpPr>
      <p:pic>
        <p:nvPicPr>
          <p:cNvPr id="567" name="Google Shape;567;p56"/>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568" name="Google Shape;568;p56"/>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69" name="Google Shape;569;p56"/>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570" name="Google Shape;570;p56"/>
          <p:cNvGrpSpPr/>
          <p:nvPr/>
        </p:nvGrpSpPr>
        <p:grpSpPr>
          <a:xfrm>
            <a:off x="457200" y="4762500"/>
            <a:ext cx="8229600" cy="304800"/>
            <a:chOff x="0" y="0"/>
            <a:chExt cx="8229600" cy="304800"/>
          </a:xfrm>
        </p:grpSpPr>
        <p:cxnSp>
          <p:nvCxnSpPr>
            <p:cNvPr id="571" name="Google Shape;571;p56"/>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572" name="Google Shape;572;p56"/>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573" name="Google Shape;573;p56"/>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574" name="Google Shape;574;p56"/>
          <p:cNvSpPr txBox="1"/>
          <p:nvPr/>
        </p:nvSpPr>
        <p:spPr>
          <a:xfrm>
            <a:off x="426300" y="1259975"/>
            <a:ext cx="8385600" cy="30711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Quando sabemos que o algoritmo finalizou?</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Quando todos os canais de entrada do processo estão desabilitados -&gt; Todos já receberam um marker, o que implica em que todos os processos que poderiam enviar algo para esse processo já realizaram ou estão realizando o snapshot.</a:t>
            </a:r>
            <a:endParaRPr sz="1600">
              <a:solidFill>
                <a:schemeClr val="dk1"/>
              </a:solidFill>
              <a:latin typeface="Inter"/>
              <a:ea typeface="Inter"/>
              <a:cs typeface="Inter"/>
              <a:sym typeface="Inter"/>
            </a:endParaRPr>
          </a:p>
          <a:p>
            <a:pPr indent="0" lvl="0" marL="914400" rtl="0" algn="l">
              <a:spcBef>
                <a:spcPts val="1200"/>
              </a:spcBef>
              <a:spcAft>
                <a:spcPts val="1200"/>
              </a:spcAft>
              <a:buNone/>
            </a:pPr>
            <a:r>
              <a:t/>
            </a:r>
            <a:endParaRPr sz="1600">
              <a:solidFill>
                <a:schemeClr val="accent1"/>
              </a:solidFill>
              <a:latin typeface="Inter"/>
              <a:ea typeface="Inter"/>
              <a:cs typeface="Inter"/>
              <a:sym typeface="Inte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578" name="Shape 578"/>
        <p:cNvGrpSpPr/>
        <p:nvPr/>
      </p:nvGrpSpPr>
      <p:grpSpPr>
        <a:xfrm>
          <a:off x="0" y="0"/>
          <a:ext cx="0" cy="0"/>
          <a:chOff x="0" y="0"/>
          <a:chExt cx="0" cy="0"/>
        </a:xfrm>
      </p:grpSpPr>
      <p:pic>
        <p:nvPicPr>
          <p:cNvPr id="579" name="Google Shape;579;p57"/>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580" name="Google Shape;580;p57"/>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81" name="Google Shape;581;p57"/>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582" name="Google Shape;582;p57"/>
          <p:cNvGrpSpPr/>
          <p:nvPr/>
        </p:nvGrpSpPr>
        <p:grpSpPr>
          <a:xfrm>
            <a:off x="457200" y="4762500"/>
            <a:ext cx="8229600" cy="304800"/>
            <a:chOff x="0" y="0"/>
            <a:chExt cx="8229600" cy="304800"/>
          </a:xfrm>
        </p:grpSpPr>
        <p:cxnSp>
          <p:nvCxnSpPr>
            <p:cNvPr id="583" name="Google Shape;583;p57"/>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584" name="Google Shape;584;p57"/>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585" name="Google Shape;585;p57"/>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586" name="Google Shape;586;p57"/>
          <p:cNvSpPr txBox="1"/>
          <p:nvPr/>
        </p:nvSpPr>
        <p:spPr>
          <a:xfrm>
            <a:off x="426300" y="1259975"/>
            <a:ext cx="8385600" cy="30711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Quando sabemos que o algoritmo finalizou?</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Quando todos os canais de entrada do processo estão desabilitados -&gt; Todos já receberam um marker, o que implica em que todos os processos que poderiam enviar algo para esse processo já realizaram ou estão realizando o snapshot.</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Note que, nesse ponto, o processo X não receberá nada de novo, e pode corretamente registrar seu snapshot.</a:t>
            </a:r>
            <a:endParaRPr sz="1600">
              <a:solidFill>
                <a:schemeClr val="dk1"/>
              </a:solidFill>
              <a:latin typeface="Inter"/>
              <a:ea typeface="Inter"/>
              <a:cs typeface="Inter"/>
              <a:sym typeface="Inter"/>
            </a:endParaRPr>
          </a:p>
          <a:p>
            <a:pPr indent="0" lvl="0" marL="914400" rtl="0" algn="l">
              <a:spcBef>
                <a:spcPts val="1200"/>
              </a:spcBef>
              <a:spcAft>
                <a:spcPts val="1200"/>
              </a:spcAft>
              <a:buNone/>
            </a:pPr>
            <a:r>
              <a:t/>
            </a:r>
            <a:endParaRPr sz="1600">
              <a:solidFill>
                <a:schemeClr val="accent1"/>
              </a:solidFill>
              <a:latin typeface="Inter"/>
              <a:ea typeface="Inter"/>
              <a:cs typeface="Inter"/>
              <a:sym typeface="Inte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590" name="Shape 590"/>
        <p:cNvGrpSpPr/>
        <p:nvPr/>
      </p:nvGrpSpPr>
      <p:grpSpPr>
        <a:xfrm>
          <a:off x="0" y="0"/>
          <a:ext cx="0" cy="0"/>
          <a:chOff x="0" y="0"/>
          <a:chExt cx="0" cy="0"/>
        </a:xfrm>
      </p:grpSpPr>
      <p:pic>
        <p:nvPicPr>
          <p:cNvPr id="591" name="Google Shape;591;p58"/>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592" name="Google Shape;592;p58"/>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93" name="Google Shape;593;p58"/>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594" name="Google Shape;594;p58"/>
          <p:cNvGrpSpPr/>
          <p:nvPr/>
        </p:nvGrpSpPr>
        <p:grpSpPr>
          <a:xfrm>
            <a:off x="457200" y="4762500"/>
            <a:ext cx="8229600" cy="304800"/>
            <a:chOff x="0" y="0"/>
            <a:chExt cx="8229600" cy="304800"/>
          </a:xfrm>
        </p:grpSpPr>
        <p:cxnSp>
          <p:nvCxnSpPr>
            <p:cNvPr id="595" name="Google Shape;595;p58"/>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596" name="Google Shape;596;p58"/>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597" name="Google Shape;597;p58"/>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598" name="Google Shape;598;p58"/>
          <p:cNvSpPr txBox="1"/>
          <p:nvPr/>
        </p:nvSpPr>
        <p:spPr>
          <a:xfrm>
            <a:off x="426300" y="1259975"/>
            <a:ext cx="8385600" cy="30711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Quando sabemos que o algoritmo finalizou?</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Quando todos os canais de entrada do processo estão desabilitados -&gt; Todos já receberam um marker, o que implica em que todos os processos que poderiam enviar algo para esse processo já realizaram ou estão realizando o snapshot.</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Note que, nesse ponto, o processo X não receberá nada de novo, e pode corretamente registrar seu snapshot.</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 conclusão do algoritmo é inerentemente independente entre os processos, não importa que o snapshot por inteiro não tenha sido concluído, cada processo só se importa com aquilo que poderia alterar o seu próprio snapshot.</a:t>
            </a:r>
            <a:endParaRPr sz="1600">
              <a:solidFill>
                <a:schemeClr val="accent1"/>
              </a:solidFill>
              <a:latin typeface="Inter"/>
              <a:ea typeface="Inter"/>
              <a:cs typeface="Inter"/>
              <a:sym typeface="Inte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602" name="Shape 602"/>
        <p:cNvGrpSpPr/>
        <p:nvPr/>
      </p:nvGrpSpPr>
      <p:grpSpPr>
        <a:xfrm>
          <a:off x="0" y="0"/>
          <a:ext cx="0" cy="0"/>
          <a:chOff x="0" y="0"/>
          <a:chExt cx="0" cy="0"/>
        </a:xfrm>
      </p:grpSpPr>
      <p:pic>
        <p:nvPicPr>
          <p:cNvPr id="603" name="Google Shape;603;p59"/>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604" name="Google Shape;604;p59"/>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05" name="Google Shape;605;p59"/>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606" name="Google Shape;606;p59"/>
          <p:cNvGrpSpPr/>
          <p:nvPr/>
        </p:nvGrpSpPr>
        <p:grpSpPr>
          <a:xfrm>
            <a:off x="457200" y="4762500"/>
            <a:ext cx="8229600" cy="304800"/>
            <a:chOff x="0" y="0"/>
            <a:chExt cx="8229600" cy="304800"/>
          </a:xfrm>
        </p:grpSpPr>
        <p:cxnSp>
          <p:nvCxnSpPr>
            <p:cNvPr id="607" name="Google Shape;607;p59"/>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608" name="Google Shape;608;p59"/>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609" name="Google Shape;609;p59"/>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610" name="Google Shape;610;p59"/>
          <p:cNvSpPr txBox="1"/>
          <p:nvPr/>
        </p:nvSpPr>
        <p:spPr>
          <a:xfrm>
            <a:off x="426300" y="1259975"/>
            <a:ext cx="8385600" cy="30711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Como tratar esses snapshots?</a:t>
            </a:r>
            <a:endParaRPr sz="1600">
              <a:solidFill>
                <a:schemeClr val="dk1"/>
              </a:solidFill>
              <a:latin typeface="Inter"/>
              <a:ea typeface="Inter"/>
              <a:cs typeface="Inter"/>
              <a:sym typeface="Inter"/>
            </a:endParaRPr>
          </a:p>
          <a:p>
            <a:pPr indent="0" lvl="0" marL="914400" rtl="0" algn="l">
              <a:spcBef>
                <a:spcPts val="1200"/>
              </a:spcBef>
              <a:spcAft>
                <a:spcPts val="1200"/>
              </a:spcAft>
              <a:buNone/>
            </a:pPr>
            <a:r>
              <a:t/>
            </a:r>
            <a:endParaRPr>
              <a:solidFill>
                <a:schemeClr val="accent1"/>
              </a:solidFill>
              <a:latin typeface="Inter"/>
              <a:ea typeface="Inter"/>
              <a:cs typeface="Inter"/>
              <a:sym typeface="Inte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614" name="Shape 614"/>
        <p:cNvGrpSpPr/>
        <p:nvPr/>
      </p:nvGrpSpPr>
      <p:grpSpPr>
        <a:xfrm>
          <a:off x="0" y="0"/>
          <a:ext cx="0" cy="0"/>
          <a:chOff x="0" y="0"/>
          <a:chExt cx="0" cy="0"/>
        </a:xfrm>
      </p:grpSpPr>
      <p:pic>
        <p:nvPicPr>
          <p:cNvPr id="615" name="Google Shape;615;p60"/>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616" name="Google Shape;616;p60"/>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17" name="Google Shape;617;p60"/>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618" name="Google Shape;618;p60"/>
          <p:cNvGrpSpPr/>
          <p:nvPr/>
        </p:nvGrpSpPr>
        <p:grpSpPr>
          <a:xfrm>
            <a:off x="457200" y="4762500"/>
            <a:ext cx="8229600" cy="304800"/>
            <a:chOff x="0" y="0"/>
            <a:chExt cx="8229600" cy="304800"/>
          </a:xfrm>
        </p:grpSpPr>
        <p:cxnSp>
          <p:nvCxnSpPr>
            <p:cNvPr id="619" name="Google Shape;619;p60"/>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620" name="Google Shape;620;p60"/>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621" name="Google Shape;621;p60"/>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622" name="Google Shape;622;p60"/>
          <p:cNvSpPr txBox="1"/>
          <p:nvPr/>
        </p:nvSpPr>
        <p:spPr>
          <a:xfrm>
            <a:off x="426300" y="1259975"/>
            <a:ext cx="8385600" cy="30711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Como tratar esses snapshots?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 paper de Chandy-Lamport trata a agregação dos snapshots como uma camada superior da infraestrutura -&gt; O processamento dos dados fica a critério da aplicação, tal qual dar um significado a eles. O que o algoritmo garante é a corretude dos estados capturados.</a:t>
            </a:r>
            <a:endParaRPr sz="1600">
              <a:solidFill>
                <a:schemeClr val="dk1"/>
              </a:solidFill>
              <a:latin typeface="Inter"/>
              <a:ea typeface="Inter"/>
              <a:cs typeface="Inter"/>
              <a:sym typeface="Inter"/>
            </a:endParaRPr>
          </a:p>
          <a:p>
            <a:pPr indent="0" lvl="0" marL="914400" rtl="0" algn="l">
              <a:spcBef>
                <a:spcPts val="1200"/>
              </a:spcBef>
              <a:spcAft>
                <a:spcPts val="1200"/>
              </a:spcAft>
              <a:buNone/>
            </a:pPr>
            <a:r>
              <a:t/>
            </a:r>
            <a:endParaRPr>
              <a:solidFill>
                <a:schemeClr val="accent1"/>
              </a:solidFill>
              <a:latin typeface="Inter"/>
              <a:ea typeface="Inter"/>
              <a:cs typeface="Inter"/>
              <a:sym typeface="Inte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626" name="Shape 626"/>
        <p:cNvGrpSpPr/>
        <p:nvPr/>
      </p:nvGrpSpPr>
      <p:grpSpPr>
        <a:xfrm>
          <a:off x="0" y="0"/>
          <a:ext cx="0" cy="0"/>
          <a:chOff x="0" y="0"/>
          <a:chExt cx="0" cy="0"/>
        </a:xfrm>
      </p:grpSpPr>
      <p:pic>
        <p:nvPicPr>
          <p:cNvPr id="627" name="Google Shape;627;p61"/>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628" name="Google Shape;628;p61"/>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29" name="Google Shape;629;p61"/>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630" name="Google Shape;630;p61"/>
          <p:cNvGrpSpPr/>
          <p:nvPr/>
        </p:nvGrpSpPr>
        <p:grpSpPr>
          <a:xfrm>
            <a:off x="457200" y="4762500"/>
            <a:ext cx="8229600" cy="304800"/>
            <a:chOff x="0" y="0"/>
            <a:chExt cx="8229600" cy="304800"/>
          </a:xfrm>
        </p:grpSpPr>
        <p:cxnSp>
          <p:nvCxnSpPr>
            <p:cNvPr id="631" name="Google Shape;631;p61"/>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632" name="Google Shape;632;p61"/>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633" name="Google Shape;633;p61"/>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634" name="Google Shape;634;p61"/>
          <p:cNvSpPr txBox="1"/>
          <p:nvPr/>
        </p:nvSpPr>
        <p:spPr>
          <a:xfrm>
            <a:off x="426300" y="1259975"/>
            <a:ext cx="8385600" cy="30711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Como tratar esses snapshots?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 paper de Chandy-Lamport trata a agregação dos snapshots como uma camada superior da infraestrutura -&gt; O processamento dos dados fica a critério da aplicação, tal qual dar um significado a eles. O que o algoritmo garante é a corretude dos estados capturados.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Existem certas estratégias que podem ser utilizadas para agregar os snapshots:</a:t>
            </a:r>
            <a:endParaRPr>
              <a:solidFill>
                <a:schemeClr val="accent1"/>
              </a:solidFill>
              <a:latin typeface="Inter"/>
              <a:ea typeface="Inter"/>
              <a:cs typeface="Inter"/>
              <a:sym typeface="Inte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638" name="Shape 638"/>
        <p:cNvGrpSpPr/>
        <p:nvPr/>
      </p:nvGrpSpPr>
      <p:grpSpPr>
        <a:xfrm>
          <a:off x="0" y="0"/>
          <a:ext cx="0" cy="0"/>
          <a:chOff x="0" y="0"/>
          <a:chExt cx="0" cy="0"/>
        </a:xfrm>
      </p:grpSpPr>
      <p:pic>
        <p:nvPicPr>
          <p:cNvPr id="639" name="Google Shape;639;p62"/>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640" name="Google Shape;640;p62"/>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41" name="Google Shape;641;p62"/>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642" name="Google Shape;642;p62"/>
          <p:cNvGrpSpPr/>
          <p:nvPr/>
        </p:nvGrpSpPr>
        <p:grpSpPr>
          <a:xfrm>
            <a:off x="457200" y="4762500"/>
            <a:ext cx="8229600" cy="304800"/>
            <a:chOff x="0" y="0"/>
            <a:chExt cx="8229600" cy="304800"/>
          </a:xfrm>
        </p:grpSpPr>
        <p:cxnSp>
          <p:nvCxnSpPr>
            <p:cNvPr id="643" name="Google Shape;643;p62"/>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644" name="Google Shape;644;p62"/>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645" name="Google Shape;645;p62"/>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646" name="Google Shape;646;p62"/>
          <p:cNvSpPr txBox="1"/>
          <p:nvPr/>
        </p:nvSpPr>
        <p:spPr>
          <a:xfrm>
            <a:off x="426300" y="1259975"/>
            <a:ext cx="8385600" cy="30711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Como tratar esses snapshots?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 paper de Chandy-Lamport trata a agregação dos snapshots como uma camada superior da infraestrutura -&gt; O processamento dos dados fica a critério da aplicação, tal qual dar um significado a eles. O que o algoritmo garante é a corretude dos estados capturados.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Existem certas estratégias que podem ser utilizadas para agregar os snapshots:</a:t>
            </a:r>
            <a:endParaRPr sz="1600">
              <a:solidFill>
                <a:schemeClr val="dk1"/>
              </a:solidFill>
              <a:latin typeface="Inter"/>
              <a:ea typeface="Inter"/>
              <a:cs typeface="Inter"/>
              <a:sym typeface="Inter"/>
            </a:endParaRPr>
          </a:p>
          <a:p>
            <a:pPr indent="-317500" lvl="2" marL="13716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Monitor central que conhece os processos e recebe o snapshot de todos (Utilizado na aplicação desenvolvida). Isso pode ser por meio de requisições (Os processos enviam seu snapshot ao monitor) ou também por meio de filesystem compartilhado (Ou alternativas em nuvem como o S3).</a:t>
            </a:r>
            <a:endParaRPr>
              <a:solidFill>
                <a:schemeClr val="dk1"/>
              </a:solidFill>
              <a:latin typeface="Inter"/>
              <a:ea typeface="Inter"/>
              <a:cs typeface="Inter"/>
              <a:sym typeface="Inter"/>
            </a:endParaRPr>
          </a:p>
          <a:p>
            <a:pPr indent="0" lvl="0" marL="1371600" rtl="0" algn="l">
              <a:spcBef>
                <a:spcPts val="1200"/>
              </a:spcBef>
              <a:spcAft>
                <a:spcPts val="1200"/>
              </a:spcAft>
              <a:buNone/>
            </a:pPr>
            <a:r>
              <a:t/>
            </a:r>
            <a:endParaRPr>
              <a:solidFill>
                <a:schemeClr val="accent1"/>
              </a:solidFill>
              <a:latin typeface="Inter"/>
              <a:ea typeface="Inter"/>
              <a:cs typeface="Inter"/>
              <a:sym typeface="Inte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650" name="Shape 650"/>
        <p:cNvGrpSpPr/>
        <p:nvPr/>
      </p:nvGrpSpPr>
      <p:grpSpPr>
        <a:xfrm>
          <a:off x="0" y="0"/>
          <a:ext cx="0" cy="0"/>
          <a:chOff x="0" y="0"/>
          <a:chExt cx="0" cy="0"/>
        </a:xfrm>
      </p:grpSpPr>
      <p:pic>
        <p:nvPicPr>
          <p:cNvPr id="651" name="Google Shape;651;p63"/>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652" name="Google Shape;652;p63"/>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53" name="Google Shape;653;p63"/>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654" name="Google Shape;654;p63"/>
          <p:cNvGrpSpPr/>
          <p:nvPr/>
        </p:nvGrpSpPr>
        <p:grpSpPr>
          <a:xfrm>
            <a:off x="457200" y="4762500"/>
            <a:ext cx="8229600" cy="304800"/>
            <a:chOff x="0" y="0"/>
            <a:chExt cx="8229600" cy="304800"/>
          </a:xfrm>
        </p:grpSpPr>
        <p:cxnSp>
          <p:nvCxnSpPr>
            <p:cNvPr id="655" name="Google Shape;655;p63"/>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656" name="Google Shape;656;p63"/>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657" name="Google Shape;657;p63"/>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658" name="Google Shape;658;p63"/>
          <p:cNvSpPr txBox="1"/>
          <p:nvPr/>
        </p:nvSpPr>
        <p:spPr>
          <a:xfrm>
            <a:off x="426300" y="1259975"/>
            <a:ext cx="8385600" cy="30711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Como tratar esses snapshots?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 paper de Chandy-Lamport trata a agregação dos snapshots como uma camada superior da infraestrutura -&gt; O processamento dos dados fica a critério da aplicação, tal qual dar um significado a eles. O que o algoritmo garante é a corretude dos estados capturados.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Existem certas estratégias que podem ser utilizadas para agregar os snapshots:</a:t>
            </a:r>
            <a:endParaRPr sz="1600">
              <a:solidFill>
                <a:schemeClr val="dk1"/>
              </a:solidFill>
              <a:latin typeface="Inter"/>
              <a:ea typeface="Inter"/>
              <a:cs typeface="Inter"/>
              <a:sym typeface="Inter"/>
            </a:endParaRPr>
          </a:p>
          <a:p>
            <a:pPr indent="-317500" lvl="2" marL="13716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Monitor central que conhece os processos e recebe o snapshot de todos (Utilizado na aplicação desenvolvida). Isso pode ser por meio de requisições (Os processos enviam seu snapshot ao monitor) ou também por meio de filesystem compartilhado (Ou alternativas em nuvem como o S3).</a:t>
            </a:r>
            <a:endParaRPr>
              <a:solidFill>
                <a:schemeClr val="dk1"/>
              </a:solidFill>
              <a:latin typeface="Inter"/>
              <a:ea typeface="Inter"/>
              <a:cs typeface="Inter"/>
              <a:sym typeface="Inter"/>
            </a:endParaRPr>
          </a:p>
          <a:p>
            <a:pPr indent="-317500" lvl="2" marL="13716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Convergecast em árvore de agregação -&gt; Os processos formam uma árvore a partir da raiz (nó inicializador), cada processo é responsável por agregar o snapshot de seus filhos. Ideal para não sobrecarregar um nó.</a:t>
            </a:r>
            <a:endParaRPr>
              <a:solidFill>
                <a:schemeClr val="accent1"/>
              </a:solidFill>
              <a:latin typeface="Inter"/>
              <a:ea typeface="Inter"/>
              <a:cs typeface="Inter"/>
              <a:sym typeface="Inte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662" name="Shape 662"/>
        <p:cNvGrpSpPr/>
        <p:nvPr/>
      </p:nvGrpSpPr>
      <p:grpSpPr>
        <a:xfrm>
          <a:off x="0" y="0"/>
          <a:ext cx="0" cy="0"/>
          <a:chOff x="0" y="0"/>
          <a:chExt cx="0" cy="0"/>
        </a:xfrm>
      </p:grpSpPr>
      <p:pic>
        <p:nvPicPr>
          <p:cNvPr id="663" name="Google Shape;663;p64"/>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664" name="Google Shape;664;p64"/>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65" name="Google Shape;665;p64"/>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a:t>
            </a:r>
            <a:r>
              <a:rPr b="1" lang="en" sz="2240">
                <a:solidFill>
                  <a:srgbClr val="111827"/>
                </a:solidFill>
                <a:latin typeface="Inter"/>
                <a:ea typeface="Inter"/>
                <a:cs typeface="Inter"/>
                <a:sym typeface="Inter"/>
              </a:rPr>
              <a:t>Distribuído</a:t>
            </a:r>
            <a:endParaRPr b="1" sz="2240">
              <a:solidFill>
                <a:srgbClr val="111827"/>
              </a:solidFill>
              <a:latin typeface="Inter"/>
              <a:ea typeface="Inter"/>
              <a:cs typeface="Inter"/>
              <a:sym typeface="Inter"/>
            </a:endParaRPr>
          </a:p>
        </p:txBody>
      </p:sp>
      <p:grpSp>
        <p:nvGrpSpPr>
          <p:cNvPr id="666" name="Google Shape;666;p64"/>
          <p:cNvGrpSpPr/>
          <p:nvPr/>
        </p:nvGrpSpPr>
        <p:grpSpPr>
          <a:xfrm>
            <a:off x="457200" y="4762500"/>
            <a:ext cx="8229600" cy="304800"/>
            <a:chOff x="0" y="0"/>
            <a:chExt cx="8229600" cy="304800"/>
          </a:xfrm>
        </p:grpSpPr>
        <p:cxnSp>
          <p:nvCxnSpPr>
            <p:cNvPr id="667" name="Google Shape;667;p64"/>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668" name="Google Shape;668;p64"/>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669" name="Google Shape;669;p64"/>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670" name="Google Shape;670;p64"/>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lang="en" sz="1700">
                <a:solidFill>
                  <a:srgbClr val="111827"/>
                </a:solidFill>
                <a:latin typeface="Inter"/>
                <a:ea typeface="Inter"/>
                <a:cs typeface="Inter"/>
                <a:sym typeface="Inter"/>
              </a:rPr>
              <a:t>Para demonstrar o algoritmo de Chandy-Lamport na prática, criamos um código que simula um cluster de computação distribuído com Work Stealing</a:t>
            </a:r>
            <a:endParaRPr sz="1600">
              <a:solidFill>
                <a:schemeClr val="dk1"/>
              </a:solidFill>
              <a:latin typeface="Inter"/>
              <a:ea typeface="Inter"/>
              <a:cs typeface="Inter"/>
              <a:sym typeface="Inte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674" name="Shape 674"/>
        <p:cNvGrpSpPr/>
        <p:nvPr/>
      </p:nvGrpSpPr>
      <p:grpSpPr>
        <a:xfrm>
          <a:off x="0" y="0"/>
          <a:ext cx="0" cy="0"/>
          <a:chOff x="0" y="0"/>
          <a:chExt cx="0" cy="0"/>
        </a:xfrm>
      </p:grpSpPr>
      <p:pic>
        <p:nvPicPr>
          <p:cNvPr id="675" name="Google Shape;675;p65"/>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676" name="Google Shape;676;p65"/>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77" name="Google Shape;677;p65"/>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678" name="Google Shape;678;p65"/>
          <p:cNvGrpSpPr/>
          <p:nvPr/>
        </p:nvGrpSpPr>
        <p:grpSpPr>
          <a:xfrm>
            <a:off x="457200" y="4762500"/>
            <a:ext cx="8229600" cy="304800"/>
            <a:chOff x="0" y="0"/>
            <a:chExt cx="8229600" cy="304800"/>
          </a:xfrm>
        </p:grpSpPr>
        <p:cxnSp>
          <p:nvCxnSpPr>
            <p:cNvPr id="679" name="Google Shape;679;p65"/>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680" name="Google Shape;680;p65"/>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681" name="Google Shape;681;p65"/>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682" name="Google Shape;682;p65"/>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lang="en" sz="1700">
                <a:solidFill>
                  <a:srgbClr val="111827"/>
                </a:solidFill>
                <a:latin typeface="Inter"/>
                <a:ea typeface="Inter"/>
                <a:cs typeface="Inter"/>
                <a:sym typeface="Inter"/>
              </a:rPr>
              <a:t>Para demonstrar o algoritmo de Chandy-Lamport na prática, criamos um código que simula um cluster de computação distribuído com Work Stealing</a:t>
            </a:r>
            <a:endParaRPr sz="1700">
              <a:solidFill>
                <a:srgbClr val="111827"/>
              </a:solidFill>
              <a:latin typeface="Inter"/>
              <a:ea typeface="Inter"/>
              <a:cs typeface="Inter"/>
              <a:sym typeface="Inter"/>
            </a:endParaRPr>
          </a:p>
          <a:p>
            <a:pPr indent="-336550" lvl="1" marL="914400" rtl="0" algn="l">
              <a:spcBef>
                <a:spcPts val="0"/>
              </a:spcBef>
              <a:spcAft>
                <a:spcPts val="0"/>
              </a:spcAft>
              <a:buClr>
                <a:schemeClr val="accent1"/>
              </a:buClr>
              <a:buSzPts val="1700"/>
              <a:buFont typeface="Inter"/>
              <a:buChar char="○"/>
            </a:pPr>
            <a:r>
              <a:rPr lang="en" sz="1600">
                <a:solidFill>
                  <a:srgbClr val="111827"/>
                </a:solidFill>
                <a:latin typeface="Inter"/>
                <a:ea typeface="Inter"/>
                <a:cs typeface="Inter"/>
                <a:sym typeface="Inter"/>
              </a:rPr>
              <a:t>Processos “roubam” a carga de trabalho um dos outros</a:t>
            </a:r>
            <a:r>
              <a:rPr lang="en" sz="1700">
                <a:solidFill>
                  <a:srgbClr val="111827"/>
                </a:solidFill>
                <a:latin typeface="Inter"/>
                <a:ea typeface="Inter"/>
                <a:cs typeface="Inter"/>
                <a:sym typeface="Inter"/>
              </a:rPr>
              <a:t>.</a:t>
            </a:r>
            <a:endParaRPr sz="1700">
              <a:solidFill>
                <a:schemeClr val="accent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686" name="Shape 686"/>
        <p:cNvGrpSpPr/>
        <p:nvPr/>
      </p:nvGrpSpPr>
      <p:grpSpPr>
        <a:xfrm>
          <a:off x="0" y="0"/>
          <a:ext cx="0" cy="0"/>
          <a:chOff x="0" y="0"/>
          <a:chExt cx="0" cy="0"/>
        </a:xfrm>
      </p:grpSpPr>
      <p:pic>
        <p:nvPicPr>
          <p:cNvPr id="687" name="Google Shape;687;p66"/>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688" name="Google Shape;688;p66"/>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89" name="Google Shape;689;p66"/>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690" name="Google Shape;690;p66"/>
          <p:cNvGrpSpPr/>
          <p:nvPr/>
        </p:nvGrpSpPr>
        <p:grpSpPr>
          <a:xfrm>
            <a:off x="457200" y="4762500"/>
            <a:ext cx="8229600" cy="304800"/>
            <a:chOff x="0" y="0"/>
            <a:chExt cx="8229600" cy="304800"/>
          </a:xfrm>
        </p:grpSpPr>
        <p:cxnSp>
          <p:nvCxnSpPr>
            <p:cNvPr id="691" name="Google Shape;691;p66"/>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692" name="Google Shape;692;p66"/>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693" name="Google Shape;693;p66"/>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694" name="Google Shape;694;p66"/>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lang="en" sz="1700">
                <a:solidFill>
                  <a:srgbClr val="111827"/>
                </a:solidFill>
                <a:latin typeface="Inter"/>
                <a:ea typeface="Inter"/>
                <a:cs typeface="Inter"/>
                <a:sym typeface="Inter"/>
              </a:rPr>
              <a:t>Para demonstrar o algoritmo de Chandy-Lamport na prática, criamos um código que simula um cluster de computação distribuído com Work Stealing</a:t>
            </a:r>
            <a:endParaRPr sz="1700">
              <a:solidFill>
                <a:srgbClr val="111827"/>
              </a:solidFill>
              <a:latin typeface="Inter"/>
              <a:ea typeface="Inter"/>
              <a:cs typeface="Inter"/>
              <a:sym typeface="Inter"/>
            </a:endParaRPr>
          </a:p>
          <a:p>
            <a:pPr indent="-336550" lvl="1" marL="914400" rtl="0" algn="l">
              <a:spcBef>
                <a:spcPts val="0"/>
              </a:spcBef>
              <a:spcAft>
                <a:spcPts val="0"/>
              </a:spcAft>
              <a:buClr>
                <a:schemeClr val="accent1"/>
              </a:buClr>
              <a:buSzPts val="1700"/>
              <a:buFont typeface="Inter"/>
              <a:buChar char="○"/>
            </a:pPr>
            <a:r>
              <a:rPr lang="en" sz="1600">
                <a:solidFill>
                  <a:srgbClr val="111827"/>
                </a:solidFill>
                <a:latin typeface="Inter"/>
                <a:ea typeface="Inter"/>
                <a:cs typeface="Inter"/>
                <a:sym typeface="Inter"/>
              </a:rPr>
              <a:t>Processos “roubam” a carga de trabalho um dos outros</a:t>
            </a:r>
            <a:r>
              <a:rPr lang="en" sz="1700">
                <a:solidFill>
                  <a:srgbClr val="111827"/>
                </a:solidFill>
                <a:latin typeface="Inter"/>
                <a:ea typeface="Inter"/>
                <a:cs typeface="Inter"/>
                <a:sym typeface="Inter"/>
              </a:rPr>
              <a:t>.</a:t>
            </a:r>
            <a:endParaRPr sz="1700">
              <a:solidFill>
                <a:schemeClr val="accent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 aplicação consiste em três executáveis distintos:</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698" name="Shape 698"/>
        <p:cNvGrpSpPr/>
        <p:nvPr/>
      </p:nvGrpSpPr>
      <p:grpSpPr>
        <a:xfrm>
          <a:off x="0" y="0"/>
          <a:ext cx="0" cy="0"/>
          <a:chOff x="0" y="0"/>
          <a:chExt cx="0" cy="0"/>
        </a:xfrm>
      </p:grpSpPr>
      <p:pic>
        <p:nvPicPr>
          <p:cNvPr id="699" name="Google Shape;699;p67"/>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700" name="Google Shape;700;p67"/>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01" name="Google Shape;701;p67"/>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702" name="Google Shape;702;p67"/>
          <p:cNvGrpSpPr/>
          <p:nvPr/>
        </p:nvGrpSpPr>
        <p:grpSpPr>
          <a:xfrm>
            <a:off x="457200" y="4762500"/>
            <a:ext cx="8229600" cy="304800"/>
            <a:chOff x="0" y="0"/>
            <a:chExt cx="8229600" cy="304800"/>
          </a:xfrm>
        </p:grpSpPr>
        <p:cxnSp>
          <p:nvCxnSpPr>
            <p:cNvPr id="703" name="Google Shape;703;p67"/>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704" name="Google Shape;704;p67"/>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705" name="Google Shape;705;p67"/>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706" name="Google Shape;706;p67"/>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lang="en" sz="1700">
                <a:solidFill>
                  <a:srgbClr val="111827"/>
                </a:solidFill>
                <a:latin typeface="Inter"/>
                <a:ea typeface="Inter"/>
                <a:cs typeface="Inter"/>
                <a:sym typeface="Inter"/>
              </a:rPr>
              <a:t>Para demonstrar o algoritmo de Chandy-Lamport na prática, criamos um código que simula um cluster de computação distribuído com Work Stealing</a:t>
            </a:r>
            <a:endParaRPr sz="1700">
              <a:solidFill>
                <a:srgbClr val="111827"/>
              </a:solidFill>
              <a:latin typeface="Inter"/>
              <a:ea typeface="Inter"/>
              <a:cs typeface="Inter"/>
              <a:sym typeface="Inter"/>
            </a:endParaRPr>
          </a:p>
          <a:p>
            <a:pPr indent="-336550" lvl="1" marL="914400" rtl="0" algn="l">
              <a:spcBef>
                <a:spcPts val="0"/>
              </a:spcBef>
              <a:spcAft>
                <a:spcPts val="0"/>
              </a:spcAft>
              <a:buClr>
                <a:schemeClr val="accent1"/>
              </a:buClr>
              <a:buSzPts val="1700"/>
              <a:buFont typeface="Inter"/>
              <a:buChar char="○"/>
            </a:pPr>
            <a:r>
              <a:rPr lang="en" sz="1600">
                <a:solidFill>
                  <a:srgbClr val="111827"/>
                </a:solidFill>
                <a:latin typeface="Inter"/>
                <a:ea typeface="Inter"/>
                <a:cs typeface="Inter"/>
                <a:sym typeface="Inter"/>
              </a:rPr>
              <a:t>Processos “roubam” a carga de trabalho um dos outros</a:t>
            </a:r>
            <a:r>
              <a:rPr lang="en" sz="1700">
                <a:solidFill>
                  <a:srgbClr val="111827"/>
                </a:solidFill>
                <a:latin typeface="Inter"/>
                <a:ea typeface="Inter"/>
                <a:cs typeface="Inter"/>
                <a:sym typeface="Inter"/>
              </a:rPr>
              <a:t>.</a:t>
            </a:r>
            <a:endParaRPr sz="1700">
              <a:solidFill>
                <a:schemeClr val="accent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 aplicação consiste em três executáveis distintos: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Worker -&gt; Nó que executa as tarefas.</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710" name="Shape 710"/>
        <p:cNvGrpSpPr/>
        <p:nvPr/>
      </p:nvGrpSpPr>
      <p:grpSpPr>
        <a:xfrm>
          <a:off x="0" y="0"/>
          <a:ext cx="0" cy="0"/>
          <a:chOff x="0" y="0"/>
          <a:chExt cx="0" cy="0"/>
        </a:xfrm>
      </p:grpSpPr>
      <p:pic>
        <p:nvPicPr>
          <p:cNvPr id="711" name="Google Shape;711;p68"/>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712" name="Google Shape;712;p68"/>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13" name="Google Shape;713;p68"/>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714" name="Google Shape;714;p68"/>
          <p:cNvGrpSpPr/>
          <p:nvPr/>
        </p:nvGrpSpPr>
        <p:grpSpPr>
          <a:xfrm>
            <a:off x="457200" y="4762500"/>
            <a:ext cx="8229600" cy="304800"/>
            <a:chOff x="0" y="0"/>
            <a:chExt cx="8229600" cy="304800"/>
          </a:xfrm>
        </p:grpSpPr>
        <p:cxnSp>
          <p:nvCxnSpPr>
            <p:cNvPr id="715" name="Google Shape;715;p68"/>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716" name="Google Shape;716;p68"/>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717" name="Google Shape;717;p68"/>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718" name="Google Shape;718;p68"/>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lang="en" sz="1700">
                <a:solidFill>
                  <a:srgbClr val="111827"/>
                </a:solidFill>
                <a:latin typeface="Inter"/>
                <a:ea typeface="Inter"/>
                <a:cs typeface="Inter"/>
                <a:sym typeface="Inter"/>
              </a:rPr>
              <a:t>Para demonstrar o algoritmo de Chandy-Lamport na prática, criamos um código que simula um cluster de computação distribuído com Work Stealing</a:t>
            </a:r>
            <a:endParaRPr sz="1700">
              <a:solidFill>
                <a:srgbClr val="111827"/>
              </a:solidFill>
              <a:latin typeface="Inter"/>
              <a:ea typeface="Inter"/>
              <a:cs typeface="Inter"/>
              <a:sym typeface="Inter"/>
            </a:endParaRPr>
          </a:p>
          <a:p>
            <a:pPr indent="-336550" lvl="1" marL="914400" rtl="0" algn="l">
              <a:spcBef>
                <a:spcPts val="0"/>
              </a:spcBef>
              <a:spcAft>
                <a:spcPts val="0"/>
              </a:spcAft>
              <a:buClr>
                <a:schemeClr val="accent1"/>
              </a:buClr>
              <a:buSzPts val="1700"/>
              <a:buFont typeface="Inter"/>
              <a:buChar char="○"/>
            </a:pPr>
            <a:r>
              <a:rPr lang="en" sz="1600">
                <a:solidFill>
                  <a:srgbClr val="111827"/>
                </a:solidFill>
                <a:latin typeface="Inter"/>
                <a:ea typeface="Inter"/>
                <a:cs typeface="Inter"/>
                <a:sym typeface="Inter"/>
              </a:rPr>
              <a:t>Processos “roubam” a carga de trabalho um dos outros</a:t>
            </a:r>
            <a:r>
              <a:rPr lang="en" sz="1700">
                <a:solidFill>
                  <a:srgbClr val="111827"/>
                </a:solidFill>
                <a:latin typeface="Inter"/>
                <a:ea typeface="Inter"/>
                <a:cs typeface="Inter"/>
                <a:sym typeface="Inter"/>
              </a:rPr>
              <a:t>.</a:t>
            </a:r>
            <a:endParaRPr sz="1700">
              <a:solidFill>
                <a:schemeClr val="accent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 aplicação consiste em três executáveis distintos: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Worker -&gt; Nó que executa as tarefas.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Monitor -&gt; Interface que permite visualizar e interagir com o sistema.</a:t>
            </a:r>
            <a:endParaRPr sz="1600">
              <a:solidFill>
                <a:schemeClr val="accent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722" name="Shape 722"/>
        <p:cNvGrpSpPr/>
        <p:nvPr/>
      </p:nvGrpSpPr>
      <p:grpSpPr>
        <a:xfrm>
          <a:off x="0" y="0"/>
          <a:ext cx="0" cy="0"/>
          <a:chOff x="0" y="0"/>
          <a:chExt cx="0" cy="0"/>
        </a:xfrm>
      </p:grpSpPr>
      <p:pic>
        <p:nvPicPr>
          <p:cNvPr id="723" name="Google Shape;723;p69"/>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724" name="Google Shape;724;p69"/>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25" name="Google Shape;725;p69"/>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726" name="Google Shape;726;p69"/>
          <p:cNvGrpSpPr/>
          <p:nvPr/>
        </p:nvGrpSpPr>
        <p:grpSpPr>
          <a:xfrm>
            <a:off x="457200" y="4762500"/>
            <a:ext cx="8229600" cy="304800"/>
            <a:chOff x="0" y="0"/>
            <a:chExt cx="8229600" cy="304800"/>
          </a:xfrm>
        </p:grpSpPr>
        <p:cxnSp>
          <p:nvCxnSpPr>
            <p:cNvPr id="727" name="Google Shape;727;p69"/>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728" name="Google Shape;728;p69"/>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729" name="Google Shape;729;p69"/>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730" name="Google Shape;730;p69"/>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lang="en" sz="1700">
                <a:solidFill>
                  <a:srgbClr val="111827"/>
                </a:solidFill>
                <a:latin typeface="Inter"/>
                <a:ea typeface="Inter"/>
                <a:cs typeface="Inter"/>
                <a:sym typeface="Inter"/>
              </a:rPr>
              <a:t>Para demonstrar o algoritmo de Chandy-Lamport na prática, criamos um código que simula um cluster de computação distribuído com Work Stealing</a:t>
            </a:r>
            <a:endParaRPr sz="1700">
              <a:solidFill>
                <a:srgbClr val="111827"/>
              </a:solidFill>
              <a:latin typeface="Inter"/>
              <a:ea typeface="Inter"/>
              <a:cs typeface="Inter"/>
              <a:sym typeface="Inter"/>
            </a:endParaRPr>
          </a:p>
          <a:p>
            <a:pPr indent="-336550" lvl="1" marL="914400" rtl="0" algn="l">
              <a:spcBef>
                <a:spcPts val="0"/>
              </a:spcBef>
              <a:spcAft>
                <a:spcPts val="0"/>
              </a:spcAft>
              <a:buClr>
                <a:schemeClr val="accent1"/>
              </a:buClr>
              <a:buSzPts val="1700"/>
              <a:buFont typeface="Inter"/>
              <a:buChar char="○"/>
            </a:pPr>
            <a:r>
              <a:rPr lang="en" sz="1600">
                <a:solidFill>
                  <a:srgbClr val="111827"/>
                </a:solidFill>
                <a:latin typeface="Inter"/>
                <a:ea typeface="Inter"/>
                <a:cs typeface="Inter"/>
                <a:sym typeface="Inter"/>
              </a:rPr>
              <a:t>Processos “roubam” a carga de trabalho um dos outros</a:t>
            </a:r>
            <a:r>
              <a:rPr lang="en" sz="1700">
                <a:solidFill>
                  <a:srgbClr val="111827"/>
                </a:solidFill>
                <a:latin typeface="Inter"/>
                <a:ea typeface="Inter"/>
                <a:cs typeface="Inter"/>
                <a:sym typeface="Inter"/>
              </a:rPr>
              <a:t>.</a:t>
            </a:r>
            <a:endParaRPr sz="1700">
              <a:solidFill>
                <a:schemeClr val="accent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 aplicação consiste em três executáveis distintos: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Worker -&gt; Nó que executa as tarefas.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Monitor -&gt; Interface que permite visualizar e interagir com o sistema.</a:t>
            </a:r>
            <a:endParaRPr sz="1600">
              <a:solidFill>
                <a:schemeClr val="accent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Orquestrador -&gt; Entrypoint para criação facilitada dos workers.</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734" name="Shape 734"/>
        <p:cNvGrpSpPr/>
        <p:nvPr/>
      </p:nvGrpSpPr>
      <p:grpSpPr>
        <a:xfrm>
          <a:off x="0" y="0"/>
          <a:ext cx="0" cy="0"/>
          <a:chOff x="0" y="0"/>
          <a:chExt cx="0" cy="0"/>
        </a:xfrm>
      </p:grpSpPr>
      <p:pic>
        <p:nvPicPr>
          <p:cNvPr id="735" name="Google Shape;735;p70"/>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736" name="Google Shape;736;p70"/>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37" name="Google Shape;737;p70"/>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738" name="Google Shape;738;p70"/>
          <p:cNvGrpSpPr/>
          <p:nvPr/>
        </p:nvGrpSpPr>
        <p:grpSpPr>
          <a:xfrm>
            <a:off x="457200" y="4762500"/>
            <a:ext cx="8229600" cy="304800"/>
            <a:chOff x="0" y="0"/>
            <a:chExt cx="8229600" cy="304800"/>
          </a:xfrm>
        </p:grpSpPr>
        <p:cxnSp>
          <p:nvCxnSpPr>
            <p:cNvPr id="739" name="Google Shape;739;p70"/>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740" name="Google Shape;740;p70"/>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741" name="Google Shape;741;p70"/>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742" name="Google Shape;742;p70"/>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lang="en" sz="1700">
                <a:solidFill>
                  <a:srgbClr val="111827"/>
                </a:solidFill>
                <a:latin typeface="Inter"/>
                <a:ea typeface="Inter"/>
                <a:cs typeface="Inter"/>
                <a:sym typeface="Inter"/>
              </a:rPr>
              <a:t>Para demonstrar o algoritmo de Chandy-Lamport na prática, criamos um código que simula um cluster de computação distribuído com Work Stealing</a:t>
            </a:r>
            <a:endParaRPr sz="1700">
              <a:solidFill>
                <a:srgbClr val="111827"/>
              </a:solidFill>
              <a:latin typeface="Inter"/>
              <a:ea typeface="Inter"/>
              <a:cs typeface="Inter"/>
              <a:sym typeface="Inter"/>
            </a:endParaRPr>
          </a:p>
          <a:p>
            <a:pPr indent="-336550" lvl="1" marL="914400" rtl="0" algn="l">
              <a:spcBef>
                <a:spcPts val="0"/>
              </a:spcBef>
              <a:spcAft>
                <a:spcPts val="0"/>
              </a:spcAft>
              <a:buClr>
                <a:schemeClr val="accent1"/>
              </a:buClr>
              <a:buSzPts val="1700"/>
              <a:buFont typeface="Inter"/>
              <a:buChar char="○"/>
            </a:pPr>
            <a:r>
              <a:rPr lang="en" sz="1600">
                <a:solidFill>
                  <a:srgbClr val="111827"/>
                </a:solidFill>
                <a:latin typeface="Inter"/>
                <a:ea typeface="Inter"/>
                <a:cs typeface="Inter"/>
                <a:sym typeface="Inter"/>
              </a:rPr>
              <a:t>Processos “roubam” a carga de trabalho um dos outros</a:t>
            </a:r>
            <a:r>
              <a:rPr lang="en" sz="1700">
                <a:solidFill>
                  <a:srgbClr val="111827"/>
                </a:solidFill>
                <a:latin typeface="Inter"/>
                <a:ea typeface="Inter"/>
                <a:cs typeface="Inter"/>
                <a:sym typeface="Inter"/>
              </a:rPr>
              <a:t>.</a:t>
            </a:r>
            <a:endParaRPr sz="1700">
              <a:solidFill>
                <a:schemeClr val="accent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 aplicação consiste em três executáveis distintos: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Worker -&gt; Nó que executa as tarefas.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Monitor -&gt; Interface que permite visualizar e interagir com o sistema.</a:t>
            </a:r>
            <a:endParaRPr sz="1600">
              <a:solidFill>
                <a:schemeClr val="accent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Orquestrador -&gt; Entrypoint para criação facilitada dos workers.</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 Orquestrador é chamado uma única vez, sua função é:</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Garantir a topologia de grafo fortemente conexo.</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746" name="Shape 746"/>
        <p:cNvGrpSpPr/>
        <p:nvPr/>
      </p:nvGrpSpPr>
      <p:grpSpPr>
        <a:xfrm>
          <a:off x="0" y="0"/>
          <a:ext cx="0" cy="0"/>
          <a:chOff x="0" y="0"/>
          <a:chExt cx="0" cy="0"/>
        </a:xfrm>
      </p:grpSpPr>
      <p:pic>
        <p:nvPicPr>
          <p:cNvPr id="747" name="Google Shape;747;p71"/>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748" name="Google Shape;748;p71"/>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49" name="Google Shape;749;p71"/>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750" name="Google Shape;750;p71"/>
          <p:cNvGrpSpPr/>
          <p:nvPr/>
        </p:nvGrpSpPr>
        <p:grpSpPr>
          <a:xfrm>
            <a:off x="457200" y="4762500"/>
            <a:ext cx="8229600" cy="304800"/>
            <a:chOff x="0" y="0"/>
            <a:chExt cx="8229600" cy="304800"/>
          </a:xfrm>
        </p:grpSpPr>
        <p:cxnSp>
          <p:nvCxnSpPr>
            <p:cNvPr id="751" name="Google Shape;751;p71"/>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752" name="Google Shape;752;p71"/>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753" name="Google Shape;753;p71"/>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754" name="Google Shape;754;p71"/>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lang="en" sz="1700">
                <a:solidFill>
                  <a:srgbClr val="111827"/>
                </a:solidFill>
                <a:latin typeface="Inter"/>
                <a:ea typeface="Inter"/>
                <a:cs typeface="Inter"/>
                <a:sym typeface="Inter"/>
              </a:rPr>
              <a:t>Para demonstrar o algoritmo de Chandy-Lamport na prática, criamos um código que simula um cluster de computação distribuído com Work Stealing</a:t>
            </a:r>
            <a:endParaRPr sz="1700">
              <a:solidFill>
                <a:srgbClr val="111827"/>
              </a:solidFill>
              <a:latin typeface="Inter"/>
              <a:ea typeface="Inter"/>
              <a:cs typeface="Inter"/>
              <a:sym typeface="Inter"/>
            </a:endParaRPr>
          </a:p>
          <a:p>
            <a:pPr indent="-336550" lvl="1" marL="914400" rtl="0" algn="l">
              <a:spcBef>
                <a:spcPts val="0"/>
              </a:spcBef>
              <a:spcAft>
                <a:spcPts val="0"/>
              </a:spcAft>
              <a:buClr>
                <a:schemeClr val="accent1"/>
              </a:buClr>
              <a:buSzPts val="1700"/>
              <a:buFont typeface="Inter"/>
              <a:buChar char="○"/>
            </a:pPr>
            <a:r>
              <a:rPr lang="en" sz="1600">
                <a:solidFill>
                  <a:srgbClr val="111827"/>
                </a:solidFill>
                <a:latin typeface="Inter"/>
                <a:ea typeface="Inter"/>
                <a:cs typeface="Inter"/>
                <a:sym typeface="Inter"/>
              </a:rPr>
              <a:t>Processos “roubam” a carga de trabalho um dos outros</a:t>
            </a:r>
            <a:r>
              <a:rPr lang="en" sz="1700">
                <a:solidFill>
                  <a:srgbClr val="111827"/>
                </a:solidFill>
                <a:latin typeface="Inter"/>
                <a:ea typeface="Inter"/>
                <a:cs typeface="Inter"/>
                <a:sym typeface="Inter"/>
              </a:rPr>
              <a:t>.</a:t>
            </a:r>
            <a:endParaRPr sz="1700">
              <a:solidFill>
                <a:schemeClr val="accent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 aplicação consiste em três executáveis distintos: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Worker -&gt; Nó que executa as tarefas.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Monitor -&gt; Interface que permite visualizar e interagir com o sistema.</a:t>
            </a:r>
            <a:endParaRPr sz="1600">
              <a:solidFill>
                <a:schemeClr val="accent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Orquestrador -&gt; Entrypoint para criação facilitada dos workers.</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 Orquestrador é chamado uma única vez, sua função é:</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Garantir a topologia de grafo fortemente conexo.</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Spawnar os workers corretamente.</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758" name="Shape 758"/>
        <p:cNvGrpSpPr/>
        <p:nvPr/>
      </p:nvGrpSpPr>
      <p:grpSpPr>
        <a:xfrm>
          <a:off x="0" y="0"/>
          <a:ext cx="0" cy="0"/>
          <a:chOff x="0" y="0"/>
          <a:chExt cx="0" cy="0"/>
        </a:xfrm>
      </p:grpSpPr>
      <p:pic>
        <p:nvPicPr>
          <p:cNvPr id="759" name="Google Shape;759;p72"/>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760" name="Google Shape;760;p72"/>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61" name="Google Shape;761;p72"/>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762" name="Google Shape;762;p72"/>
          <p:cNvGrpSpPr/>
          <p:nvPr/>
        </p:nvGrpSpPr>
        <p:grpSpPr>
          <a:xfrm>
            <a:off x="457200" y="4762500"/>
            <a:ext cx="8229600" cy="304800"/>
            <a:chOff x="0" y="0"/>
            <a:chExt cx="8229600" cy="304800"/>
          </a:xfrm>
        </p:grpSpPr>
        <p:cxnSp>
          <p:nvCxnSpPr>
            <p:cNvPr id="763" name="Google Shape;763;p72"/>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764" name="Google Shape;764;p72"/>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765" name="Google Shape;765;p72"/>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766" name="Google Shape;766;p72"/>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lang="en" sz="1700">
                <a:solidFill>
                  <a:srgbClr val="111827"/>
                </a:solidFill>
                <a:latin typeface="Inter"/>
                <a:ea typeface="Inter"/>
                <a:cs typeface="Inter"/>
                <a:sym typeface="Inter"/>
              </a:rPr>
              <a:t>Para demonstrar o algoritmo de Chandy-Lamport na prática, criamos um código que simula um cluster de computação distribuído com Work Stealing</a:t>
            </a:r>
            <a:endParaRPr sz="1700">
              <a:solidFill>
                <a:srgbClr val="111827"/>
              </a:solidFill>
              <a:latin typeface="Inter"/>
              <a:ea typeface="Inter"/>
              <a:cs typeface="Inter"/>
              <a:sym typeface="Inter"/>
            </a:endParaRPr>
          </a:p>
          <a:p>
            <a:pPr indent="-336550" lvl="1" marL="914400" rtl="0" algn="l">
              <a:spcBef>
                <a:spcPts val="0"/>
              </a:spcBef>
              <a:spcAft>
                <a:spcPts val="0"/>
              </a:spcAft>
              <a:buClr>
                <a:schemeClr val="accent1"/>
              </a:buClr>
              <a:buSzPts val="1700"/>
              <a:buFont typeface="Inter"/>
              <a:buChar char="○"/>
            </a:pPr>
            <a:r>
              <a:rPr lang="en" sz="1600">
                <a:solidFill>
                  <a:srgbClr val="111827"/>
                </a:solidFill>
                <a:latin typeface="Inter"/>
                <a:ea typeface="Inter"/>
                <a:cs typeface="Inter"/>
                <a:sym typeface="Inter"/>
              </a:rPr>
              <a:t>Processos “roubam” a carga de trabalho um dos outros</a:t>
            </a:r>
            <a:r>
              <a:rPr lang="en" sz="1700">
                <a:solidFill>
                  <a:srgbClr val="111827"/>
                </a:solidFill>
                <a:latin typeface="Inter"/>
                <a:ea typeface="Inter"/>
                <a:cs typeface="Inter"/>
                <a:sym typeface="Inter"/>
              </a:rPr>
              <a:t>.</a:t>
            </a:r>
            <a:endParaRPr sz="1700">
              <a:solidFill>
                <a:schemeClr val="accent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 aplicação consiste em três executáveis distintos: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Worker -&gt; Nó que executa as tarefas.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Monitor -&gt; Interface que permite visualizar e interagir com o sistema.</a:t>
            </a:r>
            <a:endParaRPr sz="1600">
              <a:solidFill>
                <a:schemeClr val="accent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Orquestrador -&gt; Entrypoint para criação facilitada dos workers.</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 Orquestrador é chamado uma única vez, sua função é:</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Garantir a topologia de grafo fortemente conexo.</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Spawnar os workers corretamente.</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Propaga shutdown (SIGINT/SIGTERM) aos workers.</a:t>
            </a:r>
            <a:endParaRPr sz="1600">
              <a:solidFill>
                <a:schemeClr val="accent1"/>
              </a:solidFill>
              <a:latin typeface="Inter"/>
              <a:ea typeface="Inter"/>
              <a:cs typeface="Inter"/>
              <a:sym typeface="Inter"/>
            </a:endParaRPr>
          </a:p>
          <a:p>
            <a:pPr indent="0" lvl="0" marL="0" rtl="0" algn="l">
              <a:spcBef>
                <a:spcPts val="1200"/>
              </a:spcBef>
              <a:spcAft>
                <a:spcPts val="1200"/>
              </a:spcAft>
              <a:buNone/>
            </a:pPr>
            <a:r>
              <a:rPr lang="en" sz="1600">
                <a:solidFill>
                  <a:schemeClr val="dk1"/>
                </a:solidFill>
                <a:latin typeface="Inter"/>
                <a:ea typeface="Inter"/>
                <a:cs typeface="Inter"/>
                <a:sym typeface="Inter"/>
              </a:rPr>
              <a:t>	Após isso, as entidades que relevantes são os workers e o monitor.</a:t>
            </a:r>
            <a:endParaRPr sz="1600">
              <a:solidFill>
                <a:schemeClr val="dk1"/>
              </a:solidFill>
              <a:latin typeface="Inter"/>
              <a:ea typeface="Inter"/>
              <a:cs typeface="Inter"/>
              <a:sym typeface="Inte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770" name="Shape 770"/>
        <p:cNvGrpSpPr/>
        <p:nvPr/>
      </p:nvGrpSpPr>
      <p:grpSpPr>
        <a:xfrm>
          <a:off x="0" y="0"/>
          <a:ext cx="0" cy="0"/>
          <a:chOff x="0" y="0"/>
          <a:chExt cx="0" cy="0"/>
        </a:xfrm>
      </p:grpSpPr>
      <p:pic>
        <p:nvPicPr>
          <p:cNvPr id="771" name="Google Shape;771;p73"/>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772" name="Google Shape;772;p73"/>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73" name="Google Shape;773;p73"/>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774" name="Google Shape;774;p73"/>
          <p:cNvGrpSpPr/>
          <p:nvPr/>
        </p:nvGrpSpPr>
        <p:grpSpPr>
          <a:xfrm>
            <a:off x="457200" y="4762500"/>
            <a:ext cx="8229600" cy="304800"/>
            <a:chOff x="0" y="0"/>
            <a:chExt cx="8229600" cy="304800"/>
          </a:xfrm>
        </p:grpSpPr>
        <p:cxnSp>
          <p:nvCxnSpPr>
            <p:cNvPr id="775" name="Google Shape;775;p73"/>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776" name="Google Shape;776;p73"/>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777" name="Google Shape;777;p73"/>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778" name="Google Shape;778;p73"/>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Worker</a:t>
            </a:r>
            <a:endParaRPr sz="1900">
              <a:solidFill>
                <a:srgbClr val="111827"/>
              </a:solidFill>
              <a:latin typeface="Inter"/>
              <a:ea typeface="Inter"/>
              <a:cs typeface="Inter"/>
              <a:sym typeface="Inter"/>
            </a:endParaRPr>
          </a:p>
          <a:p>
            <a:pPr indent="0" lvl="0" marL="91440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782" name="Shape 782"/>
        <p:cNvGrpSpPr/>
        <p:nvPr/>
      </p:nvGrpSpPr>
      <p:grpSpPr>
        <a:xfrm>
          <a:off x="0" y="0"/>
          <a:ext cx="0" cy="0"/>
          <a:chOff x="0" y="0"/>
          <a:chExt cx="0" cy="0"/>
        </a:xfrm>
      </p:grpSpPr>
      <p:pic>
        <p:nvPicPr>
          <p:cNvPr id="783" name="Google Shape;783;p74"/>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784" name="Google Shape;784;p74"/>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85" name="Google Shape;785;p74"/>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786" name="Google Shape;786;p74"/>
          <p:cNvGrpSpPr/>
          <p:nvPr/>
        </p:nvGrpSpPr>
        <p:grpSpPr>
          <a:xfrm>
            <a:off x="457200" y="4762500"/>
            <a:ext cx="8229600" cy="304800"/>
            <a:chOff x="0" y="0"/>
            <a:chExt cx="8229600" cy="304800"/>
          </a:xfrm>
        </p:grpSpPr>
        <p:cxnSp>
          <p:nvCxnSpPr>
            <p:cNvPr id="787" name="Google Shape;787;p74"/>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788" name="Google Shape;788;p74"/>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789" name="Google Shape;789;p74"/>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790" name="Google Shape;790;p74"/>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Worker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É uma entidade independente, recebe tarefas e as executa.</a:t>
            </a:r>
            <a:endParaRPr sz="1600">
              <a:solidFill>
                <a:schemeClr val="dk1"/>
              </a:solidFill>
              <a:latin typeface="Inter"/>
              <a:ea typeface="Inter"/>
              <a:cs typeface="Inter"/>
              <a:sym typeface="Inter"/>
            </a:endParaRPr>
          </a:p>
          <a:p>
            <a:pPr indent="0" lvl="0" marL="91440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794" name="Shape 794"/>
        <p:cNvGrpSpPr/>
        <p:nvPr/>
      </p:nvGrpSpPr>
      <p:grpSpPr>
        <a:xfrm>
          <a:off x="0" y="0"/>
          <a:ext cx="0" cy="0"/>
          <a:chOff x="0" y="0"/>
          <a:chExt cx="0" cy="0"/>
        </a:xfrm>
      </p:grpSpPr>
      <p:pic>
        <p:nvPicPr>
          <p:cNvPr id="795" name="Google Shape;795;p75"/>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796" name="Google Shape;796;p75"/>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97" name="Google Shape;797;p75"/>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798" name="Google Shape;798;p75"/>
          <p:cNvGrpSpPr/>
          <p:nvPr/>
        </p:nvGrpSpPr>
        <p:grpSpPr>
          <a:xfrm>
            <a:off x="457200" y="4762500"/>
            <a:ext cx="8229600" cy="304800"/>
            <a:chOff x="0" y="0"/>
            <a:chExt cx="8229600" cy="304800"/>
          </a:xfrm>
        </p:grpSpPr>
        <p:cxnSp>
          <p:nvCxnSpPr>
            <p:cNvPr id="799" name="Google Shape;799;p75"/>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800" name="Google Shape;800;p75"/>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801" name="Google Shape;801;p75"/>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802" name="Google Shape;802;p75"/>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Worker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É uma entidade independente, recebe tarefas e as executa.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Cada worker roda como um processo a parte no SO (fork).</a:t>
            </a:r>
            <a:endParaRPr sz="1600">
              <a:solidFill>
                <a:schemeClr val="dk1"/>
              </a:solidFill>
              <a:latin typeface="Inter"/>
              <a:ea typeface="Inter"/>
              <a:cs typeface="Inter"/>
              <a:sym typeface="Inter"/>
            </a:endParaRPr>
          </a:p>
          <a:p>
            <a:pPr indent="0" lvl="0" marL="91440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806" name="Shape 806"/>
        <p:cNvGrpSpPr/>
        <p:nvPr/>
      </p:nvGrpSpPr>
      <p:grpSpPr>
        <a:xfrm>
          <a:off x="0" y="0"/>
          <a:ext cx="0" cy="0"/>
          <a:chOff x="0" y="0"/>
          <a:chExt cx="0" cy="0"/>
        </a:xfrm>
      </p:grpSpPr>
      <p:pic>
        <p:nvPicPr>
          <p:cNvPr id="807" name="Google Shape;807;p76"/>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808" name="Google Shape;808;p76"/>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09" name="Google Shape;809;p76"/>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810" name="Google Shape;810;p76"/>
          <p:cNvGrpSpPr/>
          <p:nvPr/>
        </p:nvGrpSpPr>
        <p:grpSpPr>
          <a:xfrm>
            <a:off x="457200" y="4762500"/>
            <a:ext cx="8229600" cy="304800"/>
            <a:chOff x="0" y="0"/>
            <a:chExt cx="8229600" cy="304800"/>
          </a:xfrm>
        </p:grpSpPr>
        <p:cxnSp>
          <p:nvCxnSpPr>
            <p:cNvPr id="811" name="Google Shape;811;p76"/>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812" name="Google Shape;812;p76"/>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813" name="Google Shape;813;p76"/>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814" name="Google Shape;814;p76"/>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Worker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É uma entidade independente, recebe tarefas e as executa.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Cada worker roda como um processo a parte no SO (fork).</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Se comunica de forma independente com workers vizinhos via TCP de forma bi-direcional. </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818" name="Shape 818"/>
        <p:cNvGrpSpPr/>
        <p:nvPr/>
      </p:nvGrpSpPr>
      <p:grpSpPr>
        <a:xfrm>
          <a:off x="0" y="0"/>
          <a:ext cx="0" cy="0"/>
          <a:chOff x="0" y="0"/>
          <a:chExt cx="0" cy="0"/>
        </a:xfrm>
      </p:grpSpPr>
      <p:pic>
        <p:nvPicPr>
          <p:cNvPr id="819" name="Google Shape;819;p77"/>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820" name="Google Shape;820;p77"/>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21" name="Google Shape;821;p77"/>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822" name="Google Shape;822;p77"/>
          <p:cNvGrpSpPr/>
          <p:nvPr/>
        </p:nvGrpSpPr>
        <p:grpSpPr>
          <a:xfrm>
            <a:off x="457200" y="4762500"/>
            <a:ext cx="8229600" cy="304800"/>
            <a:chOff x="0" y="0"/>
            <a:chExt cx="8229600" cy="304800"/>
          </a:xfrm>
        </p:grpSpPr>
        <p:cxnSp>
          <p:nvCxnSpPr>
            <p:cNvPr id="823" name="Google Shape;823;p77"/>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824" name="Google Shape;824;p77"/>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825" name="Google Shape;825;p77"/>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826" name="Google Shape;826;p77"/>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Worker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É uma entidade independente, recebe tarefas e as executa.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Cada worker roda como um processo a parte no SO </a:t>
            </a:r>
            <a:r>
              <a:rPr lang="en" sz="1600">
                <a:solidFill>
                  <a:schemeClr val="dk1"/>
                </a:solidFill>
                <a:latin typeface="Inter"/>
                <a:ea typeface="Inter"/>
                <a:cs typeface="Inter"/>
                <a:sym typeface="Inter"/>
              </a:rPr>
              <a:t>(fork)</a:t>
            </a:r>
            <a:r>
              <a:rPr lang="en" sz="1600">
                <a:solidFill>
                  <a:schemeClr val="dk1"/>
                </a:solidFill>
                <a:latin typeface="Inter"/>
                <a:ea typeface="Inter"/>
                <a:cs typeface="Inter"/>
                <a:sym typeface="Inter"/>
              </a:rPr>
              <a:t>.</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Se comunica de forma independente com workers vizinhos via TCP de forma bi-direcional. </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Implementa Work Stealing. Periodicamente, roda os seguintes passos:</a:t>
            </a:r>
            <a:endParaRPr sz="1600">
              <a:solidFill>
                <a:schemeClr val="dk1"/>
              </a:solidFill>
              <a:latin typeface="Inter"/>
              <a:ea typeface="Inter"/>
              <a:cs typeface="Inter"/>
              <a:sym typeface="Inter"/>
            </a:endParaRPr>
          </a:p>
          <a:p>
            <a:pPr indent="0" lvl="0" marL="137160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830" name="Shape 830"/>
        <p:cNvGrpSpPr/>
        <p:nvPr/>
      </p:nvGrpSpPr>
      <p:grpSpPr>
        <a:xfrm>
          <a:off x="0" y="0"/>
          <a:ext cx="0" cy="0"/>
          <a:chOff x="0" y="0"/>
          <a:chExt cx="0" cy="0"/>
        </a:xfrm>
      </p:grpSpPr>
      <p:pic>
        <p:nvPicPr>
          <p:cNvPr id="831" name="Google Shape;831;p78"/>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832" name="Google Shape;832;p78"/>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33" name="Google Shape;833;p78"/>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834" name="Google Shape;834;p78"/>
          <p:cNvGrpSpPr/>
          <p:nvPr/>
        </p:nvGrpSpPr>
        <p:grpSpPr>
          <a:xfrm>
            <a:off x="457200" y="4762500"/>
            <a:ext cx="8229600" cy="304800"/>
            <a:chOff x="0" y="0"/>
            <a:chExt cx="8229600" cy="304800"/>
          </a:xfrm>
        </p:grpSpPr>
        <p:cxnSp>
          <p:nvCxnSpPr>
            <p:cNvPr id="835" name="Google Shape;835;p78"/>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836" name="Google Shape;836;p78"/>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837" name="Google Shape;837;p78"/>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838" name="Google Shape;838;p78"/>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Worker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É uma entidade independente, recebe tarefas e as executa.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Cada worker roda como um processo a parte no SO </a:t>
            </a:r>
            <a:r>
              <a:rPr lang="en" sz="1600">
                <a:solidFill>
                  <a:schemeClr val="dk1"/>
                </a:solidFill>
                <a:latin typeface="Inter"/>
                <a:ea typeface="Inter"/>
                <a:cs typeface="Inter"/>
                <a:sym typeface="Inter"/>
              </a:rPr>
              <a:t>(fork)</a:t>
            </a:r>
            <a:r>
              <a:rPr lang="en" sz="1600">
                <a:solidFill>
                  <a:schemeClr val="dk1"/>
                </a:solidFill>
                <a:latin typeface="Inter"/>
                <a:ea typeface="Inter"/>
                <a:cs typeface="Inter"/>
                <a:sym typeface="Inter"/>
              </a:rPr>
              <a:t>.</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Se comunica de forma independente com workers vizinhos via TCP de forma bi-direcional. </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Implementa Work Stealing. Periodicamente, roda os seguintes passos:</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Verifica a sua quantidade de tarefas pendentes;</a:t>
            </a:r>
            <a:endParaRPr sz="1600">
              <a:solidFill>
                <a:schemeClr val="dk1"/>
              </a:solidFill>
              <a:latin typeface="Inter"/>
              <a:ea typeface="Inter"/>
              <a:cs typeface="Inter"/>
              <a:sym typeface="Inter"/>
            </a:endParaRPr>
          </a:p>
          <a:p>
            <a:pPr indent="0" lvl="0" marL="137160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842" name="Shape 842"/>
        <p:cNvGrpSpPr/>
        <p:nvPr/>
      </p:nvGrpSpPr>
      <p:grpSpPr>
        <a:xfrm>
          <a:off x="0" y="0"/>
          <a:ext cx="0" cy="0"/>
          <a:chOff x="0" y="0"/>
          <a:chExt cx="0" cy="0"/>
        </a:xfrm>
      </p:grpSpPr>
      <p:pic>
        <p:nvPicPr>
          <p:cNvPr id="843" name="Google Shape;843;p79"/>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844" name="Google Shape;844;p79"/>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45" name="Google Shape;845;p79"/>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846" name="Google Shape;846;p79"/>
          <p:cNvGrpSpPr/>
          <p:nvPr/>
        </p:nvGrpSpPr>
        <p:grpSpPr>
          <a:xfrm>
            <a:off x="457200" y="4762500"/>
            <a:ext cx="8229600" cy="304800"/>
            <a:chOff x="0" y="0"/>
            <a:chExt cx="8229600" cy="304800"/>
          </a:xfrm>
        </p:grpSpPr>
        <p:cxnSp>
          <p:nvCxnSpPr>
            <p:cNvPr id="847" name="Google Shape;847;p79"/>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848" name="Google Shape;848;p79"/>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849" name="Google Shape;849;p79"/>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850" name="Google Shape;850;p79"/>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Worker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É uma entidade independente, recebe tarefas e as executa.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Cada worker roda como um processo a parte no SO </a:t>
            </a:r>
            <a:r>
              <a:rPr lang="en" sz="1600">
                <a:solidFill>
                  <a:schemeClr val="dk1"/>
                </a:solidFill>
                <a:latin typeface="Inter"/>
                <a:ea typeface="Inter"/>
                <a:cs typeface="Inter"/>
                <a:sym typeface="Inter"/>
              </a:rPr>
              <a:t>(fork)</a:t>
            </a:r>
            <a:r>
              <a:rPr lang="en" sz="1600">
                <a:solidFill>
                  <a:schemeClr val="dk1"/>
                </a:solidFill>
                <a:latin typeface="Inter"/>
                <a:ea typeface="Inter"/>
                <a:cs typeface="Inter"/>
                <a:sym typeface="Inter"/>
              </a:rPr>
              <a:t>.</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Se comunica de forma independente com workers vizinhos via TCP de forma bi-direcional. </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Implementa Work Stealing. Periodicamente, roda os seguintes passos:</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Verifica a sua quantidade de tarefas pendentes;</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Se a quantidade for muito alta, joga parte das tarefas a um vizinho aleatório.</a:t>
            </a:r>
            <a:endParaRPr sz="1600">
              <a:solidFill>
                <a:schemeClr val="dk1"/>
              </a:solidFill>
              <a:latin typeface="Inter"/>
              <a:ea typeface="Inter"/>
              <a:cs typeface="Inter"/>
              <a:sym typeface="Inter"/>
            </a:endParaRPr>
          </a:p>
          <a:p>
            <a:pPr indent="0" lvl="0" marL="137160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854" name="Shape 854"/>
        <p:cNvGrpSpPr/>
        <p:nvPr/>
      </p:nvGrpSpPr>
      <p:grpSpPr>
        <a:xfrm>
          <a:off x="0" y="0"/>
          <a:ext cx="0" cy="0"/>
          <a:chOff x="0" y="0"/>
          <a:chExt cx="0" cy="0"/>
        </a:xfrm>
      </p:grpSpPr>
      <p:pic>
        <p:nvPicPr>
          <p:cNvPr id="855" name="Google Shape;855;p80"/>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856" name="Google Shape;856;p80"/>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57" name="Google Shape;857;p80"/>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858" name="Google Shape;858;p80"/>
          <p:cNvGrpSpPr/>
          <p:nvPr/>
        </p:nvGrpSpPr>
        <p:grpSpPr>
          <a:xfrm>
            <a:off x="457200" y="4762500"/>
            <a:ext cx="8229600" cy="304800"/>
            <a:chOff x="0" y="0"/>
            <a:chExt cx="8229600" cy="304800"/>
          </a:xfrm>
        </p:grpSpPr>
        <p:cxnSp>
          <p:nvCxnSpPr>
            <p:cNvPr id="859" name="Google Shape;859;p80"/>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860" name="Google Shape;860;p80"/>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861" name="Google Shape;861;p80"/>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862" name="Google Shape;862;p80"/>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Worker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É uma entidade independente, recebe tarefas e as executa.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Cada worker roda como um processo a parte no SO </a:t>
            </a:r>
            <a:r>
              <a:rPr lang="en" sz="1600">
                <a:solidFill>
                  <a:schemeClr val="dk1"/>
                </a:solidFill>
                <a:latin typeface="Inter"/>
                <a:ea typeface="Inter"/>
                <a:cs typeface="Inter"/>
                <a:sym typeface="Inter"/>
              </a:rPr>
              <a:t>(fork)</a:t>
            </a:r>
            <a:r>
              <a:rPr lang="en" sz="1600">
                <a:solidFill>
                  <a:schemeClr val="dk1"/>
                </a:solidFill>
                <a:latin typeface="Inter"/>
                <a:ea typeface="Inter"/>
                <a:cs typeface="Inter"/>
                <a:sym typeface="Inter"/>
              </a:rPr>
              <a:t>.</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Se comunica de forma independente com workers vizinhos via TCP de forma bi-direcional. </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Implementa Work Stealing. Periodicamente, roda os seguintes passos:</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Verifica a sua quantidade de tarefas pendentes;</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Se a quantidade for muito alta, joga parte das tarefas a um vizinho aleatório.</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Se a quantidade for 0 (Ocioso), pede tarefas a um vizinho aleatório.</a:t>
            </a:r>
            <a:endParaRPr sz="1600">
              <a:solidFill>
                <a:schemeClr val="dk1"/>
              </a:solidFill>
              <a:latin typeface="Inter"/>
              <a:ea typeface="Inter"/>
              <a:cs typeface="Inter"/>
              <a:sym typeface="Inte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866" name="Shape 866"/>
        <p:cNvGrpSpPr/>
        <p:nvPr/>
      </p:nvGrpSpPr>
      <p:grpSpPr>
        <a:xfrm>
          <a:off x="0" y="0"/>
          <a:ext cx="0" cy="0"/>
          <a:chOff x="0" y="0"/>
          <a:chExt cx="0" cy="0"/>
        </a:xfrm>
      </p:grpSpPr>
      <p:pic>
        <p:nvPicPr>
          <p:cNvPr id="867" name="Google Shape;867;p81"/>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868" name="Google Shape;868;p81"/>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69" name="Google Shape;869;p81"/>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870" name="Google Shape;870;p81"/>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Worker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Possui um canal de entrada e um de saída por vizinho.</a:t>
            </a:r>
            <a:endParaRPr sz="1600">
              <a:solidFill>
                <a:schemeClr val="dk1"/>
              </a:solidFill>
              <a:latin typeface="Inter"/>
              <a:ea typeface="Inter"/>
              <a:cs typeface="Inter"/>
              <a:sym typeface="Inter"/>
            </a:endParaRPr>
          </a:p>
          <a:p>
            <a:pPr indent="0" lvl="0" marL="1371600" rtl="0" algn="l">
              <a:spcBef>
                <a:spcPts val="1200"/>
              </a:spcBef>
              <a:spcAft>
                <a:spcPts val="1200"/>
              </a:spcAft>
              <a:buNone/>
            </a:pPr>
            <a:r>
              <a:t/>
            </a:r>
            <a:endParaRPr sz="1600">
              <a:solidFill>
                <a:schemeClr val="dk1"/>
              </a:solidFill>
              <a:latin typeface="Inter"/>
              <a:ea typeface="Inter"/>
              <a:cs typeface="Inter"/>
              <a:sym typeface="Inter"/>
            </a:endParaRPr>
          </a:p>
        </p:txBody>
      </p:sp>
      <p:grpSp>
        <p:nvGrpSpPr>
          <p:cNvPr id="871" name="Google Shape;871;p81"/>
          <p:cNvGrpSpPr/>
          <p:nvPr/>
        </p:nvGrpSpPr>
        <p:grpSpPr>
          <a:xfrm>
            <a:off x="457200" y="4762500"/>
            <a:ext cx="8229600" cy="304800"/>
            <a:chOff x="0" y="0"/>
            <a:chExt cx="8229600" cy="304800"/>
          </a:xfrm>
        </p:grpSpPr>
        <p:cxnSp>
          <p:nvCxnSpPr>
            <p:cNvPr id="872" name="Google Shape;872;p81"/>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873" name="Google Shape;873;p81"/>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874" name="Google Shape;874;p81"/>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878" name="Shape 878"/>
        <p:cNvGrpSpPr/>
        <p:nvPr/>
      </p:nvGrpSpPr>
      <p:grpSpPr>
        <a:xfrm>
          <a:off x="0" y="0"/>
          <a:ext cx="0" cy="0"/>
          <a:chOff x="0" y="0"/>
          <a:chExt cx="0" cy="0"/>
        </a:xfrm>
      </p:grpSpPr>
      <p:pic>
        <p:nvPicPr>
          <p:cNvPr id="879" name="Google Shape;879;p82"/>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880" name="Google Shape;880;p82"/>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81" name="Google Shape;881;p82"/>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882" name="Google Shape;882;p82"/>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Worker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Possui um canal de entrada e um de saída por vizinho.</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A aplicação suporta as topologias de Mesh e Ring.</a:t>
            </a:r>
            <a:endParaRPr sz="1600">
              <a:solidFill>
                <a:schemeClr val="dk1"/>
              </a:solidFill>
              <a:latin typeface="Inter"/>
              <a:ea typeface="Inter"/>
              <a:cs typeface="Inter"/>
              <a:sym typeface="Inter"/>
            </a:endParaRPr>
          </a:p>
          <a:p>
            <a:pPr indent="0" lvl="0" marL="914400" rtl="0" algn="l">
              <a:spcBef>
                <a:spcPts val="1200"/>
              </a:spcBef>
              <a:spcAft>
                <a:spcPts val="1200"/>
              </a:spcAft>
              <a:buNone/>
            </a:pPr>
            <a:r>
              <a:t/>
            </a:r>
            <a:endParaRPr sz="1600">
              <a:solidFill>
                <a:schemeClr val="dk1"/>
              </a:solidFill>
              <a:latin typeface="Inter"/>
              <a:ea typeface="Inter"/>
              <a:cs typeface="Inter"/>
              <a:sym typeface="Inter"/>
            </a:endParaRPr>
          </a:p>
        </p:txBody>
      </p:sp>
      <p:grpSp>
        <p:nvGrpSpPr>
          <p:cNvPr id="883" name="Google Shape;883;p82"/>
          <p:cNvGrpSpPr/>
          <p:nvPr/>
        </p:nvGrpSpPr>
        <p:grpSpPr>
          <a:xfrm>
            <a:off x="457200" y="4762500"/>
            <a:ext cx="8229600" cy="304800"/>
            <a:chOff x="0" y="0"/>
            <a:chExt cx="8229600" cy="304800"/>
          </a:xfrm>
        </p:grpSpPr>
        <p:cxnSp>
          <p:nvCxnSpPr>
            <p:cNvPr id="884" name="Google Shape;884;p82"/>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885" name="Google Shape;885;p82"/>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886" name="Google Shape;886;p82"/>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890" name="Shape 890"/>
        <p:cNvGrpSpPr/>
        <p:nvPr/>
      </p:nvGrpSpPr>
      <p:grpSpPr>
        <a:xfrm>
          <a:off x="0" y="0"/>
          <a:ext cx="0" cy="0"/>
          <a:chOff x="0" y="0"/>
          <a:chExt cx="0" cy="0"/>
        </a:xfrm>
      </p:grpSpPr>
      <p:pic>
        <p:nvPicPr>
          <p:cNvPr id="891" name="Google Shape;891;p83"/>
          <p:cNvPicPr preferRelativeResize="0"/>
          <p:nvPr/>
        </p:nvPicPr>
        <p:blipFill rotWithShape="1">
          <a:blip r:embed="rId3">
            <a:alphaModFix/>
          </a:blip>
          <a:srcRect b="-3530" l="-12080" r="12080" t="3530"/>
          <a:stretch/>
        </p:blipFill>
        <p:spPr>
          <a:xfrm>
            <a:off x="-465103" y="-147200"/>
            <a:ext cx="9144000" cy="5143500"/>
          </a:xfrm>
          <a:prstGeom prst="rect">
            <a:avLst/>
          </a:prstGeom>
          <a:noFill/>
          <a:ln>
            <a:noFill/>
          </a:ln>
        </p:spPr>
      </p:pic>
      <p:sp>
        <p:nvSpPr>
          <p:cNvPr id="892" name="Google Shape;892;p83"/>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93" name="Google Shape;893;p83"/>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894" name="Google Shape;894;p83"/>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Worker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Possui um canal de entrada e um de saída por vizinho.</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A aplicação suporta as topologias de Mesh e Ring.</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Roda 2 + k threads, em que k é o número de vizinhos</a:t>
            </a:r>
            <a:endParaRPr sz="1600">
              <a:solidFill>
                <a:schemeClr val="dk1"/>
              </a:solidFill>
              <a:latin typeface="Inter"/>
              <a:ea typeface="Inter"/>
              <a:cs typeface="Inter"/>
              <a:sym typeface="Inter"/>
            </a:endParaRPr>
          </a:p>
          <a:p>
            <a:pPr indent="0" lvl="0" marL="1371600" rtl="0" algn="l">
              <a:spcBef>
                <a:spcPts val="1200"/>
              </a:spcBef>
              <a:spcAft>
                <a:spcPts val="1200"/>
              </a:spcAft>
              <a:buNone/>
            </a:pPr>
            <a:r>
              <a:t/>
            </a:r>
            <a:endParaRPr sz="1600">
              <a:solidFill>
                <a:schemeClr val="dk1"/>
              </a:solidFill>
              <a:latin typeface="Inter"/>
              <a:ea typeface="Inter"/>
              <a:cs typeface="Inter"/>
              <a:sym typeface="Inter"/>
            </a:endParaRPr>
          </a:p>
        </p:txBody>
      </p:sp>
      <p:grpSp>
        <p:nvGrpSpPr>
          <p:cNvPr id="895" name="Google Shape;895;p83"/>
          <p:cNvGrpSpPr/>
          <p:nvPr/>
        </p:nvGrpSpPr>
        <p:grpSpPr>
          <a:xfrm>
            <a:off x="457200" y="4762500"/>
            <a:ext cx="8229600" cy="304800"/>
            <a:chOff x="0" y="0"/>
            <a:chExt cx="8229600" cy="304800"/>
          </a:xfrm>
        </p:grpSpPr>
        <p:cxnSp>
          <p:nvCxnSpPr>
            <p:cNvPr id="896" name="Google Shape;896;p83"/>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897" name="Google Shape;897;p83"/>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898" name="Google Shape;898;p83"/>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902" name="Shape 902"/>
        <p:cNvGrpSpPr/>
        <p:nvPr/>
      </p:nvGrpSpPr>
      <p:grpSpPr>
        <a:xfrm>
          <a:off x="0" y="0"/>
          <a:ext cx="0" cy="0"/>
          <a:chOff x="0" y="0"/>
          <a:chExt cx="0" cy="0"/>
        </a:xfrm>
      </p:grpSpPr>
      <p:pic>
        <p:nvPicPr>
          <p:cNvPr id="903" name="Google Shape;903;p84"/>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904" name="Google Shape;904;p84"/>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05" name="Google Shape;905;p84"/>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906" name="Google Shape;906;p84"/>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Worker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Possui um canal de entrada e um de saída por vizinho.</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A aplicação suporta as topologias de Mesh e Ring.</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Roda 2 + k threads, em que k é o número de vizinhos</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Uma thread por canal de entrada (K threads ao total)</a:t>
            </a:r>
            <a:endParaRPr sz="1600">
              <a:solidFill>
                <a:schemeClr val="dk1"/>
              </a:solidFill>
              <a:latin typeface="Inter"/>
              <a:ea typeface="Inter"/>
              <a:cs typeface="Inter"/>
              <a:sym typeface="Inter"/>
            </a:endParaRPr>
          </a:p>
          <a:p>
            <a:pPr indent="0" lvl="0" marL="1371600" rtl="0" algn="l">
              <a:spcBef>
                <a:spcPts val="1200"/>
              </a:spcBef>
              <a:spcAft>
                <a:spcPts val="1200"/>
              </a:spcAft>
              <a:buNone/>
            </a:pPr>
            <a:r>
              <a:t/>
            </a:r>
            <a:endParaRPr sz="1600">
              <a:solidFill>
                <a:schemeClr val="dk1"/>
              </a:solidFill>
              <a:latin typeface="Inter"/>
              <a:ea typeface="Inter"/>
              <a:cs typeface="Inter"/>
              <a:sym typeface="Inter"/>
            </a:endParaRPr>
          </a:p>
        </p:txBody>
      </p:sp>
      <p:grpSp>
        <p:nvGrpSpPr>
          <p:cNvPr id="907" name="Google Shape;907;p84"/>
          <p:cNvGrpSpPr/>
          <p:nvPr/>
        </p:nvGrpSpPr>
        <p:grpSpPr>
          <a:xfrm>
            <a:off x="457200" y="4762500"/>
            <a:ext cx="8229600" cy="304800"/>
            <a:chOff x="0" y="0"/>
            <a:chExt cx="8229600" cy="304800"/>
          </a:xfrm>
        </p:grpSpPr>
        <p:cxnSp>
          <p:nvCxnSpPr>
            <p:cNvPr id="908" name="Google Shape;908;p84"/>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909" name="Google Shape;909;p84"/>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910" name="Google Shape;910;p84"/>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914" name="Shape 914"/>
        <p:cNvGrpSpPr/>
        <p:nvPr/>
      </p:nvGrpSpPr>
      <p:grpSpPr>
        <a:xfrm>
          <a:off x="0" y="0"/>
          <a:ext cx="0" cy="0"/>
          <a:chOff x="0" y="0"/>
          <a:chExt cx="0" cy="0"/>
        </a:xfrm>
      </p:grpSpPr>
      <p:pic>
        <p:nvPicPr>
          <p:cNvPr id="915" name="Google Shape;915;p85"/>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916" name="Google Shape;916;p85"/>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17" name="Google Shape;917;p85"/>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918" name="Google Shape;918;p85"/>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Worker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Possui um canal de entrada e um de saída por vizinho.</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A aplicação suporta as topologias de Mesh e Ring.</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Roda 2 + k threads, em que k é o número de vizinhos</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Uma thread por canal de entrada (K threads ao total)</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Uma thread que lê o canal de entrada do controle</a:t>
            </a:r>
            <a:endParaRPr sz="1600">
              <a:solidFill>
                <a:schemeClr val="dk1"/>
              </a:solidFill>
              <a:latin typeface="Inter"/>
              <a:ea typeface="Inter"/>
              <a:cs typeface="Inter"/>
              <a:sym typeface="Inter"/>
            </a:endParaRPr>
          </a:p>
          <a:p>
            <a:pPr indent="0" lvl="0" marL="1371600" rtl="0" algn="l">
              <a:spcBef>
                <a:spcPts val="1200"/>
              </a:spcBef>
              <a:spcAft>
                <a:spcPts val="1200"/>
              </a:spcAft>
              <a:buNone/>
            </a:pPr>
            <a:r>
              <a:t/>
            </a:r>
            <a:endParaRPr sz="1600">
              <a:solidFill>
                <a:schemeClr val="dk1"/>
              </a:solidFill>
              <a:latin typeface="Inter"/>
              <a:ea typeface="Inter"/>
              <a:cs typeface="Inter"/>
              <a:sym typeface="Inter"/>
            </a:endParaRPr>
          </a:p>
        </p:txBody>
      </p:sp>
      <p:grpSp>
        <p:nvGrpSpPr>
          <p:cNvPr id="919" name="Google Shape;919;p85"/>
          <p:cNvGrpSpPr/>
          <p:nvPr/>
        </p:nvGrpSpPr>
        <p:grpSpPr>
          <a:xfrm>
            <a:off x="457200" y="4762500"/>
            <a:ext cx="8229600" cy="304800"/>
            <a:chOff x="0" y="0"/>
            <a:chExt cx="8229600" cy="304800"/>
          </a:xfrm>
        </p:grpSpPr>
        <p:cxnSp>
          <p:nvCxnSpPr>
            <p:cNvPr id="920" name="Google Shape;920;p85"/>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921" name="Google Shape;921;p85"/>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922" name="Google Shape;922;p85"/>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926" name="Shape 926"/>
        <p:cNvGrpSpPr/>
        <p:nvPr/>
      </p:nvGrpSpPr>
      <p:grpSpPr>
        <a:xfrm>
          <a:off x="0" y="0"/>
          <a:ext cx="0" cy="0"/>
          <a:chOff x="0" y="0"/>
          <a:chExt cx="0" cy="0"/>
        </a:xfrm>
      </p:grpSpPr>
      <p:pic>
        <p:nvPicPr>
          <p:cNvPr id="927" name="Google Shape;927;p86"/>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928" name="Google Shape;928;p86"/>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29" name="Google Shape;929;p86"/>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930" name="Google Shape;930;p86"/>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Worker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Possui um canal de entrada e um de saída por vizinho.</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A aplicação suporta as topologias de Mesh e Ring.</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Roda 2 + k threads, em que k é o número de vizinhos</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Uma thread por canal de entrada (K threads ao total)</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Uma thread que lê o canal de entrada do controle</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Uma thread consumidora, processa as tarefas e lida com as mensagens recebidas. Zero locks aqui.</a:t>
            </a:r>
            <a:endParaRPr sz="1600">
              <a:solidFill>
                <a:schemeClr val="dk1"/>
              </a:solidFill>
              <a:latin typeface="Inter"/>
              <a:ea typeface="Inter"/>
              <a:cs typeface="Inter"/>
              <a:sym typeface="Inter"/>
            </a:endParaRPr>
          </a:p>
          <a:p>
            <a:pPr indent="0" lvl="0" marL="914400" rtl="0" algn="l">
              <a:spcBef>
                <a:spcPts val="1200"/>
              </a:spcBef>
              <a:spcAft>
                <a:spcPts val="1200"/>
              </a:spcAft>
              <a:buNone/>
            </a:pPr>
            <a:r>
              <a:t/>
            </a:r>
            <a:endParaRPr sz="1600">
              <a:solidFill>
                <a:schemeClr val="accent1"/>
              </a:solidFill>
              <a:latin typeface="Inter"/>
              <a:ea typeface="Inter"/>
              <a:cs typeface="Inter"/>
              <a:sym typeface="Inter"/>
            </a:endParaRPr>
          </a:p>
        </p:txBody>
      </p:sp>
      <p:grpSp>
        <p:nvGrpSpPr>
          <p:cNvPr id="931" name="Google Shape;931;p86"/>
          <p:cNvGrpSpPr/>
          <p:nvPr/>
        </p:nvGrpSpPr>
        <p:grpSpPr>
          <a:xfrm>
            <a:off x="457200" y="4762500"/>
            <a:ext cx="8229600" cy="304800"/>
            <a:chOff x="0" y="0"/>
            <a:chExt cx="8229600" cy="304800"/>
          </a:xfrm>
        </p:grpSpPr>
        <p:cxnSp>
          <p:nvCxnSpPr>
            <p:cNvPr id="932" name="Google Shape;932;p86"/>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933" name="Google Shape;933;p86"/>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934" name="Google Shape;934;p86"/>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938" name="Shape 938"/>
        <p:cNvGrpSpPr/>
        <p:nvPr/>
      </p:nvGrpSpPr>
      <p:grpSpPr>
        <a:xfrm>
          <a:off x="0" y="0"/>
          <a:ext cx="0" cy="0"/>
          <a:chOff x="0" y="0"/>
          <a:chExt cx="0" cy="0"/>
        </a:xfrm>
      </p:grpSpPr>
      <p:pic>
        <p:nvPicPr>
          <p:cNvPr id="939" name="Google Shape;939;p87"/>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940" name="Google Shape;940;p87"/>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41" name="Google Shape;941;p87"/>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942" name="Google Shape;942;p87"/>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Worker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Possui um canal de entrada e um de saída por vizinho.</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A aplicação suporta as topologias de Mesh e Ring.</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Roda 2 + k threads, em que k é o número de vizinhos</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Uma thread por canal de entrada (K threads ao total)</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Uma thread que lê o canal de entrada do controle</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Uma thread consumidora, processa as tarefas e lida com as mensagens recebidas. Zero locks aqui.</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Manda periódicamente pacotes de telemetría UDP para o monitor</a:t>
            </a:r>
            <a:endParaRPr sz="1600">
              <a:solidFill>
                <a:schemeClr val="accent1"/>
              </a:solidFill>
              <a:latin typeface="Inter"/>
              <a:ea typeface="Inter"/>
              <a:cs typeface="Inter"/>
              <a:sym typeface="Inter"/>
            </a:endParaRPr>
          </a:p>
        </p:txBody>
      </p:sp>
      <p:grpSp>
        <p:nvGrpSpPr>
          <p:cNvPr id="943" name="Google Shape;943;p87"/>
          <p:cNvGrpSpPr/>
          <p:nvPr/>
        </p:nvGrpSpPr>
        <p:grpSpPr>
          <a:xfrm>
            <a:off x="457200" y="4762500"/>
            <a:ext cx="8229600" cy="304800"/>
            <a:chOff x="0" y="0"/>
            <a:chExt cx="8229600" cy="304800"/>
          </a:xfrm>
        </p:grpSpPr>
        <p:cxnSp>
          <p:nvCxnSpPr>
            <p:cNvPr id="944" name="Google Shape;944;p87"/>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945" name="Google Shape;945;p87"/>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946" name="Google Shape;946;p87"/>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950" name="Shape 950"/>
        <p:cNvGrpSpPr/>
        <p:nvPr/>
      </p:nvGrpSpPr>
      <p:grpSpPr>
        <a:xfrm>
          <a:off x="0" y="0"/>
          <a:ext cx="0" cy="0"/>
          <a:chOff x="0" y="0"/>
          <a:chExt cx="0" cy="0"/>
        </a:xfrm>
      </p:grpSpPr>
      <p:pic>
        <p:nvPicPr>
          <p:cNvPr id="951" name="Google Shape;951;p88"/>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952" name="Google Shape;952;p88"/>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53" name="Google Shape;953;p88"/>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954" name="Google Shape;954;p88"/>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Monitor</a:t>
            </a:r>
            <a:endParaRPr sz="1900">
              <a:solidFill>
                <a:srgbClr val="111827"/>
              </a:solidFill>
              <a:latin typeface="Inter"/>
              <a:ea typeface="Inter"/>
              <a:cs typeface="Inter"/>
              <a:sym typeface="Inter"/>
            </a:endParaRPr>
          </a:p>
          <a:p>
            <a:pPr indent="0" lvl="0" marL="914400" rtl="0" algn="l">
              <a:spcBef>
                <a:spcPts val="1200"/>
              </a:spcBef>
              <a:spcAft>
                <a:spcPts val="1200"/>
              </a:spcAft>
              <a:buNone/>
            </a:pPr>
            <a:r>
              <a:t/>
            </a:r>
            <a:endParaRPr sz="1600">
              <a:solidFill>
                <a:schemeClr val="accent1"/>
              </a:solidFill>
              <a:latin typeface="Inter"/>
              <a:ea typeface="Inter"/>
              <a:cs typeface="Inter"/>
              <a:sym typeface="Inter"/>
            </a:endParaRPr>
          </a:p>
        </p:txBody>
      </p:sp>
      <p:grpSp>
        <p:nvGrpSpPr>
          <p:cNvPr id="955" name="Google Shape;955;p88"/>
          <p:cNvGrpSpPr/>
          <p:nvPr/>
        </p:nvGrpSpPr>
        <p:grpSpPr>
          <a:xfrm>
            <a:off x="457200" y="4762500"/>
            <a:ext cx="8229600" cy="304800"/>
            <a:chOff x="0" y="0"/>
            <a:chExt cx="8229600" cy="304800"/>
          </a:xfrm>
        </p:grpSpPr>
        <p:cxnSp>
          <p:nvCxnSpPr>
            <p:cNvPr id="956" name="Google Shape;956;p88"/>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957" name="Google Shape;957;p88"/>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958" name="Google Shape;958;p88"/>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962" name="Shape 962"/>
        <p:cNvGrpSpPr/>
        <p:nvPr/>
      </p:nvGrpSpPr>
      <p:grpSpPr>
        <a:xfrm>
          <a:off x="0" y="0"/>
          <a:ext cx="0" cy="0"/>
          <a:chOff x="0" y="0"/>
          <a:chExt cx="0" cy="0"/>
        </a:xfrm>
      </p:grpSpPr>
      <p:pic>
        <p:nvPicPr>
          <p:cNvPr id="963" name="Google Shape;963;p89"/>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964" name="Google Shape;964;p89"/>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65" name="Google Shape;965;p89"/>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966" name="Google Shape;966;p89"/>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Monitor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Interface feita com o ImGui</a:t>
            </a:r>
            <a:endParaRPr sz="1600">
              <a:solidFill>
                <a:schemeClr val="dk1"/>
              </a:solidFill>
              <a:latin typeface="Inter"/>
              <a:ea typeface="Inter"/>
              <a:cs typeface="Inter"/>
              <a:sym typeface="Inter"/>
            </a:endParaRPr>
          </a:p>
          <a:p>
            <a:pPr indent="0" lvl="0" marL="914400" rtl="0" algn="l">
              <a:spcBef>
                <a:spcPts val="1200"/>
              </a:spcBef>
              <a:spcAft>
                <a:spcPts val="1200"/>
              </a:spcAft>
              <a:buNone/>
            </a:pPr>
            <a:r>
              <a:t/>
            </a:r>
            <a:endParaRPr sz="1600">
              <a:solidFill>
                <a:schemeClr val="accent1"/>
              </a:solidFill>
              <a:latin typeface="Inter"/>
              <a:ea typeface="Inter"/>
              <a:cs typeface="Inter"/>
              <a:sym typeface="Inter"/>
            </a:endParaRPr>
          </a:p>
        </p:txBody>
      </p:sp>
      <p:grpSp>
        <p:nvGrpSpPr>
          <p:cNvPr id="967" name="Google Shape;967;p89"/>
          <p:cNvGrpSpPr/>
          <p:nvPr/>
        </p:nvGrpSpPr>
        <p:grpSpPr>
          <a:xfrm>
            <a:off x="457200" y="4762500"/>
            <a:ext cx="8229600" cy="304800"/>
            <a:chOff x="0" y="0"/>
            <a:chExt cx="8229600" cy="304800"/>
          </a:xfrm>
        </p:grpSpPr>
        <p:cxnSp>
          <p:nvCxnSpPr>
            <p:cNvPr id="968" name="Google Shape;968;p89"/>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969" name="Google Shape;969;p89"/>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970" name="Google Shape;970;p89"/>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974" name="Shape 974"/>
        <p:cNvGrpSpPr/>
        <p:nvPr/>
      </p:nvGrpSpPr>
      <p:grpSpPr>
        <a:xfrm>
          <a:off x="0" y="0"/>
          <a:ext cx="0" cy="0"/>
          <a:chOff x="0" y="0"/>
          <a:chExt cx="0" cy="0"/>
        </a:xfrm>
      </p:grpSpPr>
      <p:pic>
        <p:nvPicPr>
          <p:cNvPr id="975" name="Google Shape;975;p90"/>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976" name="Google Shape;976;p90"/>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77" name="Google Shape;977;p90"/>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978" name="Google Shape;978;p90"/>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Monitor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Interface feita com o ImGui</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Recebe pacotes UDP contendo as informações de cada worker e as renderiza na tela em tempo real</a:t>
            </a:r>
            <a:endParaRPr sz="1600">
              <a:solidFill>
                <a:schemeClr val="dk1"/>
              </a:solidFill>
              <a:latin typeface="Inter"/>
              <a:ea typeface="Inter"/>
              <a:cs typeface="Inter"/>
              <a:sym typeface="Inter"/>
            </a:endParaRPr>
          </a:p>
          <a:p>
            <a:pPr indent="0" lvl="0" marL="1371600" rtl="0" algn="l">
              <a:spcBef>
                <a:spcPts val="1200"/>
              </a:spcBef>
              <a:spcAft>
                <a:spcPts val="1200"/>
              </a:spcAft>
              <a:buNone/>
            </a:pPr>
            <a:r>
              <a:t/>
            </a:r>
            <a:endParaRPr sz="1600">
              <a:solidFill>
                <a:schemeClr val="accent1"/>
              </a:solidFill>
              <a:latin typeface="Inter"/>
              <a:ea typeface="Inter"/>
              <a:cs typeface="Inter"/>
              <a:sym typeface="Inter"/>
            </a:endParaRPr>
          </a:p>
        </p:txBody>
      </p:sp>
      <p:grpSp>
        <p:nvGrpSpPr>
          <p:cNvPr id="979" name="Google Shape;979;p90"/>
          <p:cNvGrpSpPr/>
          <p:nvPr/>
        </p:nvGrpSpPr>
        <p:grpSpPr>
          <a:xfrm>
            <a:off x="457200" y="4762500"/>
            <a:ext cx="8229600" cy="304800"/>
            <a:chOff x="0" y="0"/>
            <a:chExt cx="8229600" cy="304800"/>
          </a:xfrm>
        </p:grpSpPr>
        <p:cxnSp>
          <p:nvCxnSpPr>
            <p:cNvPr id="980" name="Google Shape;980;p90"/>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981" name="Google Shape;981;p90"/>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982" name="Google Shape;982;p90"/>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986" name="Shape 986"/>
        <p:cNvGrpSpPr/>
        <p:nvPr/>
      </p:nvGrpSpPr>
      <p:grpSpPr>
        <a:xfrm>
          <a:off x="0" y="0"/>
          <a:ext cx="0" cy="0"/>
          <a:chOff x="0" y="0"/>
          <a:chExt cx="0" cy="0"/>
        </a:xfrm>
      </p:grpSpPr>
      <p:pic>
        <p:nvPicPr>
          <p:cNvPr id="987" name="Google Shape;987;p91"/>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988" name="Google Shape;988;p91"/>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89" name="Google Shape;989;p91"/>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990" name="Google Shape;990;p91"/>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Monitor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Interface feita com o ImGui</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Recebe pacotes UDP contendo as informações de cada worker e as renderiza na tela em tempo real</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Mostra os logs, tarefas pendentes/concluidas de cada worker, e outras informações gerais</a:t>
            </a:r>
            <a:endParaRPr sz="1600">
              <a:solidFill>
                <a:schemeClr val="dk1"/>
              </a:solidFill>
              <a:latin typeface="Inter"/>
              <a:ea typeface="Inter"/>
              <a:cs typeface="Inter"/>
              <a:sym typeface="Inter"/>
            </a:endParaRPr>
          </a:p>
          <a:p>
            <a:pPr indent="0" lvl="0" marL="1371600" rtl="0" algn="l">
              <a:spcBef>
                <a:spcPts val="1200"/>
              </a:spcBef>
              <a:spcAft>
                <a:spcPts val="1200"/>
              </a:spcAft>
              <a:buNone/>
            </a:pPr>
            <a:r>
              <a:t/>
            </a:r>
            <a:endParaRPr sz="1600">
              <a:solidFill>
                <a:schemeClr val="accent1"/>
              </a:solidFill>
              <a:latin typeface="Inter"/>
              <a:ea typeface="Inter"/>
              <a:cs typeface="Inter"/>
              <a:sym typeface="Inter"/>
            </a:endParaRPr>
          </a:p>
        </p:txBody>
      </p:sp>
      <p:grpSp>
        <p:nvGrpSpPr>
          <p:cNvPr id="991" name="Google Shape;991;p91"/>
          <p:cNvGrpSpPr/>
          <p:nvPr/>
        </p:nvGrpSpPr>
        <p:grpSpPr>
          <a:xfrm>
            <a:off x="457200" y="4762500"/>
            <a:ext cx="8229600" cy="304800"/>
            <a:chOff x="0" y="0"/>
            <a:chExt cx="8229600" cy="304800"/>
          </a:xfrm>
        </p:grpSpPr>
        <p:cxnSp>
          <p:nvCxnSpPr>
            <p:cNvPr id="992" name="Google Shape;992;p91"/>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993" name="Google Shape;993;p91"/>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994" name="Google Shape;994;p91"/>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998" name="Shape 998"/>
        <p:cNvGrpSpPr/>
        <p:nvPr/>
      </p:nvGrpSpPr>
      <p:grpSpPr>
        <a:xfrm>
          <a:off x="0" y="0"/>
          <a:ext cx="0" cy="0"/>
          <a:chOff x="0" y="0"/>
          <a:chExt cx="0" cy="0"/>
        </a:xfrm>
      </p:grpSpPr>
      <p:pic>
        <p:nvPicPr>
          <p:cNvPr id="999" name="Google Shape;999;p92"/>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000" name="Google Shape;1000;p92"/>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01" name="Google Shape;1001;p92"/>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1002" name="Google Shape;1002;p92"/>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Monitor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Interface feita com o ImGui</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Recebe pacotes UDP contendo as informações de cada worker e as renderiza na tela em tempo real</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Mostra os logs, tarefas pendentes/concluidas de cada worker, e outras informações gerais</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Pacotes UDP podem ser perdidos na rede, ou chegarem em uma ordem diferente da enviada. O pacote UDP contém o seq, contador local do worker, o Monitor guarda essa informação e só considera o mais recente.</a:t>
            </a:r>
            <a:endParaRPr sz="1600">
              <a:solidFill>
                <a:schemeClr val="dk1"/>
              </a:solidFill>
              <a:latin typeface="Inter"/>
              <a:ea typeface="Inter"/>
              <a:cs typeface="Inter"/>
              <a:sym typeface="Inter"/>
            </a:endParaRPr>
          </a:p>
          <a:p>
            <a:pPr indent="0" lvl="0" marL="914400" rtl="0" algn="l">
              <a:spcBef>
                <a:spcPts val="1200"/>
              </a:spcBef>
              <a:spcAft>
                <a:spcPts val="1200"/>
              </a:spcAft>
              <a:buNone/>
            </a:pPr>
            <a:r>
              <a:t/>
            </a:r>
            <a:endParaRPr sz="1600">
              <a:solidFill>
                <a:schemeClr val="accent1"/>
              </a:solidFill>
              <a:latin typeface="Inter"/>
              <a:ea typeface="Inter"/>
              <a:cs typeface="Inter"/>
              <a:sym typeface="Inter"/>
            </a:endParaRPr>
          </a:p>
        </p:txBody>
      </p:sp>
      <p:grpSp>
        <p:nvGrpSpPr>
          <p:cNvPr id="1003" name="Google Shape;1003;p92"/>
          <p:cNvGrpSpPr/>
          <p:nvPr/>
        </p:nvGrpSpPr>
        <p:grpSpPr>
          <a:xfrm>
            <a:off x="457200" y="4762500"/>
            <a:ext cx="8229600" cy="304800"/>
            <a:chOff x="0" y="0"/>
            <a:chExt cx="8229600" cy="304800"/>
          </a:xfrm>
        </p:grpSpPr>
        <p:cxnSp>
          <p:nvCxnSpPr>
            <p:cNvPr id="1004" name="Google Shape;1004;p92"/>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005" name="Google Shape;1005;p92"/>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006" name="Google Shape;1006;p92"/>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010" name="Shape 1010"/>
        <p:cNvGrpSpPr/>
        <p:nvPr/>
      </p:nvGrpSpPr>
      <p:grpSpPr>
        <a:xfrm>
          <a:off x="0" y="0"/>
          <a:ext cx="0" cy="0"/>
          <a:chOff x="0" y="0"/>
          <a:chExt cx="0" cy="0"/>
        </a:xfrm>
      </p:grpSpPr>
      <p:pic>
        <p:nvPicPr>
          <p:cNvPr id="1011" name="Google Shape;1011;p93"/>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012" name="Google Shape;1012;p93"/>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13" name="Google Shape;1013;p93"/>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1014" name="Google Shape;1014;p93"/>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Monitor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Interface feita com o ImGui</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Recebe pacotes UDP contendo as informações de cada worker e as renderiza na tela em tempo real</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Mostra os logs, tarefas pendentes/concluidas de cada worker, e outras informações gerais</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Pacotes UDP podem ser perdidos na rede, ou chegarem em uma ordem diferente da enviada. O pacote UDP contém o seq, contador local do worker, o Monitor guarda essa informação e só considera o mais recente.</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Permite a inicialização do snapshot a partir de um worker selecionado</a:t>
            </a:r>
            <a:endParaRPr sz="1600">
              <a:solidFill>
                <a:schemeClr val="dk1"/>
              </a:solidFill>
              <a:latin typeface="Inter"/>
              <a:ea typeface="Inter"/>
              <a:cs typeface="Inter"/>
              <a:sym typeface="Inter"/>
            </a:endParaRPr>
          </a:p>
          <a:p>
            <a:pPr indent="0" lvl="0" marL="914400" rtl="0" algn="l">
              <a:spcBef>
                <a:spcPts val="1200"/>
              </a:spcBef>
              <a:spcAft>
                <a:spcPts val="1200"/>
              </a:spcAft>
              <a:buNone/>
            </a:pPr>
            <a:r>
              <a:t/>
            </a:r>
            <a:endParaRPr sz="1600">
              <a:solidFill>
                <a:schemeClr val="accent1"/>
              </a:solidFill>
              <a:latin typeface="Inter"/>
              <a:ea typeface="Inter"/>
              <a:cs typeface="Inter"/>
              <a:sym typeface="Inter"/>
            </a:endParaRPr>
          </a:p>
        </p:txBody>
      </p:sp>
      <p:grpSp>
        <p:nvGrpSpPr>
          <p:cNvPr id="1015" name="Google Shape;1015;p93"/>
          <p:cNvGrpSpPr/>
          <p:nvPr/>
        </p:nvGrpSpPr>
        <p:grpSpPr>
          <a:xfrm>
            <a:off x="457200" y="4762500"/>
            <a:ext cx="8229600" cy="304800"/>
            <a:chOff x="0" y="0"/>
            <a:chExt cx="8229600" cy="304800"/>
          </a:xfrm>
        </p:grpSpPr>
        <p:cxnSp>
          <p:nvCxnSpPr>
            <p:cNvPr id="1016" name="Google Shape;1016;p93"/>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017" name="Google Shape;1017;p93"/>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018" name="Google Shape;1018;p93"/>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022" name="Shape 1022"/>
        <p:cNvGrpSpPr/>
        <p:nvPr/>
      </p:nvGrpSpPr>
      <p:grpSpPr>
        <a:xfrm>
          <a:off x="0" y="0"/>
          <a:ext cx="0" cy="0"/>
          <a:chOff x="0" y="0"/>
          <a:chExt cx="0" cy="0"/>
        </a:xfrm>
      </p:grpSpPr>
      <p:pic>
        <p:nvPicPr>
          <p:cNvPr id="1023" name="Google Shape;1023;p94"/>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024" name="Google Shape;1024;p94"/>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25" name="Google Shape;1025;p94"/>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1026" name="Google Shape;1026;p94"/>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Monitor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Interface feita com o ImGui</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Recebe pacotes UDP contendo as informações de cada worker e as renderiza na tela em tempo real</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Mostra os logs, tarefas pendentes/concluidas de cada worker, e outras informações gerais</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Pacotes UDP podem ser perdidos na rede, ou chegarem em uma ordem diferente da enviada. O pacote UDP contém o seq, contador local do worker, o Monitor guarda essa informação e só considera o mais recente.</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Permite a inicialização do snapshot a partir de um worker selecionado</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Permite congelar a visualização. Isso é apenas visual, só o monitor para, o sistema continua funcionando.</a:t>
            </a:r>
            <a:endParaRPr sz="1600">
              <a:solidFill>
                <a:schemeClr val="accent1"/>
              </a:solidFill>
              <a:latin typeface="Inter"/>
              <a:ea typeface="Inter"/>
              <a:cs typeface="Inter"/>
              <a:sym typeface="Inter"/>
            </a:endParaRPr>
          </a:p>
        </p:txBody>
      </p:sp>
      <p:grpSp>
        <p:nvGrpSpPr>
          <p:cNvPr id="1027" name="Google Shape;1027;p94"/>
          <p:cNvGrpSpPr/>
          <p:nvPr/>
        </p:nvGrpSpPr>
        <p:grpSpPr>
          <a:xfrm>
            <a:off x="457200" y="4762500"/>
            <a:ext cx="8229600" cy="304800"/>
            <a:chOff x="0" y="0"/>
            <a:chExt cx="8229600" cy="304800"/>
          </a:xfrm>
        </p:grpSpPr>
        <p:cxnSp>
          <p:nvCxnSpPr>
            <p:cNvPr id="1028" name="Google Shape;1028;p94"/>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029" name="Google Shape;1029;p94"/>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030" name="Google Shape;1030;p94"/>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034" name="Shape 1034"/>
        <p:cNvGrpSpPr/>
        <p:nvPr/>
      </p:nvGrpSpPr>
      <p:grpSpPr>
        <a:xfrm>
          <a:off x="0" y="0"/>
          <a:ext cx="0" cy="0"/>
          <a:chOff x="0" y="0"/>
          <a:chExt cx="0" cy="0"/>
        </a:xfrm>
      </p:grpSpPr>
      <p:pic>
        <p:nvPicPr>
          <p:cNvPr id="1035" name="Google Shape;1035;p95"/>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036" name="Google Shape;1036;p95"/>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37" name="Google Shape;1037;p95"/>
          <p:cNvSpPr txBox="1"/>
          <p:nvPr/>
        </p:nvSpPr>
        <p:spPr>
          <a:xfrm>
            <a:off x="449300" y="837250"/>
            <a:ext cx="8496000" cy="41118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b="1" lang="en" sz="1700">
                <a:solidFill>
                  <a:srgbClr val="111827"/>
                </a:solidFill>
                <a:latin typeface="Inter"/>
                <a:ea typeface="Inter"/>
                <a:cs typeface="Inter"/>
                <a:sym typeface="Inter"/>
              </a:rPr>
              <a:t>API: Implementand</a:t>
            </a:r>
            <a:r>
              <a:rPr b="1" lang="en" sz="1700">
                <a:solidFill>
                  <a:srgbClr val="111827"/>
                </a:solidFill>
                <a:latin typeface="Inter"/>
                <a:ea typeface="Inter"/>
                <a:cs typeface="Inter"/>
                <a:sym typeface="Inter"/>
              </a:rPr>
              <a:t>o</a:t>
            </a:r>
            <a:r>
              <a:rPr b="1" lang="en" sz="1700">
                <a:solidFill>
                  <a:srgbClr val="111827"/>
                </a:solidFill>
                <a:latin typeface="Inter"/>
                <a:ea typeface="Inter"/>
                <a:cs typeface="Inter"/>
                <a:sym typeface="Inter"/>
              </a:rPr>
              <a:t> Chandy-Lamport</a:t>
            </a:r>
            <a:endParaRPr sz="1700">
              <a:solidFill>
                <a:srgbClr val="111827"/>
              </a:solidFill>
              <a:latin typeface="Inter"/>
              <a:ea typeface="Inter"/>
              <a:cs typeface="Inter"/>
              <a:sym typeface="Inter"/>
            </a:endParaRPr>
          </a:p>
          <a:p>
            <a:pPr indent="0" lvl="0" marL="914400" rtl="0" algn="l">
              <a:spcBef>
                <a:spcPts val="1200"/>
              </a:spcBef>
              <a:spcAft>
                <a:spcPts val="1200"/>
              </a:spcAft>
              <a:buNone/>
            </a:pPr>
            <a:r>
              <a:t/>
            </a:r>
            <a:endParaRPr>
              <a:solidFill>
                <a:schemeClr val="dk1"/>
              </a:solidFill>
              <a:latin typeface="Inter"/>
              <a:ea typeface="Inter"/>
              <a:cs typeface="Inter"/>
              <a:sym typeface="Inter"/>
            </a:endParaRPr>
          </a:p>
        </p:txBody>
      </p:sp>
      <p:sp>
        <p:nvSpPr>
          <p:cNvPr id="1038" name="Google Shape;1038;p95"/>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1039" name="Google Shape;1039;p95"/>
          <p:cNvGrpSpPr/>
          <p:nvPr/>
        </p:nvGrpSpPr>
        <p:grpSpPr>
          <a:xfrm>
            <a:off x="457200" y="4762500"/>
            <a:ext cx="8229600" cy="304800"/>
            <a:chOff x="0" y="0"/>
            <a:chExt cx="8229600" cy="304800"/>
          </a:xfrm>
        </p:grpSpPr>
        <p:cxnSp>
          <p:nvCxnSpPr>
            <p:cNvPr id="1040" name="Google Shape;1040;p95"/>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041" name="Google Shape;1041;p95"/>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042" name="Google Shape;1042;p95"/>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046" name="Shape 1046"/>
        <p:cNvGrpSpPr/>
        <p:nvPr/>
      </p:nvGrpSpPr>
      <p:grpSpPr>
        <a:xfrm>
          <a:off x="0" y="0"/>
          <a:ext cx="0" cy="0"/>
          <a:chOff x="0" y="0"/>
          <a:chExt cx="0" cy="0"/>
        </a:xfrm>
      </p:grpSpPr>
      <p:pic>
        <p:nvPicPr>
          <p:cNvPr id="1047" name="Google Shape;1047;p96"/>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048" name="Google Shape;1048;p96"/>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49" name="Google Shape;1049;p96"/>
          <p:cNvSpPr txBox="1"/>
          <p:nvPr/>
        </p:nvSpPr>
        <p:spPr>
          <a:xfrm>
            <a:off x="449300" y="837250"/>
            <a:ext cx="8496000" cy="41118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b="1" lang="en" sz="1700">
                <a:solidFill>
                  <a:srgbClr val="111827"/>
                </a:solidFill>
                <a:latin typeface="Inter"/>
                <a:ea typeface="Inter"/>
                <a:cs typeface="Inter"/>
                <a:sym typeface="Inter"/>
              </a:rPr>
              <a:t>API: Implementando Chandy-Lamport</a:t>
            </a:r>
            <a:endParaRPr sz="1700">
              <a:solidFill>
                <a:srgbClr val="111827"/>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Foi construído um motor genérico para o algoritmo – não conhece as tarefas, os sockets e nem os métodos de serialização.</a:t>
            </a:r>
            <a:endParaRPr>
              <a:solidFill>
                <a:schemeClr val="dk1"/>
              </a:solidFill>
              <a:latin typeface="Inter"/>
              <a:ea typeface="Inter"/>
              <a:cs typeface="Inter"/>
              <a:sym typeface="Inter"/>
            </a:endParaRPr>
          </a:p>
          <a:p>
            <a:pPr indent="0" lvl="0" marL="914400" rtl="0" algn="l">
              <a:spcBef>
                <a:spcPts val="1200"/>
              </a:spcBef>
              <a:spcAft>
                <a:spcPts val="1200"/>
              </a:spcAft>
              <a:buNone/>
            </a:pPr>
            <a:r>
              <a:t/>
            </a:r>
            <a:endParaRPr>
              <a:solidFill>
                <a:schemeClr val="dk1"/>
              </a:solidFill>
              <a:latin typeface="Inter"/>
              <a:ea typeface="Inter"/>
              <a:cs typeface="Inter"/>
              <a:sym typeface="Inter"/>
            </a:endParaRPr>
          </a:p>
        </p:txBody>
      </p:sp>
      <p:sp>
        <p:nvSpPr>
          <p:cNvPr id="1050" name="Google Shape;1050;p96"/>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1051" name="Google Shape;1051;p96"/>
          <p:cNvGrpSpPr/>
          <p:nvPr/>
        </p:nvGrpSpPr>
        <p:grpSpPr>
          <a:xfrm>
            <a:off x="457200" y="4762500"/>
            <a:ext cx="8229600" cy="304800"/>
            <a:chOff x="0" y="0"/>
            <a:chExt cx="8229600" cy="304800"/>
          </a:xfrm>
        </p:grpSpPr>
        <p:cxnSp>
          <p:nvCxnSpPr>
            <p:cNvPr id="1052" name="Google Shape;1052;p96"/>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053" name="Google Shape;1053;p96"/>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054" name="Google Shape;1054;p96"/>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058" name="Shape 1058"/>
        <p:cNvGrpSpPr/>
        <p:nvPr/>
      </p:nvGrpSpPr>
      <p:grpSpPr>
        <a:xfrm>
          <a:off x="0" y="0"/>
          <a:ext cx="0" cy="0"/>
          <a:chOff x="0" y="0"/>
          <a:chExt cx="0" cy="0"/>
        </a:xfrm>
      </p:grpSpPr>
      <p:pic>
        <p:nvPicPr>
          <p:cNvPr id="1059" name="Google Shape;1059;p97"/>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060" name="Google Shape;1060;p97"/>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61" name="Google Shape;1061;p97"/>
          <p:cNvSpPr txBox="1"/>
          <p:nvPr/>
        </p:nvSpPr>
        <p:spPr>
          <a:xfrm>
            <a:off x="449300" y="837250"/>
            <a:ext cx="8496000" cy="41118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b="1" lang="en" sz="1700">
                <a:solidFill>
                  <a:srgbClr val="111827"/>
                </a:solidFill>
                <a:latin typeface="Inter"/>
                <a:ea typeface="Inter"/>
                <a:cs typeface="Inter"/>
                <a:sym typeface="Inter"/>
              </a:rPr>
              <a:t>API: Implementando Chandy-Lamport</a:t>
            </a:r>
            <a:endParaRPr sz="1700">
              <a:solidFill>
                <a:srgbClr val="111827"/>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Foi construído um motor genérico para o algoritmo – não conhece as tarefas, os sockets e nem os métodos de serialização.</a:t>
            </a:r>
            <a:endParaRPr>
              <a:solidFill>
                <a:schemeClr val="dk1"/>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Composto de Três métodos públicos, chamados pela thread consumidora:</a:t>
            </a:r>
            <a:endParaRPr>
              <a:solidFill>
                <a:schemeClr val="dk1"/>
              </a:solidFill>
              <a:latin typeface="Inter"/>
              <a:ea typeface="Inter"/>
              <a:cs typeface="Inter"/>
              <a:sym typeface="Inter"/>
            </a:endParaRPr>
          </a:p>
          <a:p>
            <a:pPr indent="0" lvl="0" marL="0" rtl="0" algn="l">
              <a:spcBef>
                <a:spcPts val="1200"/>
              </a:spcBef>
              <a:spcAft>
                <a:spcPts val="1200"/>
              </a:spcAft>
              <a:buNone/>
            </a:pPr>
            <a:r>
              <a:t/>
            </a:r>
            <a:endParaRPr>
              <a:solidFill>
                <a:schemeClr val="dk1"/>
              </a:solidFill>
              <a:latin typeface="Inter"/>
              <a:ea typeface="Inter"/>
              <a:cs typeface="Inter"/>
              <a:sym typeface="Inter"/>
            </a:endParaRPr>
          </a:p>
        </p:txBody>
      </p:sp>
      <p:sp>
        <p:nvSpPr>
          <p:cNvPr id="1062" name="Google Shape;1062;p97"/>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1063" name="Google Shape;1063;p97"/>
          <p:cNvGrpSpPr/>
          <p:nvPr/>
        </p:nvGrpSpPr>
        <p:grpSpPr>
          <a:xfrm>
            <a:off x="457200" y="4762500"/>
            <a:ext cx="8229600" cy="304800"/>
            <a:chOff x="0" y="0"/>
            <a:chExt cx="8229600" cy="304800"/>
          </a:xfrm>
        </p:grpSpPr>
        <p:cxnSp>
          <p:nvCxnSpPr>
            <p:cNvPr id="1064" name="Google Shape;1064;p97"/>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065" name="Google Shape;1065;p97"/>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066" name="Google Shape;1066;p97"/>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070" name="Shape 1070"/>
        <p:cNvGrpSpPr/>
        <p:nvPr/>
      </p:nvGrpSpPr>
      <p:grpSpPr>
        <a:xfrm>
          <a:off x="0" y="0"/>
          <a:ext cx="0" cy="0"/>
          <a:chOff x="0" y="0"/>
          <a:chExt cx="0" cy="0"/>
        </a:xfrm>
      </p:grpSpPr>
      <p:pic>
        <p:nvPicPr>
          <p:cNvPr id="1071" name="Google Shape;1071;p98"/>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072" name="Google Shape;1072;p98"/>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73" name="Google Shape;1073;p98"/>
          <p:cNvSpPr txBox="1"/>
          <p:nvPr/>
        </p:nvSpPr>
        <p:spPr>
          <a:xfrm>
            <a:off x="449300" y="837250"/>
            <a:ext cx="8496000" cy="41118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b="1" lang="en" sz="1700">
                <a:solidFill>
                  <a:srgbClr val="111827"/>
                </a:solidFill>
                <a:latin typeface="Inter"/>
                <a:ea typeface="Inter"/>
                <a:cs typeface="Inter"/>
                <a:sym typeface="Inter"/>
              </a:rPr>
              <a:t>API: Implementando Chandy-Lamport</a:t>
            </a:r>
            <a:endParaRPr sz="1700">
              <a:solidFill>
                <a:srgbClr val="111827"/>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Foi construído um motor genérico para o algoritmo – não conhece as tarefas, os sockets e nem os métodos de serialização.</a:t>
            </a:r>
            <a:endParaRPr>
              <a:solidFill>
                <a:schemeClr val="dk1"/>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Composto de Três métodos públicos, chamados pela thread consumidora:</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iniciar(snapshot_id) -&gt; O nó que chama esse método inicia um snapshot</a:t>
            </a:r>
            <a:endParaRPr>
              <a:solidFill>
                <a:schemeClr val="dk1"/>
              </a:solidFill>
              <a:latin typeface="Inter"/>
              <a:ea typeface="Inter"/>
              <a:cs typeface="Inter"/>
              <a:sym typeface="Inter"/>
            </a:endParaRPr>
          </a:p>
          <a:p>
            <a:pPr indent="0" lvl="0" marL="1371600" rtl="0" algn="l">
              <a:spcBef>
                <a:spcPts val="1200"/>
              </a:spcBef>
              <a:spcAft>
                <a:spcPts val="1200"/>
              </a:spcAft>
              <a:buNone/>
            </a:pPr>
            <a:r>
              <a:t/>
            </a:r>
            <a:endParaRPr>
              <a:solidFill>
                <a:schemeClr val="dk1"/>
              </a:solidFill>
              <a:latin typeface="Inter"/>
              <a:ea typeface="Inter"/>
              <a:cs typeface="Inter"/>
              <a:sym typeface="Inter"/>
            </a:endParaRPr>
          </a:p>
        </p:txBody>
      </p:sp>
      <p:sp>
        <p:nvSpPr>
          <p:cNvPr id="1074" name="Google Shape;1074;p98"/>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1075" name="Google Shape;1075;p98"/>
          <p:cNvGrpSpPr/>
          <p:nvPr/>
        </p:nvGrpSpPr>
        <p:grpSpPr>
          <a:xfrm>
            <a:off x="457200" y="4762500"/>
            <a:ext cx="8229600" cy="304800"/>
            <a:chOff x="0" y="0"/>
            <a:chExt cx="8229600" cy="304800"/>
          </a:xfrm>
        </p:grpSpPr>
        <p:cxnSp>
          <p:nvCxnSpPr>
            <p:cNvPr id="1076" name="Google Shape;1076;p98"/>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077" name="Google Shape;1077;p98"/>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078" name="Google Shape;1078;p98"/>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082" name="Shape 1082"/>
        <p:cNvGrpSpPr/>
        <p:nvPr/>
      </p:nvGrpSpPr>
      <p:grpSpPr>
        <a:xfrm>
          <a:off x="0" y="0"/>
          <a:ext cx="0" cy="0"/>
          <a:chOff x="0" y="0"/>
          <a:chExt cx="0" cy="0"/>
        </a:xfrm>
      </p:grpSpPr>
      <p:pic>
        <p:nvPicPr>
          <p:cNvPr id="1083" name="Google Shape;1083;p99"/>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084" name="Google Shape;1084;p99"/>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85" name="Google Shape;1085;p99"/>
          <p:cNvSpPr txBox="1"/>
          <p:nvPr/>
        </p:nvSpPr>
        <p:spPr>
          <a:xfrm>
            <a:off x="449300" y="837250"/>
            <a:ext cx="8496000" cy="41118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b="1" lang="en" sz="1700">
                <a:solidFill>
                  <a:srgbClr val="111827"/>
                </a:solidFill>
                <a:latin typeface="Inter"/>
                <a:ea typeface="Inter"/>
                <a:cs typeface="Inter"/>
                <a:sym typeface="Inter"/>
              </a:rPr>
              <a:t>API: Implementando Chandy-Lamport</a:t>
            </a:r>
            <a:endParaRPr sz="1700">
              <a:solidFill>
                <a:srgbClr val="111827"/>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Foi construído um motor genérico para o algoritmo – não conhece as tarefas, os sockets e nem os métodos de serialização.</a:t>
            </a:r>
            <a:endParaRPr>
              <a:solidFill>
                <a:schemeClr val="dk1"/>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Composto de Três métodos públicos, chamados pela thread consumidora:</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iniciar(snapshot_id) -&gt; O nó que chama esse método inicia um snapshot</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ao_receber_marcador(origem, id) -&gt; processa o marcador no canal de origem (Aplica as regras do algoritmo)</a:t>
            </a:r>
            <a:endParaRPr>
              <a:solidFill>
                <a:schemeClr val="dk1"/>
              </a:solidFill>
              <a:latin typeface="Inter"/>
              <a:ea typeface="Inter"/>
              <a:cs typeface="Inter"/>
              <a:sym typeface="Inter"/>
            </a:endParaRPr>
          </a:p>
          <a:p>
            <a:pPr indent="0" lvl="0" marL="1371600" rtl="0" algn="l">
              <a:spcBef>
                <a:spcPts val="1200"/>
              </a:spcBef>
              <a:spcAft>
                <a:spcPts val="1200"/>
              </a:spcAft>
              <a:buNone/>
            </a:pPr>
            <a:r>
              <a:t/>
            </a:r>
            <a:endParaRPr>
              <a:solidFill>
                <a:schemeClr val="dk1"/>
              </a:solidFill>
              <a:latin typeface="Inter"/>
              <a:ea typeface="Inter"/>
              <a:cs typeface="Inter"/>
              <a:sym typeface="Inter"/>
            </a:endParaRPr>
          </a:p>
        </p:txBody>
      </p:sp>
      <p:sp>
        <p:nvSpPr>
          <p:cNvPr id="1086" name="Google Shape;1086;p99"/>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1087" name="Google Shape;1087;p99"/>
          <p:cNvGrpSpPr/>
          <p:nvPr/>
        </p:nvGrpSpPr>
        <p:grpSpPr>
          <a:xfrm>
            <a:off x="457200" y="4762500"/>
            <a:ext cx="8229600" cy="304800"/>
            <a:chOff x="0" y="0"/>
            <a:chExt cx="8229600" cy="304800"/>
          </a:xfrm>
        </p:grpSpPr>
        <p:cxnSp>
          <p:nvCxnSpPr>
            <p:cNvPr id="1088" name="Google Shape;1088;p99"/>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089" name="Google Shape;1089;p99"/>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090" name="Google Shape;1090;p99"/>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094" name="Shape 1094"/>
        <p:cNvGrpSpPr/>
        <p:nvPr/>
      </p:nvGrpSpPr>
      <p:grpSpPr>
        <a:xfrm>
          <a:off x="0" y="0"/>
          <a:ext cx="0" cy="0"/>
          <a:chOff x="0" y="0"/>
          <a:chExt cx="0" cy="0"/>
        </a:xfrm>
      </p:grpSpPr>
      <p:pic>
        <p:nvPicPr>
          <p:cNvPr id="1095" name="Google Shape;1095;p100"/>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096" name="Google Shape;1096;p100"/>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97" name="Google Shape;1097;p100"/>
          <p:cNvSpPr txBox="1"/>
          <p:nvPr/>
        </p:nvSpPr>
        <p:spPr>
          <a:xfrm>
            <a:off x="449300" y="837250"/>
            <a:ext cx="8496000" cy="41118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b="1" lang="en" sz="1700">
                <a:solidFill>
                  <a:srgbClr val="111827"/>
                </a:solidFill>
                <a:latin typeface="Inter"/>
                <a:ea typeface="Inter"/>
                <a:cs typeface="Inter"/>
                <a:sym typeface="Inter"/>
              </a:rPr>
              <a:t>API: Implementando Chandy-Lamport</a:t>
            </a:r>
            <a:endParaRPr sz="1700">
              <a:solidFill>
                <a:srgbClr val="111827"/>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Foi construído um motor genérico para o algoritmo – não conhece as tarefas, os sockets e nem os métodos de serialização.</a:t>
            </a:r>
            <a:endParaRPr>
              <a:solidFill>
                <a:schemeClr val="dk1"/>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Composto de Três métodos públicos, chamados pela thread consumidora:</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iniciar(snapshot_id) -&gt; O nó que chama esse método inicia um snapshot</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ao_receber_marcador(origem, id) -&gt; processa o marcador no canal de origem (Aplica as regras do algoritmo)</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ao_receber_negocio(origem, corpo) -&gt; registra as mensagens do canal, se houver algum snapshot gravando aquele canal.</a:t>
            </a:r>
            <a:endParaRPr>
              <a:solidFill>
                <a:schemeClr val="dk1"/>
              </a:solidFill>
              <a:latin typeface="Inter"/>
              <a:ea typeface="Inter"/>
              <a:cs typeface="Inter"/>
              <a:sym typeface="Inter"/>
            </a:endParaRPr>
          </a:p>
          <a:p>
            <a:pPr indent="0" lvl="0" marL="914400" rtl="0" algn="l">
              <a:spcBef>
                <a:spcPts val="1200"/>
              </a:spcBef>
              <a:spcAft>
                <a:spcPts val="1200"/>
              </a:spcAft>
              <a:buNone/>
            </a:pPr>
            <a:r>
              <a:t/>
            </a:r>
            <a:endParaRPr>
              <a:solidFill>
                <a:schemeClr val="dk1"/>
              </a:solidFill>
              <a:latin typeface="Inter"/>
              <a:ea typeface="Inter"/>
              <a:cs typeface="Inter"/>
              <a:sym typeface="Inter"/>
            </a:endParaRPr>
          </a:p>
        </p:txBody>
      </p:sp>
      <p:sp>
        <p:nvSpPr>
          <p:cNvPr id="1098" name="Google Shape;1098;p100"/>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1099" name="Google Shape;1099;p100"/>
          <p:cNvGrpSpPr/>
          <p:nvPr/>
        </p:nvGrpSpPr>
        <p:grpSpPr>
          <a:xfrm>
            <a:off x="457200" y="4762500"/>
            <a:ext cx="8229600" cy="304800"/>
            <a:chOff x="0" y="0"/>
            <a:chExt cx="8229600" cy="304800"/>
          </a:xfrm>
        </p:grpSpPr>
        <p:cxnSp>
          <p:nvCxnSpPr>
            <p:cNvPr id="1100" name="Google Shape;1100;p100"/>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101" name="Google Shape;1101;p100"/>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102" name="Google Shape;1102;p100"/>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106" name="Shape 1106"/>
        <p:cNvGrpSpPr/>
        <p:nvPr/>
      </p:nvGrpSpPr>
      <p:grpSpPr>
        <a:xfrm>
          <a:off x="0" y="0"/>
          <a:ext cx="0" cy="0"/>
          <a:chOff x="0" y="0"/>
          <a:chExt cx="0" cy="0"/>
        </a:xfrm>
      </p:grpSpPr>
      <p:pic>
        <p:nvPicPr>
          <p:cNvPr id="1107" name="Google Shape;1107;p101"/>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108" name="Google Shape;1108;p101"/>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09" name="Google Shape;1109;p101"/>
          <p:cNvSpPr txBox="1"/>
          <p:nvPr/>
        </p:nvSpPr>
        <p:spPr>
          <a:xfrm>
            <a:off x="449300" y="837250"/>
            <a:ext cx="8496000" cy="41118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b="1" lang="en" sz="1700">
                <a:solidFill>
                  <a:srgbClr val="111827"/>
                </a:solidFill>
                <a:latin typeface="Inter"/>
                <a:ea typeface="Inter"/>
                <a:cs typeface="Inter"/>
                <a:sym typeface="Inter"/>
              </a:rPr>
              <a:t>API: Implementando Chandy-Lamport</a:t>
            </a:r>
            <a:endParaRPr sz="1700">
              <a:solidFill>
                <a:srgbClr val="111827"/>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Foi construído um motor genérico para o algoritmo – não conhece as tarefas, os sockets e nem os métodos de serialização.</a:t>
            </a:r>
            <a:endParaRPr>
              <a:solidFill>
                <a:schemeClr val="dk1"/>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Composto de Três métodos públicos, chamados pela thread consumidora:</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iniciar(snapshot_id) -&gt; O nó que chama esse método inicia um snapshot</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ao_receber_marcador(origem, id) -&gt; processa o marcador no canal de origem (Aplica as regras do algoritmo)</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ao_receber_negocio(origem, corpo) -&gt; registra as mensagens do canal, se houver algum snapshot gravando aquele canal.</a:t>
            </a:r>
            <a:endParaRPr>
              <a:solidFill>
                <a:schemeClr val="dk1"/>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Parametrizada por um tipo de ID de nó e de snapshot (No nosso caso, NodeId e SnapshotId).</a:t>
            </a:r>
            <a:endParaRPr>
              <a:solidFill>
                <a:schemeClr val="dk1"/>
              </a:solidFill>
              <a:latin typeface="Inter"/>
              <a:ea typeface="Inter"/>
              <a:cs typeface="Inter"/>
              <a:sym typeface="Inter"/>
            </a:endParaRPr>
          </a:p>
          <a:p>
            <a:pPr indent="0" lvl="0" marL="914400" rtl="0" algn="l">
              <a:spcBef>
                <a:spcPts val="1200"/>
              </a:spcBef>
              <a:spcAft>
                <a:spcPts val="1200"/>
              </a:spcAft>
              <a:buNone/>
            </a:pPr>
            <a:r>
              <a:t/>
            </a:r>
            <a:endParaRPr>
              <a:solidFill>
                <a:schemeClr val="dk1"/>
              </a:solidFill>
              <a:latin typeface="Inter"/>
              <a:ea typeface="Inter"/>
              <a:cs typeface="Inter"/>
              <a:sym typeface="Inter"/>
            </a:endParaRPr>
          </a:p>
        </p:txBody>
      </p:sp>
      <p:sp>
        <p:nvSpPr>
          <p:cNvPr id="1110" name="Google Shape;1110;p101"/>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1111" name="Google Shape;1111;p101"/>
          <p:cNvGrpSpPr/>
          <p:nvPr/>
        </p:nvGrpSpPr>
        <p:grpSpPr>
          <a:xfrm>
            <a:off x="457200" y="4762500"/>
            <a:ext cx="8229600" cy="304800"/>
            <a:chOff x="0" y="0"/>
            <a:chExt cx="8229600" cy="304800"/>
          </a:xfrm>
        </p:grpSpPr>
        <p:cxnSp>
          <p:nvCxnSpPr>
            <p:cNvPr id="1112" name="Google Shape;1112;p101"/>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113" name="Google Shape;1113;p101"/>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114" name="Google Shape;1114;p101"/>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118" name="Shape 1118"/>
        <p:cNvGrpSpPr/>
        <p:nvPr/>
      </p:nvGrpSpPr>
      <p:grpSpPr>
        <a:xfrm>
          <a:off x="0" y="0"/>
          <a:ext cx="0" cy="0"/>
          <a:chOff x="0" y="0"/>
          <a:chExt cx="0" cy="0"/>
        </a:xfrm>
      </p:grpSpPr>
      <p:pic>
        <p:nvPicPr>
          <p:cNvPr id="1119" name="Google Shape;1119;p102"/>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120" name="Google Shape;1120;p102"/>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21" name="Google Shape;1121;p102"/>
          <p:cNvSpPr txBox="1"/>
          <p:nvPr/>
        </p:nvSpPr>
        <p:spPr>
          <a:xfrm>
            <a:off x="449300" y="837250"/>
            <a:ext cx="8496000" cy="41118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b="1" lang="en" sz="1700">
                <a:solidFill>
                  <a:srgbClr val="111827"/>
                </a:solidFill>
                <a:latin typeface="Inter"/>
                <a:ea typeface="Inter"/>
                <a:cs typeface="Inter"/>
                <a:sym typeface="Inter"/>
              </a:rPr>
              <a:t>API: Implementando Chandy-Lamport</a:t>
            </a:r>
            <a:endParaRPr sz="1700">
              <a:solidFill>
                <a:srgbClr val="111827"/>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Foi construído um motor genérico para o algoritmo – não conhece as tarefas, os sockets e nem os métodos de serialização.</a:t>
            </a:r>
            <a:endParaRPr>
              <a:solidFill>
                <a:schemeClr val="dk1"/>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Composto de Três métodos públicos, chamados pela thread consumidora:</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iniciar(snapshot_id) -&gt; O nó que chama esse método inicia um snapshot</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ao_receber_marcador(origem, id) -&gt; processa o marcador no canal de origem (Aplica as regras do algoritmo)</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ao_receber_negocio(origem, corpo) -&gt; registra as mensagens do canal, se houver algum snapshot gravando aquele canal.</a:t>
            </a:r>
            <a:endParaRPr>
              <a:solidFill>
                <a:schemeClr val="dk1"/>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Parametrizada por um tipo de ID de nó e de snapshot (No nosso caso, NodeId e SnapshotId).</a:t>
            </a:r>
            <a:endParaRPr>
              <a:solidFill>
                <a:schemeClr val="dk1"/>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Cada nó carrega uma instância via composição. No construtor injetada três métodos via callback que tornam o motor genérico:</a:t>
            </a:r>
            <a:endParaRPr>
              <a:solidFill>
                <a:schemeClr val="dk1"/>
              </a:solidFill>
              <a:latin typeface="Inter"/>
              <a:ea typeface="Inter"/>
              <a:cs typeface="Inter"/>
              <a:sym typeface="Inter"/>
            </a:endParaRPr>
          </a:p>
          <a:p>
            <a:pPr indent="0" lvl="0" marL="1371600" rtl="0" algn="l">
              <a:spcBef>
                <a:spcPts val="1200"/>
              </a:spcBef>
              <a:spcAft>
                <a:spcPts val="1200"/>
              </a:spcAft>
              <a:buNone/>
            </a:pPr>
            <a:r>
              <a:t/>
            </a:r>
            <a:endParaRPr>
              <a:solidFill>
                <a:schemeClr val="dk1"/>
              </a:solidFill>
              <a:latin typeface="Inter"/>
              <a:ea typeface="Inter"/>
              <a:cs typeface="Inter"/>
              <a:sym typeface="Inter"/>
            </a:endParaRPr>
          </a:p>
        </p:txBody>
      </p:sp>
      <p:sp>
        <p:nvSpPr>
          <p:cNvPr id="1122" name="Google Shape;1122;p102"/>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1123" name="Google Shape;1123;p102"/>
          <p:cNvGrpSpPr/>
          <p:nvPr/>
        </p:nvGrpSpPr>
        <p:grpSpPr>
          <a:xfrm>
            <a:off x="457200" y="4762500"/>
            <a:ext cx="8229600" cy="304800"/>
            <a:chOff x="0" y="0"/>
            <a:chExt cx="8229600" cy="304800"/>
          </a:xfrm>
        </p:grpSpPr>
        <p:cxnSp>
          <p:nvCxnSpPr>
            <p:cNvPr id="1124" name="Google Shape;1124;p102"/>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125" name="Google Shape;1125;p102"/>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126" name="Google Shape;1126;p102"/>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130" name="Shape 1130"/>
        <p:cNvGrpSpPr/>
        <p:nvPr/>
      </p:nvGrpSpPr>
      <p:grpSpPr>
        <a:xfrm>
          <a:off x="0" y="0"/>
          <a:ext cx="0" cy="0"/>
          <a:chOff x="0" y="0"/>
          <a:chExt cx="0" cy="0"/>
        </a:xfrm>
      </p:grpSpPr>
      <p:pic>
        <p:nvPicPr>
          <p:cNvPr id="1131" name="Google Shape;1131;p103"/>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132" name="Google Shape;1132;p103"/>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33" name="Google Shape;1133;p103"/>
          <p:cNvSpPr txBox="1"/>
          <p:nvPr/>
        </p:nvSpPr>
        <p:spPr>
          <a:xfrm>
            <a:off x="449300" y="837250"/>
            <a:ext cx="8496000" cy="41118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b="1" lang="en" sz="1700">
                <a:solidFill>
                  <a:srgbClr val="111827"/>
                </a:solidFill>
                <a:latin typeface="Inter"/>
                <a:ea typeface="Inter"/>
                <a:cs typeface="Inter"/>
                <a:sym typeface="Inter"/>
              </a:rPr>
              <a:t>API: Implementando Chandy-Lamport</a:t>
            </a:r>
            <a:endParaRPr sz="1700">
              <a:solidFill>
                <a:srgbClr val="111827"/>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Foi construído um motor genérico para o algoritmo – não conhece as tarefas, os sockets e nem os métodos de serialização.</a:t>
            </a:r>
            <a:endParaRPr>
              <a:solidFill>
                <a:schemeClr val="dk1"/>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Composto de Três métodos públicos, chamados pela thread consumidora:</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iniciar(snapshot_id) -&gt; O nó que chama esse método inicia um snapshot</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ao_receber_marcador(origem, id) -&gt; processa o marcador no canal de origem (Aplica as regras do algoritmo)</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ao_receber_negocio(origem, corpo) -&gt; registra as mensagens do canal, se houver algum snapshot gravando aquele canal.</a:t>
            </a:r>
            <a:endParaRPr>
              <a:solidFill>
                <a:schemeClr val="dk1"/>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Parametrizada por um tipo de ID de nó e de snapshot (No nosso caso, NodeId e SnapshotId).</a:t>
            </a:r>
            <a:endParaRPr>
              <a:solidFill>
                <a:schemeClr val="dk1"/>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Cada nó carrega uma instância via composição. No construtor injetada três métodos via callback que tornam o motor genérico:</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buffer capturar_local() -&gt; estado local como um blob opaco – O motor não interpreta</a:t>
            </a:r>
            <a:endParaRPr>
              <a:solidFill>
                <a:schemeClr val="dk1"/>
              </a:solidFill>
              <a:latin typeface="Inter"/>
              <a:ea typeface="Inter"/>
              <a:cs typeface="Inter"/>
              <a:sym typeface="Inter"/>
            </a:endParaRPr>
          </a:p>
          <a:p>
            <a:pPr indent="0" lvl="0" marL="1371600" rtl="0" algn="l">
              <a:spcBef>
                <a:spcPts val="1200"/>
              </a:spcBef>
              <a:spcAft>
                <a:spcPts val="1200"/>
              </a:spcAft>
              <a:buNone/>
            </a:pPr>
            <a:r>
              <a:t/>
            </a:r>
            <a:endParaRPr>
              <a:solidFill>
                <a:schemeClr val="dk1"/>
              </a:solidFill>
              <a:latin typeface="Inter"/>
              <a:ea typeface="Inter"/>
              <a:cs typeface="Inter"/>
              <a:sym typeface="Inter"/>
            </a:endParaRPr>
          </a:p>
        </p:txBody>
      </p:sp>
      <p:sp>
        <p:nvSpPr>
          <p:cNvPr id="1134" name="Google Shape;1134;p103"/>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1135" name="Google Shape;1135;p103"/>
          <p:cNvGrpSpPr/>
          <p:nvPr/>
        </p:nvGrpSpPr>
        <p:grpSpPr>
          <a:xfrm>
            <a:off x="457200" y="4762500"/>
            <a:ext cx="8229600" cy="304800"/>
            <a:chOff x="0" y="0"/>
            <a:chExt cx="8229600" cy="304800"/>
          </a:xfrm>
        </p:grpSpPr>
        <p:cxnSp>
          <p:nvCxnSpPr>
            <p:cNvPr id="1136" name="Google Shape;1136;p103"/>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137" name="Google Shape;1137;p103"/>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138" name="Google Shape;1138;p103"/>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142" name="Shape 1142"/>
        <p:cNvGrpSpPr/>
        <p:nvPr/>
      </p:nvGrpSpPr>
      <p:grpSpPr>
        <a:xfrm>
          <a:off x="0" y="0"/>
          <a:ext cx="0" cy="0"/>
          <a:chOff x="0" y="0"/>
          <a:chExt cx="0" cy="0"/>
        </a:xfrm>
      </p:grpSpPr>
      <p:pic>
        <p:nvPicPr>
          <p:cNvPr id="1143" name="Google Shape;1143;p104"/>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144" name="Google Shape;1144;p104"/>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45" name="Google Shape;1145;p104"/>
          <p:cNvSpPr txBox="1"/>
          <p:nvPr/>
        </p:nvSpPr>
        <p:spPr>
          <a:xfrm>
            <a:off x="449300" y="837250"/>
            <a:ext cx="8496000" cy="41118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b="1" lang="en" sz="1700">
                <a:solidFill>
                  <a:srgbClr val="111827"/>
                </a:solidFill>
                <a:latin typeface="Inter"/>
                <a:ea typeface="Inter"/>
                <a:cs typeface="Inter"/>
                <a:sym typeface="Inter"/>
              </a:rPr>
              <a:t>API: Implementando Chandy-Lamport</a:t>
            </a:r>
            <a:endParaRPr sz="1700">
              <a:solidFill>
                <a:srgbClr val="111827"/>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Foi construído um motor genérico para o algoritmo – não conhece as tarefas, os sockets e nem os métodos de serialização.</a:t>
            </a:r>
            <a:endParaRPr>
              <a:solidFill>
                <a:schemeClr val="dk1"/>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Composto de Três métodos públicos, chamados pela thread consumidora:</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iniciar(snapshot_id) -&gt; O nó que chama esse método inicia um snapshot</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ao_receber_marcador(origem, id) -&gt; processa o marcador no canal de origem (Aplica as regras do algoritmo)</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ao_receber_negocio(origem, corpo) -&gt; registra as mensagens do canal, se houver algum snapshot gravando aquele canal.</a:t>
            </a:r>
            <a:endParaRPr>
              <a:solidFill>
                <a:schemeClr val="dk1"/>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Parametrizada por um tipo de ID de nó e de snapshot (No nosso caso, NodeId e SnapshotId).</a:t>
            </a:r>
            <a:endParaRPr>
              <a:solidFill>
                <a:schemeClr val="dk1"/>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Cada nó carrega uma instância via composição. No construtor injetada três métodos via callback que tornam o motor genérico:</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buffer capturar_local() -&gt; estado local como um blob opaco – O motor não interpreta</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enviar_marcador(destino, snapshot_id) -&gt; Emite o marcador a um nó vizinho (O motor não conhece canais/sockets)</a:t>
            </a:r>
            <a:endParaRPr>
              <a:solidFill>
                <a:schemeClr val="dk1"/>
              </a:solidFill>
              <a:latin typeface="Inter"/>
              <a:ea typeface="Inter"/>
              <a:cs typeface="Inter"/>
              <a:sym typeface="Inter"/>
            </a:endParaRPr>
          </a:p>
          <a:p>
            <a:pPr indent="0" lvl="0" marL="1371600" rtl="0" algn="l">
              <a:spcBef>
                <a:spcPts val="1200"/>
              </a:spcBef>
              <a:spcAft>
                <a:spcPts val="1200"/>
              </a:spcAft>
              <a:buNone/>
            </a:pPr>
            <a:r>
              <a:t/>
            </a:r>
            <a:endParaRPr>
              <a:solidFill>
                <a:schemeClr val="dk1"/>
              </a:solidFill>
              <a:latin typeface="Inter"/>
              <a:ea typeface="Inter"/>
              <a:cs typeface="Inter"/>
              <a:sym typeface="Inter"/>
            </a:endParaRPr>
          </a:p>
        </p:txBody>
      </p:sp>
      <p:sp>
        <p:nvSpPr>
          <p:cNvPr id="1146" name="Google Shape;1146;p104"/>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1147" name="Google Shape;1147;p104"/>
          <p:cNvGrpSpPr/>
          <p:nvPr/>
        </p:nvGrpSpPr>
        <p:grpSpPr>
          <a:xfrm>
            <a:off x="457200" y="4762500"/>
            <a:ext cx="8229600" cy="304800"/>
            <a:chOff x="0" y="0"/>
            <a:chExt cx="8229600" cy="304800"/>
          </a:xfrm>
        </p:grpSpPr>
        <p:cxnSp>
          <p:nvCxnSpPr>
            <p:cNvPr id="1148" name="Google Shape;1148;p104"/>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149" name="Google Shape;1149;p104"/>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150" name="Google Shape;1150;p104"/>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154" name="Shape 1154"/>
        <p:cNvGrpSpPr/>
        <p:nvPr/>
      </p:nvGrpSpPr>
      <p:grpSpPr>
        <a:xfrm>
          <a:off x="0" y="0"/>
          <a:ext cx="0" cy="0"/>
          <a:chOff x="0" y="0"/>
          <a:chExt cx="0" cy="0"/>
        </a:xfrm>
      </p:grpSpPr>
      <p:pic>
        <p:nvPicPr>
          <p:cNvPr id="1155" name="Google Shape;1155;p105"/>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156" name="Google Shape;1156;p105"/>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57" name="Google Shape;1157;p105"/>
          <p:cNvSpPr txBox="1"/>
          <p:nvPr/>
        </p:nvSpPr>
        <p:spPr>
          <a:xfrm>
            <a:off x="449300" y="837250"/>
            <a:ext cx="8496000" cy="41118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b="1" lang="en" sz="1700">
                <a:solidFill>
                  <a:srgbClr val="111827"/>
                </a:solidFill>
                <a:latin typeface="Inter"/>
                <a:ea typeface="Inter"/>
                <a:cs typeface="Inter"/>
                <a:sym typeface="Inter"/>
              </a:rPr>
              <a:t>API: Implementando Chandy-Lamport</a:t>
            </a:r>
            <a:endParaRPr sz="1700">
              <a:solidFill>
                <a:srgbClr val="111827"/>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Foi construído um motor genérico para o algoritmo – não conhece as tarefas, os sockets e nem os métodos de serialização.</a:t>
            </a:r>
            <a:endParaRPr>
              <a:solidFill>
                <a:schemeClr val="dk1"/>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Composto de Três métodos públicos, chamados pela thread consumidora:</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iniciar(snapshot_id) -&gt; O nó que chama esse método inicia um snapshot</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ao_receber_marcador(origem, id) -&gt; processa o marcador no canal de origem (Aplica as regras do algoritmo)</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ao_receber_negocio(origem, corpo) -&gt; registra as mensagens do canal, se houver algum snapshot gravando aquele canal.</a:t>
            </a:r>
            <a:endParaRPr>
              <a:solidFill>
                <a:schemeClr val="dk1"/>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Parametrizada por um tipo de ID de nó e de snapshot (No nosso caso, NodeId e SnapshotId).</a:t>
            </a:r>
            <a:endParaRPr>
              <a:solidFill>
                <a:schemeClr val="dk1"/>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Cada nó carrega uma instância via composição. No construtor injetada três métodos via callback que tornam o motor genérico:</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buffer capturar_local() -&gt; estado local como um blob opaco – O motor não interpreta</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enviar_marcador(destino, snapshot_id) -&gt; Emite o marcador a um nó vizinho (O motor não conhece canais/sockets)</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ao_completar(peca_local) -&gt; O nó decide o que fazer com o snapshot.</a:t>
            </a:r>
            <a:endParaRPr>
              <a:solidFill>
                <a:schemeClr val="dk1"/>
              </a:solidFill>
              <a:latin typeface="Inter"/>
              <a:ea typeface="Inter"/>
              <a:cs typeface="Inter"/>
              <a:sym typeface="Inter"/>
            </a:endParaRPr>
          </a:p>
        </p:txBody>
      </p:sp>
      <p:sp>
        <p:nvSpPr>
          <p:cNvPr id="1158" name="Google Shape;1158;p105"/>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1159" name="Google Shape;1159;p105"/>
          <p:cNvGrpSpPr/>
          <p:nvPr/>
        </p:nvGrpSpPr>
        <p:grpSpPr>
          <a:xfrm>
            <a:off x="457200" y="4762500"/>
            <a:ext cx="8229600" cy="304800"/>
            <a:chOff x="0" y="0"/>
            <a:chExt cx="8229600" cy="304800"/>
          </a:xfrm>
        </p:grpSpPr>
        <p:cxnSp>
          <p:nvCxnSpPr>
            <p:cNvPr id="1160" name="Google Shape;1160;p105"/>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161" name="Google Shape;1161;p105"/>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162" name="Google Shape;1162;p105"/>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166" name="Shape 1166"/>
        <p:cNvGrpSpPr/>
        <p:nvPr/>
      </p:nvGrpSpPr>
      <p:grpSpPr>
        <a:xfrm>
          <a:off x="0" y="0"/>
          <a:ext cx="0" cy="0"/>
          <a:chOff x="0" y="0"/>
          <a:chExt cx="0" cy="0"/>
        </a:xfrm>
      </p:grpSpPr>
      <p:pic>
        <p:nvPicPr>
          <p:cNvPr id="1167" name="Google Shape;1167;p106"/>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168" name="Google Shape;1168;p106"/>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69" name="Google Shape;1169;p106"/>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1170" name="Google Shape;1170;p106"/>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Objetivo</a:t>
            </a:r>
            <a:endParaRPr sz="1900">
              <a:solidFill>
                <a:srgbClr val="111827"/>
              </a:solidFill>
              <a:latin typeface="Inter"/>
              <a:ea typeface="Inter"/>
              <a:cs typeface="Inter"/>
              <a:sym typeface="Inter"/>
            </a:endParaRPr>
          </a:p>
          <a:p>
            <a:pPr indent="0" lvl="0" marL="914400" rtl="0" algn="l">
              <a:spcBef>
                <a:spcPts val="1200"/>
              </a:spcBef>
              <a:spcAft>
                <a:spcPts val="1200"/>
              </a:spcAft>
              <a:buNone/>
            </a:pPr>
            <a:r>
              <a:t/>
            </a:r>
            <a:endParaRPr sz="1600">
              <a:solidFill>
                <a:schemeClr val="dk1"/>
              </a:solidFill>
              <a:latin typeface="Inter"/>
              <a:ea typeface="Inter"/>
              <a:cs typeface="Inter"/>
              <a:sym typeface="Inter"/>
            </a:endParaRPr>
          </a:p>
        </p:txBody>
      </p:sp>
      <p:grpSp>
        <p:nvGrpSpPr>
          <p:cNvPr id="1171" name="Google Shape;1171;p106"/>
          <p:cNvGrpSpPr/>
          <p:nvPr/>
        </p:nvGrpSpPr>
        <p:grpSpPr>
          <a:xfrm>
            <a:off x="457200" y="4762500"/>
            <a:ext cx="8229600" cy="304800"/>
            <a:chOff x="0" y="0"/>
            <a:chExt cx="8229600" cy="304800"/>
          </a:xfrm>
        </p:grpSpPr>
        <p:cxnSp>
          <p:nvCxnSpPr>
            <p:cNvPr id="1172" name="Google Shape;1172;p106"/>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173" name="Google Shape;1173;p106"/>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174" name="Google Shape;1174;p106"/>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178" name="Shape 1178"/>
        <p:cNvGrpSpPr/>
        <p:nvPr/>
      </p:nvGrpSpPr>
      <p:grpSpPr>
        <a:xfrm>
          <a:off x="0" y="0"/>
          <a:ext cx="0" cy="0"/>
          <a:chOff x="0" y="0"/>
          <a:chExt cx="0" cy="0"/>
        </a:xfrm>
      </p:grpSpPr>
      <p:pic>
        <p:nvPicPr>
          <p:cNvPr id="1179" name="Google Shape;1179;p107"/>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180" name="Google Shape;1180;p107"/>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81" name="Google Shape;1181;p107"/>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1182" name="Google Shape;1182;p107"/>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Objetivo</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H</a:t>
            </a:r>
            <a:r>
              <a:rPr lang="en" sz="1600">
                <a:solidFill>
                  <a:schemeClr val="dk1"/>
                </a:solidFill>
                <a:latin typeface="Inter"/>
                <a:ea typeface="Inter"/>
                <a:cs typeface="Inter"/>
                <a:sym typeface="Inter"/>
              </a:rPr>
              <a:t>á um número de tarefas a serem concluídas que é controlado pelo usuário.</a:t>
            </a:r>
            <a:endParaRPr sz="1600">
              <a:solidFill>
                <a:schemeClr val="dk1"/>
              </a:solidFill>
              <a:latin typeface="Inter"/>
              <a:ea typeface="Inter"/>
              <a:cs typeface="Inter"/>
              <a:sym typeface="Inter"/>
            </a:endParaRPr>
          </a:p>
          <a:p>
            <a:pPr indent="0" lvl="0" marL="914400" rtl="0" algn="l">
              <a:spcBef>
                <a:spcPts val="1200"/>
              </a:spcBef>
              <a:spcAft>
                <a:spcPts val="1200"/>
              </a:spcAft>
              <a:buNone/>
            </a:pPr>
            <a:r>
              <a:t/>
            </a:r>
            <a:endParaRPr sz="1600">
              <a:solidFill>
                <a:schemeClr val="dk1"/>
              </a:solidFill>
              <a:latin typeface="Inter"/>
              <a:ea typeface="Inter"/>
              <a:cs typeface="Inter"/>
              <a:sym typeface="Inter"/>
            </a:endParaRPr>
          </a:p>
        </p:txBody>
      </p:sp>
      <p:grpSp>
        <p:nvGrpSpPr>
          <p:cNvPr id="1183" name="Google Shape;1183;p107"/>
          <p:cNvGrpSpPr/>
          <p:nvPr/>
        </p:nvGrpSpPr>
        <p:grpSpPr>
          <a:xfrm>
            <a:off x="457200" y="4762500"/>
            <a:ext cx="8229600" cy="304800"/>
            <a:chOff x="0" y="0"/>
            <a:chExt cx="8229600" cy="304800"/>
          </a:xfrm>
        </p:grpSpPr>
        <p:cxnSp>
          <p:nvCxnSpPr>
            <p:cNvPr id="1184" name="Google Shape;1184;p107"/>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185" name="Google Shape;1185;p107"/>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186" name="Google Shape;1186;p107"/>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190" name="Shape 1190"/>
        <p:cNvGrpSpPr/>
        <p:nvPr/>
      </p:nvGrpSpPr>
      <p:grpSpPr>
        <a:xfrm>
          <a:off x="0" y="0"/>
          <a:ext cx="0" cy="0"/>
          <a:chOff x="0" y="0"/>
          <a:chExt cx="0" cy="0"/>
        </a:xfrm>
      </p:grpSpPr>
      <p:pic>
        <p:nvPicPr>
          <p:cNvPr id="1191" name="Google Shape;1191;p108"/>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192" name="Google Shape;1192;p108"/>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93" name="Google Shape;1193;p108"/>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1194" name="Google Shape;1194;p108"/>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Objetivo</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Há um número de tarefas a serem concluídas que é controlado pelo usuário</a:t>
            </a:r>
            <a:r>
              <a:rPr lang="en" sz="1600">
                <a:solidFill>
                  <a:schemeClr val="dk1"/>
                </a:solidFill>
                <a:latin typeface="Inter"/>
                <a:ea typeface="Inter"/>
                <a:cs typeface="Inter"/>
                <a:sym typeface="Inter"/>
              </a:rPr>
              <a:t>.</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Devido a constante comunicação entre os workers devido ao work-stealing, tentar visualizar a quantidade de tarefas pendentes + concluídas em todo o sistema quase nunca resulta no valor inicial.</a:t>
            </a:r>
            <a:endParaRPr sz="1600">
              <a:solidFill>
                <a:schemeClr val="dk1"/>
              </a:solidFill>
              <a:latin typeface="Inter"/>
              <a:ea typeface="Inter"/>
              <a:cs typeface="Inter"/>
              <a:sym typeface="Inter"/>
            </a:endParaRPr>
          </a:p>
          <a:p>
            <a:pPr indent="0" lvl="0" marL="914400" rtl="0" algn="l">
              <a:spcBef>
                <a:spcPts val="1200"/>
              </a:spcBef>
              <a:spcAft>
                <a:spcPts val="1200"/>
              </a:spcAft>
              <a:buNone/>
            </a:pPr>
            <a:r>
              <a:t/>
            </a:r>
            <a:endParaRPr sz="1600">
              <a:solidFill>
                <a:schemeClr val="dk1"/>
              </a:solidFill>
              <a:latin typeface="Inter"/>
              <a:ea typeface="Inter"/>
              <a:cs typeface="Inter"/>
              <a:sym typeface="Inter"/>
            </a:endParaRPr>
          </a:p>
        </p:txBody>
      </p:sp>
      <p:grpSp>
        <p:nvGrpSpPr>
          <p:cNvPr id="1195" name="Google Shape;1195;p108"/>
          <p:cNvGrpSpPr/>
          <p:nvPr/>
        </p:nvGrpSpPr>
        <p:grpSpPr>
          <a:xfrm>
            <a:off x="457200" y="4762500"/>
            <a:ext cx="8229600" cy="304800"/>
            <a:chOff x="0" y="0"/>
            <a:chExt cx="8229600" cy="304800"/>
          </a:xfrm>
        </p:grpSpPr>
        <p:cxnSp>
          <p:nvCxnSpPr>
            <p:cNvPr id="1196" name="Google Shape;1196;p108"/>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197" name="Google Shape;1197;p108"/>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198" name="Google Shape;1198;p108"/>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202" name="Shape 1202"/>
        <p:cNvGrpSpPr/>
        <p:nvPr/>
      </p:nvGrpSpPr>
      <p:grpSpPr>
        <a:xfrm>
          <a:off x="0" y="0"/>
          <a:ext cx="0" cy="0"/>
          <a:chOff x="0" y="0"/>
          <a:chExt cx="0" cy="0"/>
        </a:xfrm>
      </p:grpSpPr>
      <p:pic>
        <p:nvPicPr>
          <p:cNvPr id="1203" name="Google Shape;1203;p109"/>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204" name="Google Shape;1204;p109"/>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205" name="Google Shape;1205;p109"/>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1206" name="Google Shape;1206;p109"/>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Objetivo</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Há um número de tarefas a serem concluídas que é controlado pelo usuário</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Devido a constante comunicação entre os workers devido ao work-stealing, tentar visualizar a quantidade de tarefas pendentes + concluídas em todo o sistema quase nunca resulta no valor inicial.</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 botão de “pausa” do monitor serve justamente para isso, demonstrar a quantidade de tarefas de uma forma superficial, como se alguém estivesse tentando olhar para todos os processos ao mesmo tempo.</a:t>
            </a:r>
            <a:endParaRPr sz="1600">
              <a:solidFill>
                <a:schemeClr val="dk1"/>
              </a:solidFill>
              <a:latin typeface="Inter"/>
              <a:ea typeface="Inter"/>
              <a:cs typeface="Inter"/>
              <a:sym typeface="Inter"/>
            </a:endParaRPr>
          </a:p>
          <a:p>
            <a:pPr indent="0" lvl="0" marL="914400" rtl="0" algn="l">
              <a:spcBef>
                <a:spcPts val="1200"/>
              </a:spcBef>
              <a:spcAft>
                <a:spcPts val="1200"/>
              </a:spcAft>
              <a:buNone/>
            </a:pPr>
            <a:r>
              <a:t/>
            </a:r>
            <a:endParaRPr sz="1600">
              <a:solidFill>
                <a:schemeClr val="dk1"/>
              </a:solidFill>
              <a:latin typeface="Inter"/>
              <a:ea typeface="Inter"/>
              <a:cs typeface="Inter"/>
              <a:sym typeface="Inter"/>
            </a:endParaRPr>
          </a:p>
        </p:txBody>
      </p:sp>
      <p:grpSp>
        <p:nvGrpSpPr>
          <p:cNvPr id="1207" name="Google Shape;1207;p109"/>
          <p:cNvGrpSpPr/>
          <p:nvPr/>
        </p:nvGrpSpPr>
        <p:grpSpPr>
          <a:xfrm>
            <a:off x="457200" y="4762500"/>
            <a:ext cx="8229600" cy="304800"/>
            <a:chOff x="0" y="0"/>
            <a:chExt cx="8229600" cy="304800"/>
          </a:xfrm>
        </p:grpSpPr>
        <p:cxnSp>
          <p:nvCxnSpPr>
            <p:cNvPr id="1208" name="Google Shape;1208;p109"/>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209" name="Google Shape;1209;p109"/>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210" name="Google Shape;1210;p109"/>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214" name="Shape 1214"/>
        <p:cNvGrpSpPr/>
        <p:nvPr/>
      </p:nvGrpSpPr>
      <p:grpSpPr>
        <a:xfrm>
          <a:off x="0" y="0"/>
          <a:ext cx="0" cy="0"/>
          <a:chOff x="0" y="0"/>
          <a:chExt cx="0" cy="0"/>
        </a:xfrm>
      </p:grpSpPr>
      <p:pic>
        <p:nvPicPr>
          <p:cNvPr id="1215" name="Google Shape;1215;p110"/>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216" name="Google Shape;1216;p110"/>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217" name="Google Shape;1217;p110"/>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1218" name="Google Shape;1218;p110"/>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Objetivo</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Há um número de tarefas a serem concluídas que é controlado pelo usuário</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Devido a constante comunicação entre os workers devido ao work-stealing, tentar visualizar a quantidade de tarefas pendentes + concluídas em todo o sistema quase nunca resulta no valor inicial.</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 botão de “pausa” do monitor serve justamente para isso, demonstrar a quantidade de tarefas de uma forma superficial, como se alguém estivesse tentando olhar para todos os processos ao mesmo tempo.</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Através do snapshot, é possível capturar com exatidão a quantidade de tarefas pendentes, concluídas e em rede, </a:t>
            </a:r>
            <a:r>
              <a:rPr lang="en" sz="1600">
                <a:solidFill>
                  <a:schemeClr val="dk1"/>
                </a:solidFill>
                <a:latin typeface="Inter"/>
                <a:ea typeface="Inter"/>
                <a:cs typeface="Inter"/>
                <a:sym typeface="Inter"/>
              </a:rPr>
              <a:t>sendo possível verificar se as tarefas foram de fato concluídas.</a:t>
            </a:r>
            <a:endParaRPr sz="1600">
              <a:solidFill>
                <a:schemeClr val="dk1"/>
              </a:solidFill>
              <a:latin typeface="Inter"/>
              <a:ea typeface="Inter"/>
              <a:cs typeface="Inter"/>
              <a:sym typeface="Inter"/>
            </a:endParaRPr>
          </a:p>
          <a:p>
            <a:pPr indent="0" lvl="0" marL="1371600" rtl="0" algn="l">
              <a:spcBef>
                <a:spcPts val="1200"/>
              </a:spcBef>
              <a:spcAft>
                <a:spcPts val="1200"/>
              </a:spcAft>
              <a:buNone/>
            </a:pPr>
            <a:r>
              <a:t/>
            </a:r>
            <a:endParaRPr sz="1600">
              <a:solidFill>
                <a:schemeClr val="dk1"/>
              </a:solidFill>
              <a:latin typeface="Inter"/>
              <a:ea typeface="Inter"/>
              <a:cs typeface="Inter"/>
              <a:sym typeface="Inter"/>
            </a:endParaRPr>
          </a:p>
        </p:txBody>
      </p:sp>
      <p:grpSp>
        <p:nvGrpSpPr>
          <p:cNvPr id="1219" name="Google Shape;1219;p110"/>
          <p:cNvGrpSpPr/>
          <p:nvPr/>
        </p:nvGrpSpPr>
        <p:grpSpPr>
          <a:xfrm>
            <a:off x="457200" y="4762500"/>
            <a:ext cx="8229600" cy="304800"/>
            <a:chOff x="0" y="0"/>
            <a:chExt cx="8229600" cy="304800"/>
          </a:xfrm>
        </p:grpSpPr>
        <p:cxnSp>
          <p:nvCxnSpPr>
            <p:cNvPr id="1220" name="Google Shape;1220;p110"/>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221" name="Google Shape;1221;p110"/>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222" name="Google Shape;1222;p110"/>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226" name="Shape 1226"/>
        <p:cNvGrpSpPr/>
        <p:nvPr/>
      </p:nvGrpSpPr>
      <p:grpSpPr>
        <a:xfrm>
          <a:off x="0" y="0"/>
          <a:ext cx="0" cy="0"/>
          <a:chOff x="0" y="0"/>
          <a:chExt cx="0" cy="0"/>
        </a:xfrm>
      </p:grpSpPr>
      <p:pic>
        <p:nvPicPr>
          <p:cNvPr id="1227" name="Google Shape;1227;p111"/>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228" name="Google Shape;1228;p111"/>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229" name="Google Shape;1229;p111"/>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1230" name="Google Shape;1230;p111"/>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Objetivo</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Há um número de tarefas a serem concluídas que é controlado pelo usuário</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Devido a constante comunicação entre os workers devido ao work-stealing, tentar visualizar a quantidade de tarefas pendentes + concluídas em todo o sistema quase nunca resulta no valor inicial.</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 botão de “pausa” do monitor serve justamente para isso, demonstrar a quantidade de tarefas de uma forma superficial, como se alguém estivesse tentando olhar para todos os processos ao mesmo tempo.</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Através do snapshot, é possível capturar com exatidão a quantidade de tarefas pendentes, concluídas e em rede, sendo possível verificar se as tarefas foram de fato concluídas.</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Se tratando de uma constante, é possível utilizar esse dado para verificar se houve condição de corrida em algum worker que resultou na perda ou duplicação de alguma tarefa.</a:t>
            </a:r>
            <a:endParaRPr sz="1600">
              <a:solidFill>
                <a:schemeClr val="dk1"/>
              </a:solidFill>
              <a:latin typeface="Inter"/>
              <a:ea typeface="Inter"/>
              <a:cs typeface="Inter"/>
              <a:sym typeface="Inter"/>
            </a:endParaRPr>
          </a:p>
        </p:txBody>
      </p:sp>
      <p:grpSp>
        <p:nvGrpSpPr>
          <p:cNvPr id="1231" name="Google Shape;1231;p111"/>
          <p:cNvGrpSpPr/>
          <p:nvPr/>
        </p:nvGrpSpPr>
        <p:grpSpPr>
          <a:xfrm>
            <a:off x="457200" y="4762500"/>
            <a:ext cx="8229600" cy="304800"/>
            <a:chOff x="0" y="0"/>
            <a:chExt cx="8229600" cy="304800"/>
          </a:xfrm>
        </p:grpSpPr>
        <p:cxnSp>
          <p:nvCxnSpPr>
            <p:cNvPr id="1232" name="Google Shape;1232;p111"/>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233" name="Google Shape;1233;p111"/>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234" name="Google Shape;1234;p111"/>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238" name="Shape 1238"/>
        <p:cNvGrpSpPr/>
        <p:nvPr/>
      </p:nvGrpSpPr>
      <p:grpSpPr>
        <a:xfrm>
          <a:off x="0" y="0"/>
          <a:ext cx="0" cy="0"/>
          <a:chOff x="0" y="0"/>
          <a:chExt cx="0" cy="0"/>
        </a:xfrm>
      </p:grpSpPr>
      <p:pic>
        <p:nvPicPr>
          <p:cNvPr id="1239" name="Google Shape;1239;p112"/>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240" name="Google Shape;1240;p112"/>
          <p:cNvSpPr txBox="1"/>
          <p:nvPr/>
        </p:nvSpPr>
        <p:spPr>
          <a:xfrm>
            <a:off x="449300" y="1026000"/>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Considerações Principais</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t/>
            </a:r>
            <a:endParaRPr sz="1600">
              <a:solidFill>
                <a:schemeClr val="dk1"/>
              </a:solidFill>
              <a:latin typeface="Inter"/>
              <a:ea typeface="Inter"/>
              <a:cs typeface="Inter"/>
              <a:sym typeface="Inter"/>
            </a:endParaRPr>
          </a:p>
        </p:txBody>
      </p:sp>
      <p:sp>
        <p:nvSpPr>
          <p:cNvPr id="1241" name="Google Shape;1241;p112"/>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242" name="Google Shape;1242;p112"/>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1243" name="Google Shape;1243;p112"/>
          <p:cNvGrpSpPr/>
          <p:nvPr/>
        </p:nvGrpSpPr>
        <p:grpSpPr>
          <a:xfrm>
            <a:off x="457200" y="4762500"/>
            <a:ext cx="8229600" cy="304800"/>
            <a:chOff x="0" y="0"/>
            <a:chExt cx="8229600" cy="304800"/>
          </a:xfrm>
        </p:grpSpPr>
        <p:cxnSp>
          <p:nvCxnSpPr>
            <p:cNvPr id="1244" name="Google Shape;1244;p112"/>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245" name="Google Shape;1245;p112"/>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246" name="Google Shape;1246;p112"/>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250" name="Shape 1250"/>
        <p:cNvGrpSpPr/>
        <p:nvPr/>
      </p:nvGrpSpPr>
      <p:grpSpPr>
        <a:xfrm>
          <a:off x="0" y="0"/>
          <a:ext cx="0" cy="0"/>
          <a:chOff x="0" y="0"/>
          <a:chExt cx="0" cy="0"/>
        </a:xfrm>
      </p:grpSpPr>
      <p:pic>
        <p:nvPicPr>
          <p:cNvPr id="1251" name="Google Shape;1251;p113"/>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252" name="Google Shape;1252;p113"/>
          <p:cNvSpPr txBox="1"/>
          <p:nvPr/>
        </p:nvSpPr>
        <p:spPr>
          <a:xfrm>
            <a:off x="449300" y="1026000"/>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Considerações Principais</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Snapshot Distribuído é uma forma de capturar o estado global de um sistema distribuído.</a:t>
            </a:r>
            <a:endParaRPr sz="1600">
              <a:solidFill>
                <a:schemeClr val="dk1"/>
              </a:solidFill>
              <a:latin typeface="Inter"/>
              <a:ea typeface="Inter"/>
              <a:cs typeface="Inter"/>
              <a:sym typeface="Inter"/>
            </a:endParaRPr>
          </a:p>
          <a:p>
            <a:pPr indent="0" lvl="0" marL="914400" rtl="0" algn="l">
              <a:spcBef>
                <a:spcPts val="1200"/>
              </a:spcBef>
              <a:spcAft>
                <a:spcPts val="1200"/>
              </a:spcAft>
              <a:buNone/>
            </a:pPr>
            <a:r>
              <a:t/>
            </a:r>
            <a:endParaRPr sz="1600">
              <a:solidFill>
                <a:schemeClr val="dk1"/>
              </a:solidFill>
              <a:latin typeface="Inter"/>
              <a:ea typeface="Inter"/>
              <a:cs typeface="Inter"/>
              <a:sym typeface="Inter"/>
            </a:endParaRPr>
          </a:p>
        </p:txBody>
      </p:sp>
      <p:sp>
        <p:nvSpPr>
          <p:cNvPr id="1253" name="Google Shape;1253;p113"/>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254" name="Google Shape;1254;p113"/>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1255" name="Google Shape;1255;p113"/>
          <p:cNvGrpSpPr/>
          <p:nvPr/>
        </p:nvGrpSpPr>
        <p:grpSpPr>
          <a:xfrm>
            <a:off x="457200" y="4762500"/>
            <a:ext cx="8229600" cy="304800"/>
            <a:chOff x="0" y="0"/>
            <a:chExt cx="8229600" cy="304800"/>
          </a:xfrm>
        </p:grpSpPr>
        <p:cxnSp>
          <p:nvCxnSpPr>
            <p:cNvPr id="1256" name="Google Shape;1256;p113"/>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257" name="Google Shape;1257;p113"/>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258" name="Google Shape;1258;p113"/>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262" name="Shape 1262"/>
        <p:cNvGrpSpPr/>
        <p:nvPr/>
      </p:nvGrpSpPr>
      <p:grpSpPr>
        <a:xfrm>
          <a:off x="0" y="0"/>
          <a:ext cx="0" cy="0"/>
          <a:chOff x="0" y="0"/>
          <a:chExt cx="0" cy="0"/>
        </a:xfrm>
      </p:grpSpPr>
      <p:pic>
        <p:nvPicPr>
          <p:cNvPr id="1263" name="Google Shape;1263;p114"/>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264" name="Google Shape;1264;p114"/>
          <p:cNvSpPr txBox="1"/>
          <p:nvPr/>
        </p:nvSpPr>
        <p:spPr>
          <a:xfrm>
            <a:off x="449300" y="1026000"/>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Considerações Principais</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Snapshot Distribuído é uma forma de capturar o estado global de um sistema distribuído.</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 algoritmo de Chandy-Lamport é especialmente útil pois não requer que a aplicação pare de funcionar</a:t>
            </a:r>
            <a:endParaRPr sz="1600">
              <a:solidFill>
                <a:schemeClr val="dk1"/>
              </a:solidFill>
              <a:latin typeface="Inter"/>
              <a:ea typeface="Inter"/>
              <a:cs typeface="Inter"/>
              <a:sym typeface="Inter"/>
            </a:endParaRPr>
          </a:p>
          <a:p>
            <a:pPr indent="0" lvl="0" marL="1371600" rtl="0" algn="l">
              <a:spcBef>
                <a:spcPts val="1200"/>
              </a:spcBef>
              <a:spcAft>
                <a:spcPts val="1200"/>
              </a:spcAft>
              <a:buNone/>
            </a:pPr>
            <a:r>
              <a:t/>
            </a:r>
            <a:endParaRPr sz="1600">
              <a:solidFill>
                <a:schemeClr val="dk1"/>
              </a:solidFill>
              <a:latin typeface="Inter"/>
              <a:ea typeface="Inter"/>
              <a:cs typeface="Inter"/>
              <a:sym typeface="Inter"/>
            </a:endParaRPr>
          </a:p>
        </p:txBody>
      </p:sp>
      <p:sp>
        <p:nvSpPr>
          <p:cNvPr id="1265" name="Google Shape;1265;p114"/>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266" name="Google Shape;1266;p114"/>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1267" name="Google Shape;1267;p114"/>
          <p:cNvGrpSpPr/>
          <p:nvPr/>
        </p:nvGrpSpPr>
        <p:grpSpPr>
          <a:xfrm>
            <a:off x="457200" y="4762500"/>
            <a:ext cx="8229600" cy="304800"/>
            <a:chOff x="0" y="0"/>
            <a:chExt cx="8229600" cy="304800"/>
          </a:xfrm>
        </p:grpSpPr>
        <p:cxnSp>
          <p:nvCxnSpPr>
            <p:cNvPr id="1268" name="Google Shape;1268;p114"/>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269" name="Google Shape;1269;p114"/>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270" name="Google Shape;1270;p114"/>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274" name="Shape 1274"/>
        <p:cNvGrpSpPr/>
        <p:nvPr/>
      </p:nvGrpSpPr>
      <p:grpSpPr>
        <a:xfrm>
          <a:off x="0" y="0"/>
          <a:ext cx="0" cy="0"/>
          <a:chOff x="0" y="0"/>
          <a:chExt cx="0" cy="0"/>
        </a:xfrm>
      </p:grpSpPr>
      <p:pic>
        <p:nvPicPr>
          <p:cNvPr id="1275" name="Google Shape;1275;p115"/>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276" name="Google Shape;1276;p115"/>
          <p:cNvSpPr txBox="1"/>
          <p:nvPr/>
        </p:nvSpPr>
        <p:spPr>
          <a:xfrm>
            <a:off x="449300" y="1026000"/>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Considerações Principais</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Snapshot Distribuído é uma forma de capturar o estado global de um sistema distribuído.</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 algoritmo de Chandy-Lamport é especialmente útil pois não requer que a aplicação pare de funcionar</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Os marcadores e a lógica são processados nos mesmos canais das demais mensagens, o custo computacional é o de processar a mensagem, gravar variáveis locais, gravar cada canal de entrada e verificar a conclusão a cada mensagem.</a:t>
            </a:r>
            <a:endParaRPr sz="1600">
              <a:solidFill>
                <a:schemeClr val="dk1"/>
              </a:solidFill>
              <a:latin typeface="Inter"/>
              <a:ea typeface="Inter"/>
              <a:cs typeface="Inter"/>
              <a:sym typeface="Inter"/>
            </a:endParaRPr>
          </a:p>
          <a:p>
            <a:pPr indent="0" lvl="0" marL="1371600" rtl="0" algn="l">
              <a:spcBef>
                <a:spcPts val="1200"/>
              </a:spcBef>
              <a:spcAft>
                <a:spcPts val="1200"/>
              </a:spcAft>
              <a:buNone/>
            </a:pPr>
            <a:r>
              <a:t/>
            </a:r>
            <a:endParaRPr sz="1600">
              <a:solidFill>
                <a:schemeClr val="dk1"/>
              </a:solidFill>
              <a:latin typeface="Inter"/>
              <a:ea typeface="Inter"/>
              <a:cs typeface="Inter"/>
              <a:sym typeface="Inter"/>
            </a:endParaRPr>
          </a:p>
        </p:txBody>
      </p:sp>
      <p:sp>
        <p:nvSpPr>
          <p:cNvPr id="1277" name="Google Shape;1277;p115"/>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278" name="Google Shape;1278;p115"/>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1279" name="Google Shape;1279;p115"/>
          <p:cNvGrpSpPr/>
          <p:nvPr/>
        </p:nvGrpSpPr>
        <p:grpSpPr>
          <a:xfrm>
            <a:off x="457200" y="4762500"/>
            <a:ext cx="8229600" cy="304800"/>
            <a:chOff x="0" y="0"/>
            <a:chExt cx="8229600" cy="304800"/>
          </a:xfrm>
        </p:grpSpPr>
        <p:cxnSp>
          <p:nvCxnSpPr>
            <p:cNvPr id="1280" name="Google Shape;1280;p115"/>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281" name="Google Shape;1281;p115"/>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282" name="Google Shape;1282;p115"/>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286" name="Shape 1286"/>
        <p:cNvGrpSpPr/>
        <p:nvPr/>
      </p:nvGrpSpPr>
      <p:grpSpPr>
        <a:xfrm>
          <a:off x="0" y="0"/>
          <a:ext cx="0" cy="0"/>
          <a:chOff x="0" y="0"/>
          <a:chExt cx="0" cy="0"/>
        </a:xfrm>
      </p:grpSpPr>
      <p:pic>
        <p:nvPicPr>
          <p:cNvPr id="1287" name="Google Shape;1287;p116"/>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288" name="Google Shape;1288;p116"/>
          <p:cNvSpPr txBox="1"/>
          <p:nvPr/>
        </p:nvSpPr>
        <p:spPr>
          <a:xfrm>
            <a:off x="449300" y="1026000"/>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Considerações Principais</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Snapshot Distribuído é uma forma de capturar o estado global de um sistema distribuído.</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 algoritmo de Chandy-Lamport é especialmente útil pois não requer que a aplicação pare de funcionar</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Os marcadores e a lógica são processados nos mesmos canais das demais mensagens, o custo computacional é o de processar a mensagem, gravar variáveis locais, gravar cada canal de entrada e verificar a conclusão a cada mensagem.</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Trata-se portanto de um algoritmo barato computacionalmente, e que pode ser facilmente incluído como um processamento extra.</a:t>
            </a:r>
            <a:endParaRPr sz="1600">
              <a:solidFill>
                <a:schemeClr val="dk1"/>
              </a:solidFill>
              <a:latin typeface="Inter"/>
              <a:ea typeface="Inter"/>
              <a:cs typeface="Inter"/>
              <a:sym typeface="Inter"/>
            </a:endParaRPr>
          </a:p>
          <a:p>
            <a:pPr indent="0" lvl="0" marL="914400" rtl="0" algn="l">
              <a:spcBef>
                <a:spcPts val="1200"/>
              </a:spcBef>
              <a:spcAft>
                <a:spcPts val="1200"/>
              </a:spcAft>
              <a:buNone/>
            </a:pPr>
            <a:r>
              <a:t/>
            </a:r>
            <a:endParaRPr sz="1600">
              <a:solidFill>
                <a:schemeClr val="dk1"/>
              </a:solidFill>
              <a:latin typeface="Inter"/>
              <a:ea typeface="Inter"/>
              <a:cs typeface="Inter"/>
              <a:sym typeface="Inter"/>
            </a:endParaRPr>
          </a:p>
        </p:txBody>
      </p:sp>
      <p:sp>
        <p:nvSpPr>
          <p:cNvPr id="1289" name="Google Shape;1289;p116"/>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290" name="Google Shape;1290;p116"/>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1291" name="Google Shape;1291;p116"/>
          <p:cNvGrpSpPr/>
          <p:nvPr/>
        </p:nvGrpSpPr>
        <p:grpSpPr>
          <a:xfrm>
            <a:off x="457200" y="4762500"/>
            <a:ext cx="8229600" cy="304800"/>
            <a:chOff x="0" y="0"/>
            <a:chExt cx="8229600" cy="304800"/>
          </a:xfrm>
        </p:grpSpPr>
        <p:cxnSp>
          <p:nvCxnSpPr>
            <p:cNvPr id="1292" name="Google Shape;1292;p116"/>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293" name="Google Shape;1293;p116"/>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294" name="Google Shape;1294;p116"/>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298" name="Shape 1298"/>
        <p:cNvGrpSpPr/>
        <p:nvPr/>
      </p:nvGrpSpPr>
      <p:grpSpPr>
        <a:xfrm>
          <a:off x="0" y="0"/>
          <a:ext cx="0" cy="0"/>
          <a:chOff x="0" y="0"/>
          <a:chExt cx="0" cy="0"/>
        </a:xfrm>
      </p:grpSpPr>
      <p:pic>
        <p:nvPicPr>
          <p:cNvPr id="1299" name="Google Shape;1299;p117"/>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300" name="Google Shape;1300;p117"/>
          <p:cNvSpPr txBox="1"/>
          <p:nvPr/>
        </p:nvSpPr>
        <p:spPr>
          <a:xfrm>
            <a:off x="449300" y="1026000"/>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Considerações Principais</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Snapshot Distribuído é uma forma de capturar o estado global de um sistema distribuído.</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 algoritmo de Chandy-Lamport é especialmente útil pois não requer que a aplicação pare de funcionar</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Os marcadores e a lógica são processados nos mesmos canais das demais mensagens, o custo computacional é o de processar a mensagem, gravar variáveis locais, gravar cada canal de entrada e verificar a conclusão a cada mensagem.</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Trata-se portanto de um algoritmo barato computacionalmente, e que pode ser facilmente incluído como um processamento extra.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Os snapshots podem ser iniciados espontaneamente e simultaneamente</a:t>
            </a:r>
            <a:endParaRPr sz="1600">
              <a:solidFill>
                <a:schemeClr val="dk1"/>
              </a:solidFill>
              <a:latin typeface="Inter"/>
              <a:ea typeface="Inter"/>
              <a:cs typeface="Inter"/>
              <a:sym typeface="Inter"/>
            </a:endParaRPr>
          </a:p>
          <a:p>
            <a:pPr indent="0" lvl="0" marL="1371600" rtl="0" algn="l">
              <a:spcBef>
                <a:spcPts val="1200"/>
              </a:spcBef>
              <a:spcAft>
                <a:spcPts val="1200"/>
              </a:spcAft>
              <a:buNone/>
            </a:pPr>
            <a:r>
              <a:t/>
            </a:r>
            <a:endParaRPr sz="1600">
              <a:solidFill>
                <a:schemeClr val="dk1"/>
              </a:solidFill>
              <a:latin typeface="Inter"/>
              <a:ea typeface="Inter"/>
              <a:cs typeface="Inter"/>
              <a:sym typeface="Inter"/>
            </a:endParaRPr>
          </a:p>
        </p:txBody>
      </p:sp>
      <p:sp>
        <p:nvSpPr>
          <p:cNvPr id="1301" name="Google Shape;1301;p117"/>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302" name="Google Shape;1302;p117"/>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1303" name="Google Shape;1303;p117"/>
          <p:cNvGrpSpPr/>
          <p:nvPr/>
        </p:nvGrpSpPr>
        <p:grpSpPr>
          <a:xfrm>
            <a:off x="457200" y="4762500"/>
            <a:ext cx="8229600" cy="304800"/>
            <a:chOff x="0" y="0"/>
            <a:chExt cx="8229600" cy="304800"/>
          </a:xfrm>
        </p:grpSpPr>
        <p:cxnSp>
          <p:nvCxnSpPr>
            <p:cNvPr id="1304" name="Google Shape;1304;p117"/>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305" name="Google Shape;1305;p117"/>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306" name="Google Shape;1306;p117"/>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310" name="Shape 1310"/>
        <p:cNvGrpSpPr/>
        <p:nvPr/>
      </p:nvGrpSpPr>
      <p:grpSpPr>
        <a:xfrm>
          <a:off x="0" y="0"/>
          <a:ext cx="0" cy="0"/>
          <a:chOff x="0" y="0"/>
          <a:chExt cx="0" cy="0"/>
        </a:xfrm>
      </p:grpSpPr>
      <p:pic>
        <p:nvPicPr>
          <p:cNvPr id="1311" name="Google Shape;1311;p118"/>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312" name="Google Shape;1312;p118"/>
          <p:cNvSpPr txBox="1"/>
          <p:nvPr/>
        </p:nvSpPr>
        <p:spPr>
          <a:xfrm>
            <a:off x="449300" y="1026000"/>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Considerações Principais</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Snapshot Distribuído é uma forma de capturar o estado global de um sistema distribuído.</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 algoritmo de Chandy-Lamport é especialmente útil pois não requer que a aplicação pare de funcionar</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Os marcadores e a lógica são processados nos mesmos canais das demais mensagens, o custo computacional é o de processar a mensagem, gravar variáveis locais, gravar cada canal de entrada e verificar a conclusão a cada mensagem.</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Trata-se portanto de um algoritmo barato computacionalmente, e que pode ser facilmente incluído como um processamento extra.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Os snapshots podem ser iniciados espontaneamente e simultaneamente</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Isso é interessante pois podemos delegar aos próprios nós a capacidade de registrar um snapshot quando acharem necessário, antes de alguma atividade de risco ou de forma periódica</a:t>
            </a:r>
            <a:endParaRPr sz="1600">
              <a:solidFill>
                <a:schemeClr val="dk1"/>
              </a:solidFill>
              <a:latin typeface="Inter"/>
              <a:ea typeface="Inter"/>
              <a:cs typeface="Inter"/>
              <a:sym typeface="Inter"/>
            </a:endParaRPr>
          </a:p>
        </p:txBody>
      </p:sp>
      <p:sp>
        <p:nvSpPr>
          <p:cNvPr id="1313" name="Google Shape;1313;p118"/>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314" name="Google Shape;1314;p118"/>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1315" name="Google Shape;1315;p118"/>
          <p:cNvGrpSpPr/>
          <p:nvPr/>
        </p:nvGrpSpPr>
        <p:grpSpPr>
          <a:xfrm>
            <a:off x="457200" y="4762500"/>
            <a:ext cx="8229600" cy="304800"/>
            <a:chOff x="0" y="0"/>
            <a:chExt cx="8229600" cy="304800"/>
          </a:xfrm>
        </p:grpSpPr>
        <p:cxnSp>
          <p:nvCxnSpPr>
            <p:cNvPr id="1316" name="Google Shape;1316;p118"/>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317" name="Google Shape;1317;p118"/>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318" name="Google Shape;1318;p118"/>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322" name="Shape 1322"/>
        <p:cNvGrpSpPr/>
        <p:nvPr/>
      </p:nvGrpSpPr>
      <p:grpSpPr>
        <a:xfrm>
          <a:off x="0" y="0"/>
          <a:ext cx="0" cy="0"/>
          <a:chOff x="0" y="0"/>
          <a:chExt cx="0" cy="0"/>
        </a:xfrm>
      </p:grpSpPr>
      <p:pic>
        <p:nvPicPr>
          <p:cNvPr id="1323" name="Google Shape;1323;p119"/>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324" name="Google Shape;1324;p119"/>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325" name="Google Shape;1325;p119"/>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1326" name="Google Shape;1326;p119"/>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Limitações conhecidas</a:t>
            </a:r>
            <a:endParaRPr sz="1900">
              <a:solidFill>
                <a:srgbClr val="111827"/>
              </a:solidFill>
              <a:latin typeface="Inter"/>
              <a:ea typeface="Inter"/>
              <a:cs typeface="Inter"/>
              <a:sym typeface="Inter"/>
            </a:endParaRPr>
          </a:p>
          <a:p>
            <a:pPr indent="0" lvl="0" marL="914400" rtl="0" algn="l">
              <a:spcBef>
                <a:spcPts val="1200"/>
              </a:spcBef>
              <a:spcAft>
                <a:spcPts val="1200"/>
              </a:spcAft>
              <a:buNone/>
            </a:pPr>
            <a:r>
              <a:t/>
            </a:r>
            <a:endParaRPr sz="1600">
              <a:solidFill>
                <a:schemeClr val="dk1"/>
              </a:solidFill>
              <a:latin typeface="Inter"/>
              <a:ea typeface="Inter"/>
              <a:cs typeface="Inter"/>
              <a:sym typeface="Inter"/>
            </a:endParaRPr>
          </a:p>
        </p:txBody>
      </p:sp>
      <p:grpSp>
        <p:nvGrpSpPr>
          <p:cNvPr id="1327" name="Google Shape;1327;p119"/>
          <p:cNvGrpSpPr/>
          <p:nvPr/>
        </p:nvGrpSpPr>
        <p:grpSpPr>
          <a:xfrm>
            <a:off x="457200" y="4762500"/>
            <a:ext cx="8229600" cy="304800"/>
            <a:chOff x="0" y="0"/>
            <a:chExt cx="8229600" cy="304800"/>
          </a:xfrm>
        </p:grpSpPr>
        <p:cxnSp>
          <p:nvCxnSpPr>
            <p:cNvPr id="1328" name="Google Shape;1328;p119"/>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329" name="Google Shape;1329;p119"/>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330" name="Google Shape;1330;p119"/>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334" name="Shape 1334"/>
        <p:cNvGrpSpPr/>
        <p:nvPr/>
      </p:nvGrpSpPr>
      <p:grpSpPr>
        <a:xfrm>
          <a:off x="0" y="0"/>
          <a:ext cx="0" cy="0"/>
          <a:chOff x="0" y="0"/>
          <a:chExt cx="0" cy="0"/>
        </a:xfrm>
      </p:grpSpPr>
      <p:pic>
        <p:nvPicPr>
          <p:cNvPr id="1335" name="Google Shape;1335;p120"/>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336" name="Google Shape;1336;p120"/>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337" name="Google Shape;1337;p120"/>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1338" name="Google Shape;1338;p120"/>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Limitações conhecidas</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Entidade controlando o snapshot vs snapshot espontâneo</a:t>
            </a:r>
            <a:endParaRPr sz="1600">
              <a:solidFill>
                <a:schemeClr val="dk1"/>
              </a:solidFill>
              <a:latin typeface="Inter"/>
              <a:ea typeface="Inter"/>
              <a:cs typeface="Inter"/>
              <a:sym typeface="Inter"/>
            </a:endParaRPr>
          </a:p>
          <a:p>
            <a:pPr indent="0" lvl="0" marL="914400" rtl="0" algn="l">
              <a:spcBef>
                <a:spcPts val="1200"/>
              </a:spcBef>
              <a:spcAft>
                <a:spcPts val="1200"/>
              </a:spcAft>
              <a:buNone/>
            </a:pPr>
            <a:r>
              <a:t/>
            </a:r>
            <a:endParaRPr sz="1600">
              <a:solidFill>
                <a:schemeClr val="dk1"/>
              </a:solidFill>
              <a:latin typeface="Inter"/>
              <a:ea typeface="Inter"/>
              <a:cs typeface="Inter"/>
              <a:sym typeface="Inter"/>
            </a:endParaRPr>
          </a:p>
        </p:txBody>
      </p:sp>
      <p:grpSp>
        <p:nvGrpSpPr>
          <p:cNvPr id="1339" name="Google Shape;1339;p120"/>
          <p:cNvGrpSpPr/>
          <p:nvPr/>
        </p:nvGrpSpPr>
        <p:grpSpPr>
          <a:xfrm>
            <a:off x="457200" y="4762500"/>
            <a:ext cx="8229600" cy="304800"/>
            <a:chOff x="0" y="0"/>
            <a:chExt cx="8229600" cy="304800"/>
          </a:xfrm>
        </p:grpSpPr>
        <p:cxnSp>
          <p:nvCxnSpPr>
            <p:cNvPr id="1340" name="Google Shape;1340;p120"/>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341" name="Google Shape;1341;p120"/>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342" name="Google Shape;1342;p120"/>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346" name="Shape 1346"/>
        <p:cNvGrpSpPr/>
        <p:nvPr/>
      </p:nvGrpSpPr>
      <p:grpSpPr>
        <a:xfrm>
          <a:off x="0" y="0"/>
          <a:ext cx="0" cy="0"/>
          <a:chOff x="0" y="0"/>
          <a:chExt cx="0" cy="0"/>
        </a:xfrm>
      </p:grpSpPr>
      <p:pic>
        <p:nvPicPr>
          <p:cNvPr id="1347" name="Google Shape;1347;p121"/>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348" name="Google Shape;1348;p121"/>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349" name="Google Shape;1349;p121"/>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1350" name="Google Shape;1350;p121"/>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Limitações conhecidas</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Entidade controlando o snapshot vs snapshot espontâneo</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Uma thread consumidora vs múltiplas threads consumidoras</a:t>
            </a:r>
            <a:endParaRPr sz="1600">
              <a:solidFill>
                <a:schemeClr val="dk1"/>
              </a:solidFill>
              <a:latin typeface="Inter"/>
              <a:ea typeface="Inter"/>
              <a:cs typeface="Inter"/>
              <a:sym typeface="Inter"/>
            </a:endParaRPr>
          </a:p>
          <a:p>
            <a:pPr indent="0" lvl="0" marL="1371600" rtl="0" algn="l">
              <a:spcBef>
                <a:spcPts val="1200"/>
              </a:spcBef>
              <a:spcAft>
                <a:spcPts val="1200"/>
              </a:spcAft>
              <a:buNone/>
            </a:pPr>
            <a:r>
              <a:t/>
            </a:r>
            <a:endParaRPr sz="1600">
              <a:solidFill>
                <a:schemeClr val="dk1"/>
              </a:solidFill>
              <a:latin typeface="Inter"/>
              <a:ea typeface="Inter"/>
              <a:cs typeface="Inter"/>
              <a:sym typeface="Inter"/>
            </a:endParaRPr>
          </a:p>
        </p:txBody>
      </p:sp>
      <p:grpSp>
        <p:nvGrpSpPr>
          <p:cNvPr id="1351" name="Google Shape;1351;p121"/>
          <p:cNvGrpSpPr/>
          <p:nvPr/>
        </p:nvGrpSpPr>
        <p:grpSpPr>
          <a:xfrm>
            <a:off x="457200" y="4762500"/>
            <a:ext cx="8229600" cy="304800"/>
            <a:chOff x="0" y="0"/>
            <a:chExt cx="8229600" cy="304800"/>
          </a:xfrm>
        </p:grpSpPr>
        <p:cxnSp>
          <p:nvCxnSpPr>
            <p:cNvPr id="1352" name="Google Shape;1352;p121"/>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353" name="Google Shape;1353;p121"/>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354" name="Google Shape;1354;p121"/>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358" name="Shape 1358"/>
        <p:cNvGrpSpPr/>
        <p:nvPr/>
      </p:nvGrpSpPr>
      <p:grpSpPr>
        <a:xfrm>
          <a:off x="0" y="0"/>
          <a:ext cx="0" cy="0"/>
          <a:chOff x="0" y="0"/>
          <a:chExt cx="0" cy="0"/>
        </a:xfrm>
      </p:grpSpPr>
      <p:pic>
        <p:nvPicPr>
          <p:cNvPr id="1359" name="Google Shape;1359;p122"/>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360" name="Google Shape;1360;p122"/>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361" name="Google Shape;1361;p122"/>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1362" name="Google Shape;1362;p122"/>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Limitações conhecidas</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Entidade controlando o snapshot vs snapshot espontâneo</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Uma thread consumidora vs múltiplas threads consumidoras</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A alternativa de uma thread consumidora simplifica e muito as possíveis condições de corrida, já que com isso tanto o worker quanto a API podem ser lock-free.</a:t>
            </a:r>
            <a:endParaRPr sz="1600">
              <a:solidFill>
                <a:schemeClr val="dk1"/>
              </a:solidFill>
              <a:latin typeface="Inter"/>
              <a:ea typeface="Inter"/>
              <a:cs typeface="Inter"/>
              <a:sym typeface="Inter"/>
            </a:endParaRPr>
          </a:p>
          <a:p>
            <a:pPr indent="0" lvl="0" marL="914400" rtl="0" algn="l">
              <a:spcBef>
                <a:spcPts val="1200"/>
              </a:spcBef>
              <a:spcAft>
                <a:spcPts val="1200"/>
              </a:spcAft>
              <a:buNone/>
            </a:pPr>
            <a:r>
              <a:t/>
            </a:r>
            <a:endParaRPr sz="1600">
              <a:solidFill>
                <a:schemeClr val="dk1"/>
              </a:solidFill>
              <a:latin typeface="Inter"/>
              <a:ea typeface="Inter"/>
              <a:cs typeface="Inter"/>
              <a:sym typeface="Inter"/>
            </a:endParaRPr>
          </a:p>
        </p:txBody>
      </p:sp>
      <p:grpSp>
        <p:nvGrpSpPr>
          <p:cNvPr id="1363" name="Google Shape;1363;p122"/>
          <p:cNvGrpSpPr/>
          <p:nvPr/>
        </p:nvGrpSpPr>
        <p:grpSpPr>
          <a:xfrm>
            <a:off x="457200" y="4762500"/>
            <a:ext cx="8229600" cy="304800"/>
            <a:chOff x="0" y="0"/>
            <a:chExt cx="8229600" cy="304800"/>
          </a:xfrm>
        </p:grpSpPr>
        <p:cxnSp>
          <p:nvCxnSpPr>
            <p:cNvPr id="1364" name="Google Shape;1364;p122"/>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365" name="Google Shape;1365;p122"/>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366" name="Google Shape;1366;p122"/>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370" name="Shape 1370"/>
        <p:cNvGrpSpPr/>
        <p:nvPr/>
      </p:nvGrpSpPr>
      <p:grpSpPr>
        <a:xfrm>
          <a:off x="0" y="0"/>
          <a:ext cx="0" cy="0"/>
          <a:chOff x="0" y="0"/>
          <a:chExt cx="0" cy="0"/>
        </a:xfrm>
      </p:grpSpPr>
      <p:pic>
        <p:nvPicPr>
          <p:cNvPr id="1371" name="Google Shape;1371;p123"/>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372" name="Google Shape;1372;p123"/>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373" name="Google Shape;1373;p123"/>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1374" name="Google Shape;1374;p123"/>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Limitações conhecidas</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Entidade controlando o snapshot vs snapshot espontâneo</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Uma thread consumidora vs múltiplas threads consumidoras</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A alternativa de uma thread consumidora simplifica e muito as possíveis condições de corrida, já que com isso tanto o worker quanto a API podem ser lock-free.</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Alternativa a considerar: Manter uma thread consumidora e duplicar os processos, mantém o worker lock free no snapshot.</a:t>
            </a:r>
            <a:endParaRPr sz="1600">
              <a:solidFill>
                <a:schemeClr val="dk1"/>
              </a:solidFill>
              <a:latin typeface="Inter"/>
              <a:ea typeface="Inter"/>
              <a:cs typeface="Inter"/>
              <a:sym typeface="Inter"/>
            </a:endParaRPr>
          </a:p>
          <a:p>
            <a:pPr indent="0" lvl="0" marL="914400" rtl="0" algn="l">
              <a:spcBef>
                <a:spcPts val="1200"/>
              </a:spcBef>
              <a:spcAft>
                <a:spcPts val="1200"/>
              </a:spcAft>
              <a:buNone/>
            </a:pPr>
            <a:r>
              <a:t/>
            </a:r>
            <a:endParaRPr sz="1600">
              <a:solidFill>
                <a:schemeClr val="dk1"/>
              </a:solidFill>
              <a:latin typeface="Inter"/>
              <a:ea typeface="Inter"/>
              <a:cs typeface="Inter"/>
              <a:sym typeface="Inter"/>
            </a:endParaRPr>
          </a:p>
        </p:txBody>
      </p:sp>
      <p:grpSp>
        <p:nvGrpSpPr>
          <p:cNvPr id="1375" name="Google Shape;1375;p123"/>
          <p:cNvGrpSpPr/>
          <p:nvPr/>
        </p:nvGrpSpPr>
        <p:grpSpPr>
          <a:xfrm>
            <a:off x="457200" y="4762500"/>
            <a:ext cx="8229600" cy="304800"/>
            <a:chOff x="0" y="0"/>
            <a:chExt cx="8229600" cy="304800"/>
          </a:xfrm>
        </p:grpSpPr>
        <p:cxnSp>
          <p:nvCxnSpPr>
            <p:cNvPr id="1376" name="Google Shape;1376;p123"/>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377" name="Google Shape;1377;p123"/>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378" name="Google Shape;1378;p123"/>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382" name="Shape 1382"/>
        <p:cNvGrpSpPr/>
        <p:nvPr/>
      </p:nvGrpSpPr>
      <p:grpSpPr>
        <a:xfrm>
          <a:off x="0" y="0"/>
          <a:ext cx="0" cy="0"/>
          <a:chOff x="0" y="0"/>
          <a:chExt cx="0" cy="0"/>
        </a:xfrm>
      </p:grpSpPr>
      <p:pic>
        <p:nvPicPr>
          <p:cNvPr id="1383" name="Google Shape;1383;p124"/>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384" name="Google Shape;1384;p124"/>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385" name="Google Shape;1385;p124"/>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1386" name="Google Shape;1386;p124"/>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Limitações conhecidas</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Entidade controlando o snapshot vs snapshot espontâneo</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Uma thread consumidora vs múltiplas threads consumidoras</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A alternativa de uma thread consumidora simplifica e muito as possíveis condições de corrida, já que com isso tanto o worker quanto a API podem ser lock-free.</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Alternativa a considerar: Manter uma thread consumidora e duplicar os processos, mantém o worker lock free no snapshot.</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Topologia estática não permite a adição ou remoção de workers on the fly</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A alternativa invade outro building blocks: Group Membership</a:t>
            </a:r>
            <a:endParaRPr sz="1600">
              <a:solidFill>
                <a:schemeClr val="dk1"/>
              </a:solidFill>
              <a:latin typeface="Inter"/>
              <a:ea typeface="Inter"/>
              <a:cs typeface="Inter"/>
              <a:sym typeface="Inter"/>
            </a:endParaRPr>
          </a:p>
          <a:p>
            <a:pPr indent="0" lvl="0" marL="1371600" rtl="0" algn="l">
              <a:spcBef>
                <a:spcPts val="1200"/>
              </a:spcBef>
              <a:spcAft>
                <a:spcPts val="1200"/>
              </a:spcAft>
              <a:buNone/>
            </a:pPr>
            <a:r>
              <a:t/>
            </a:r>
            <a:endParaRPr sz="1600">
              <a:solidFill>
                <a:schemeClr val="dk1"/>
              </a:solidFill>
              <a:latin typeface="Inter"/>
              <a:ea typeface="Inter"/>
              <a:cs typeface="Inter"/>
              <a:sym typeface="Inter"/>
            </a:endParaRPr>
          </a:p>
        </p:txBody>
      </p:sp>
      <p:grpSp>
        <p:nvGrpSpPr>
          <p:cNvPr id="1387" name="Google Shape;1387;p124"/>
          <p:cNvGrpSpPr/>
          <p:nvPr/>
        </p:nvGrpSpPr>
        <p:grpSpPr>
          <a:xfrm>
            <a:off x="457200" y="4762500"/>
            <a:ext cx="8229600" cy="304800"/>
            <a:chOff x="0" y="0"/>
            <a:chExt cx="8229600" cy="304800"/>
          </a:xfrm>
        </p:grpSpPr>
        <p:cxnSp>
          <p:nvCxnSpPr>
            <p:cNvPr id="1388" name="Google Shape;1388;p124"/>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389" name="Google Shape;1389;p124"/>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390" name="Google Shape;1390;p124"/>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394" name="Shape 1394"/>
        <p:cNvGrpSpPr/>
        <p:nvPr/>
      </p:nvGrpSpPr>
      <p:grpSpPr>
        <a:xfrm>
          <a:off x="0" y="0"/>
          <a:ext cx="0" cy="0"/>
          <a:chOff x="0" y="0"/>
          <a:chExt cx="0" cy="0"/>
        </a:xfrm>
      </p:grpSpPr>
      <p:pic>
        <p:nvPicPr>
          <p:cNvPr id="1395" name="Google Shape;1395;p125"/>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396" name="Google Shape;1396;p125"/>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397" name="Google Shape;1397;p125"/>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1398" name="Google Shape;1398;p125"/>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Limitações conhecidas</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Entidade controlando o snapshot vs snapshot espontâneo</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Uma thread consumidora vs múltiplas threads consumidoras</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A alternativa de uma thread consumidora simplifica e muito as possíveis condições de corrida, já que com isso tanto o worker quanto a API podem ser lock-free.</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Alternativa a considerar: Manter uma thread consumidora e duplicar os processos, mantém o worker lock free no snapshot.</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Topologia estática não permite a adição</a:t>
            </a:r>
            <a:r>
              <a:rPr lang="en" sz="1600">
                <a:solidFill>
                  <a:schemeClr val="dk1"/>
                </a:solidFill>
                <a:latin typeface="Inter"/>
                <a:ea typeface="Inter"/>
                <a:cs typeface="Inter"/>
                <a:sym typeface="Inter"/>
              </a:rPr>
              <a:t> ou remoção</a:t>
            </a:r>
            <a:r>
              <a:rPr lang="en" sz="1600">
                <a:solidFill>
                  <a:schemeClr val="dk1"/>
                </a:solidFill>
                <a:latin typeface="Inter"/>
                <a:ea typeface="Inter"/>
                <a:cs typeface="Inter"/>
                <a:sym typeface="Inter"/>
              </a:rPr>
              <a:t> de workers on the fly</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A alternativa invade outro building blocks: Group Membership</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Mesmo sob o group membership, é necessário que o snapshot ocorra sob um grupo bem definido de processos.</a:t>
            </a:r>
            <a:endParaRPr sz="1600">
              <a:solidFill>
                <a:schemeClr val="dk1"/>
              </a:solidFill>
              <a:latin typeface="Inter"/>
              <a:ea typeface="Inter"/>
              <a:cs typeface="Inter"/>
              <a:sym typeface="Inter"/>
            </a:endParaRPr>
          </a:p>
        </p:txBody>
      </p:sp>
      <p:grpSp>
        <p:nvGrpSpPr>
          <p:cNvPr id="1399" name="Google Shape;1399;p125"/>
          <p:cNvGrpSpPr/>
          <p:nvPr/>
        </p:nvGrpSpPr>
        <p:grpSpPr>
          <a:xfrm>
            <a:off x="457200" y="4762500"/>
            <a:ext cx="8229600" cy="304800"/>
            <a:chOff x="0" y="0"/>
            <a:chExt cx="8229600" cy="304800"/>
          </a:xfrm>
        </p:grpSpPr>
        <p:cxnSp>
          <p:nvCxnSpPr>
            <p:cNvPr id="1400" name="Google Shape;1400;p125"/>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401" name="Google Shape;1401;p125"/>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402" name="Google Shape;1402;p125"/>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406" name="Shape 1406"/>
        <p:cNvGrpSpPr/>
        <p:nvPr/>
      </p:nvGrpSpPr>
      <p:grpSpPr>
        <a:xfrm>
          <a:off x="0" y="0"/>
          <a:ext cx="0" cy="0"/>
          <a:chOff x="0" y="0"/>
          <a:chExt cx="0" cy="0"/>
        </a:xfrm>
      </p:grpSpPr>
      <p:pic>
        <p:nvPicPr>
          <p:cNvPr id="1407" name="Google Shape;1407;p126"/>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408" name="Google Shape;1408;p126"/>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409" name="Google Shape;1409;p126"/>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Principais Dificuldades</a:t>
            </a:r>
            <a:endParaRPr sz="1900">
              <a:solidFill>
                <a:srgbClr val="111827"/>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
        <p:nvSpPr>
          <p:cNvPr id="1410" name="Google Shape;1410;p126"/>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1411" name="Google Shape;1411;p126"/>
          <p:cNvGrpSpPr/>
          <p:nvPr/>
        </p:nvGrpSpPr>
        <p:grpSpPr>
          <a:xfrm>
            <a:off x="457200" y="4762500"/>
            <a:ext cx="8229600" cy="304800"/>
            <a:chOff x="0" y="0"/>
            <a:chExt cx="8229600" cy="304800"/>
          </a:xfrm>
        </p:grpSpPr>
        <p:cxnSp>
          <p:nvCxnSpPr>
            <p:cNvPr id="1412" name="Google Shape;1412;p126"/>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413" name="Google Shape;1413;p126"/>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414" name="Google Shape;1414;p126"/>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418" name="Shape 1418"/>
        <p:cNvGrpSpPr/>
        <p:nvPr/>
      </p:nvGrpSpPr>
      <p:grpSpPr>
        <a:xfrm>
          <a:off x="0" y="0"/>
          <a:ext cx="0" cy="0"/>
          <a:chOff x="0" y="0"/>
          <a:chExt cx="0" cy="0"/>
        </a:xfrm>
      </p:grpSpPr>
      <p:pic>
        <p:nvPicPr>
          <p:cNvPr id="1419" name="Google Shape;1419;p127"/>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420" name="Google Shape;1420;p127"/>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421" name="Google Shape;1421;p127"/>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Principais Dificuldades</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Escolher o tema para a aplicação</a:t>
            </a:r>
            <a:endParaRPr sz="1600">
              <a:solidFill>
                <a:schemeClr val="dk1"/>
              </a:solidFill>
              <a:latin typeface="Inter"/>
              <a:ea typeface="Inter"/>
              <a:cs typeface="Inter"/>
              <a:sym typeface="Inter"/>
            </a:endParaRPr>
          </a:p>
        </p:txBody>
      </p:sp>
      <p:sp>
        <p:nvSpPr>
          <p:cNvPr id="1422" name="Google Shape;1422;p127"/>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1423" name="Google Shape;1423;p127"/>
          <p:cNvGrpSpPr/>
          <p:nvPr/>
        </p:nvGrpSpPr>
        <p:grpSpPr>
          <a:xfrm>
            <a:off x="457200" y="4762500"/>
            <a:ext cx="8229600" cy="304800"/>
            <a:chOff x="0" y="0"/>
            <a:chExt cx="8229600" cy="304800"/>
          </a:xfrm>
        </p:grpSpPr>
        <p:cxnSp>
          <p:nvCxnSpPr>
            <p:cNvPr id="1424" name="Google Shape;1424;p127"/>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425" name="Google Shape;1425;p127"/>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426" name="Google Shape;1426;p127"/>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430" name="Shape 1430"/>
        <p:cNvGrpSpPr/>
        <p:nvPr/>
      </p:nvGrpSpPr>
      <p:grpSpPr>
        <a:xfrm>
          <a:off x="0" y="0"/>
          <a:ext cx="0" cy="0"/>
          <a:chOff x="0" y="0"/>
          <a:chExt cx="0" cy="0"/>
        </a:xfrm>
      </p:grpSpPr>
      <p:pic>
        <p:nvPicPr>
          <p:cNvPr id="1431" name="Google Shape;1431;p128"/>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432" name="Google Shape;1432;p128"/>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433" name="Google Shape;1433;p128"/>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Principais Dificuldades</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Escolher o tema para a aplicação</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Prazo para entrega</a:t>
            </a:r>
            <a:endParaRPr sz="1600">
              <a:solidFill>
                <a:schemeClr val="dk1"/>
              </a:solidFill>
              <a:latin typeface="Inter"/>
              <a:ea typeface="Inter"/>
              <a:cs typeface="Inter"/>
              <a:sym typeface="Inter"/>
            </a:endParaRPr>
          </a:p>
        </p:txBody>
      </p:sp>
      <p:sp>
        <p:nvSpPr>
          <p:cNvPr id="1434" name="Google Shape;1434;p128"/>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1435" name="Google Shape;1435;p128"/>
          <p:cNvGrpSpPr/>
          <p:nvPr/>
        </p:nvGrpSpPr>
        <p:grpSpPr>
          <a:xfrm>
            <a:off x="457200" y="4762500"/>
            <a:ext cx="8229600" cy="304800"/>
            <a:chOff x="0" y="0"/>
            <a:chExt cx="8229600" cy="304800"/>
          </a:xfrm>
        </p:grpSpPr>
        <p:cxnSp>
          <p:nvCxnSpPr>
            <p:cNvPr id="1436" name="Google Shape;1436;p128"/>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437" name="Google Shape;1437;p128"/>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438" name="Google Shape;1438;p128"/>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442" name="Shape 1442"/>
        <p:cNvGrpSpPr/>
        <p:nvPr/>
      </p:nvGrpSpPr>
      <p:grpSpPr>
        <a:xfrm>
          <a:off x="0" y="0"/>
          <a:ext cx="0" cy="0"/>
          <a:chOff x="0" y="0"/>
          <a:chExt cx="0" cy="0"/>
        </a:xfrm>
      </p:grpSpPr>
      <p:pic>
        <p:nvPicPr>
          <p:cNvPr id="1443" name="Google Shape;1443;p129"/>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444" name="Google Shape;1444;p129"/>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445" name="Google Shape;1445;p129"/>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Principais Dificuldades</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Escolher o tema para a aplicação</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Prazo para entrega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Trabalhar com C++, apesar de divertido, demanda verbosidade</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
        <p:nvSpPr>
          <p:cNvPr id="1446" name="Google Shape;1446;p129"/>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1447" name="Google Shape;1447;p129"/>
          <p:cNvGrpSpPr/>
          <p:nvPr/>
        </p:nvGrpSpPr>
        <p:grpSpPr>
          <a:xfrm>
            <a:off x="457200" y="4762500"/>
            <a:ext cx="8229600" cy="304800"/>
            <a:chOff x="0" y="0"/>
            <a:chExt cx="8229600" cy="304800"/>
          </a:xfrm>
        </p:grpSpPr>
        <p:cxnSp>
          <p:nvCxnSpPr>
            <p:cNvPr id="1448" name="Google Shape;1448;p129"/>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449" name="Google Shape;1449;p129"/>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450" name="Google Shape;1450;p129"/>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454" name="Shape 1454"/>
        <p:cNvGrpSpPr/>
        <p:nvPr/>
      </p:nvGrpSpPr>
      <p:grpSpPr>
        <a:xfrm>
          <a:off x="0" y="0"/>
          <a:ext cx="0" cy="0"/>
          <a:chOff x="0" y="0"/>
          <a:chExt cx="0" cy="0"/>
        </a:xfrm>
      </p:grpSpPr>
      <p:pic>
        <p:nvPicPr>
          <p:cNvPr id="1455" name="Google Shape;1455;p130"/>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456" name="Google Shape;1456;p130"/>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457" name="Google Shape;1457;p130"/>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Principais Dificuldades</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Escolher o tema para a aplicação</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Prazo para entrega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Trabalhar com C++, apesar de divertido, demanda verbosidade</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Agregar os Snapshots via TCP/UDP vs Sistema de arquivos</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
        <p:nvSpPr>
          <p:cNvPr id="1458" name="Google Shape;1458;p130"/>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1459" name="Google Shape;1459;p130"/>
          <p:cNvGrpSpPr/>
          <p:nvPr/>
        </p:nvGrpSpPr>
        <p:grpSpPr>
          <a:xfrm>
            <a:off x="457200" y="4762500"/>
            <a:ext cx="8229600" cy="304800"/>
            <a:chOff x="0" y="0"/>
            <a:chExt cx="8229600" cy="304800"/>
          </a:xfrm>
        </p:grpSpPr>
        <p:cxnSp>
          <p:nvCxnSpPr>
            <p:cNvPr id="1460" name="Google Shape;1460;p130"/>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461" name="Google Shape;1461;p130"/>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462" name="Google Shape;1462;p130"/>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466" name="Shape 1466"/>
        <p:cNvGrpSpPr/>
        <p:nvPr/>
      </p:nvGrpSpPr>
      <p:grpSpPr>
        <a:xfrm>
          <a:off x="0" y="0"/>
          <a:ext cx="0" cy="0"/>
          <a:chOff x="0" y="0"/>
          <a:chExt cx="0" cy="0"/>
        </a:xfrm>
      </p:grpSpPr>
      <p:pic>
        <p:nvPicPr>
          <p:cNvPr id="1467" name="Google Shape;1467;p131"/>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468" name="Google Shape;1468;p131"/>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469" name="Google Shape;1469;p131"/>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Principais Dificuldades</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Escolher o tema para a aplicação</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Prazo para entrega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Trabalhar com C++, apesar de divertido, demanda verbosidade</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Agregar os Snapshots via TCP/UDP vs Sistema de arquivos</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No final, optei pelo sistema de arquivos para manter o log e facilitar a múltiplos snapshots simultâneos</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
        <p:nvSpPr>
          <p:cNvPr id="1470" name="Google Shape;1470;p131"/>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1471" name="Google Shape;1471;p131"/>
          <p:cNvGrpSpPr/>
          <p:nvPr/>
        </p:nvGrpSpPr>
        <p:grpSpPr>
          <a:xfrm>
            <a:off x="457200" y="4762500"/>
            <a:ext cx="8229600" cy="304800"/>
            <a:chOff x="0" y="0"/>
            <a:chExt cx="8229600" cy="304800"/>
          </a:xfrm>
        </p:grpSpPr>
        <p:cxnSp>
          <p:nvCxnSpPr>
            <p:cNvPr id="1472" name="Google Shape;1472;p131"/>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473" name="Google Shape;1473;p131"/>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474" name="Google Shape;1474;p131"/>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478" name="Shape 1478"/>
        <p:cNvGrpSpPr/>
        <p:nvPr/>
      </p:nvGrpSpPr>
      <p:grpSpPr>
        <a:xfrm>
          <a:off x="0" y="0"/>
          <a:ext cx="0" cy="0"/>
          <a:chOff x="0" y="0"/>
          <a:chExt cx="0" cy="0"/>
        </a:xfrm>
      </p:grpSpPr>
      <p:pic>
        <p:nvPicPr>
          <p:cNvPr id="1479" name="Google Shape;1479;p132"/>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480" name="Google Shape;1480;p132"/>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481" name="Google Shape;1481;p132"/>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Principais Dificuldades</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Escolher o tema para a aplicação</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Prazo para entrega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Trabalhar com C++, apesar de divertido, demanda verbosidade</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Agregar os Snapshots via TCP/UDP vs Sistema de arquivos</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No final, optei pelo sistema de arquivos para manter o log e facilitar a múltiplos snapshots simultâneos</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Inicialmente, o código foi pensado para rodar em múltiplos computadores, filesystem compartilhado impossibilita isso a não ser que façamos adaptações para filesystem em nuvem.</a:t>
            </a:r>
            <a:endParaRPr sz="1600">
              <a:solidFill>
                <a:schemeClr val="dk1"/>
              </a:solidFill>
              <a:latin typeface="Inter"/>
              <a:ea typeface="Inter"/>
              <a:cs typeface="Inter"/>
              <a:sym typeface="Inter"/>
            </a:endParaRPr>
          </a:p>
          <a:p>
            <a:pPr indent="0" lvl="0" marL="0" rtl="0" algn="l">
              <a:spcBef>
                <a:spcPts val="1200"/>
              </a:spcBef>
              <a:spcAft>
                <a:spcPts val="0"/>
              </a:spcAft>
              <a:buNone/>
            </a:pPr>
            <a:r>
              <a:t/>
            </a:r>
            <a:endParaRPr sz="1600">
              <a:solidFill>
                <a:schemeClr val="dk1"/>
              </a:solidFill>
              <a:latin typeface="Inter"/>
              <a:ea typeface="Inter"/>
              <a:cs typeface="Inter"/>
              <a:sym typeface="Inter"/>
            </a:endParaRPr>
          </a:p>
          <a:p>
            <a:pPr indent="0" lvl="0" marL="0" rtl="0" algn="l">
              <a:spcBef>
                <a:spcPts val="1200"/>
              </a:spcBef>
              <a:spcAft>
                <a:spcPts val="0"/>
              </a:spcAft>
              <a:buNone/>
            </a:pPr>
            <a:r>
              <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
        <p:nvSpPr>
          <p:cNvPr id="1482" name="Google Shape;1482;p132"/>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1483" name="Google Shape;1483;p132"/>
          <p:cNvGrpSpPr/>
          <p:nvPr/>
        </p:nvGrpSpPr>
        <p:grpSpPr>
          <a:xfrm>
            <a:off x="457200" y="4762500"/>
            <a:ext cx="8229600" cy="304800"/>
            <a:chOff x="0" y="0"/>
            <a:chExt cx="8229600" cy="304800"/>
          </a:xfrm>
        </p:grpSpPr>
        <p:cxnSp>
          <p:nvCxnSpPr>
            <p:cNvPr id="1484" name="Google Shape;1484;p132"/>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485" name="Google Shape;1485;p132"/>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486" name="Google Shape;1486;p132"/>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490" name="Shape 1490"/>
        <p:cNvGrpSpPr/>
        <p:nvPr/>
      </p:nvGrpSpPr>
      <p:grpSpPr>
        <a:xfrm>
          <a:off x="0" y="0"/>
          <a:ext cx="0" cy="0"/>
          <a:chOff x="0" y="0"/>
          <a:chExt cx="0" cy="0"/>
        </a:xfrm>
      </p:grpSpPr>
      <p:pic>
        <p:nvPicPr>
          <p:cNvPr id="1491" name="Google Shape;1491;p13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492" name="Google Shape;1492;p133"/>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493" name="Google Shape;1493;p133"/>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Referências</a:t>
            </a:r>
            <a:endParaRPr b="1" sz="2240">
              <a:solidFill>
                <a:srgbClr val="111827"/>
              </a:solidFill>
              <a:latin typeface="Inter"/>
              <a:ea typeface="Inter"/>
              <a:cs typeface="Inter"/>
              <a:sym typeface="Inter"/>
            </a:endParaRPr>
          </a:p>
        </p:txBody>
      </p:sp>
      <p:grpSp>
        <p:nvGrpSpPr>
          <p:cNvPr id="1494" name="Google Shape;1494;p133"/>
          <p:cNvGrpSpPr/>
          <p:nvPr/>
        </p:nvGrpSpPr>
        <p:grpSpPr>
          <a:xfrm>
            <a:off x="457200" y="4762500"/>
            <a:ext cx="8229600" cy="304800"/>
            <a:chOff x="0" y="0"/>
            <a:chExt cx="8229600" cy="304800"/>
          </a:xfrm>
        </p:grpSpPr>
        <p:cxnSp>
          <p:nvCxnSpPr>
            <p:cNvPr id="1495" name="Google Shape;1495;p133"/>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496" name="Google Shape;1496;p133"/>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497" name="Google Shape;1497;p133"/>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1498" name="Google Shape;1498;p133"/>
          <p:cNvSpPr txBox="1"/>
          <p:nvPr/>
        </p:nvSpPr>
        <p:spPr>
          <a:xfrm>
            <a:off x="191425" y="986025"/>
            <a:ext cx="8620500" cy="14775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accent1"/>
              </a:buClr>
              <a:buSzPts val="1400"/>
              <a:buChar char="●"/>
            </a:pPr>
            <a:r>
              <a:rPr lang="en">
                <a:solidFill>
                  <a:schemeClr val="dk1"/>
                </a:solidFill>
              </a:rPr>
              <a:t> K. Mani Chandy and Leslie Lamport. 1985. Distributed snapshots: determining global states of distributed systems. ACM Trans. Comput. Syst. 3, 1 (Feb. 1985), 63–75. </a:t>
            </a:r>
            <a:r>
              <a:rPr lang="en" u="sng">
                <a:solidFill>
                  <a:schemeClr val="hlink"/>
                </a:solidFill>
                <a:hlinkClick r:id="rId4"/>
              </a:rPr>
              <a:t>https://doi.org/10.1145/214451.214456</a:t>
            </a:r>
            <a:r>
              <a:rPr lang="en">
                <a:solidFill>
                  <a:schemeClr val="dk2"/>
                </a:solidFill>
              </a:rPr>
              <a:t> </a:t>
            </a:r>
            <a:endParaRPr>
              <a:solidFill>
                <a:schemeClr val="dk2"/>
              </a:solidFill>
            </a:endParaRPr>
          </a:p>
          <a:p>
            <a:pPr indent="-317500" lvl="0" marL="457200" rtl="0" algn="l">
              <a:spcBef>
                <a:spcPts val="0"/>
              </a:spcBef>
              <a:spcAft>
                <a:spcPts val="0"/>
              </a:spcAft>
              <a:buClr>
                <a:schemeClr val="accent1"/>
              </a:buClr>
              <a:buSzPts val="1400"/>
              <a:buChar char="●"/>
            </a:pPr>
            <a:r>
              <a:rPr lang="en" u="sng">
                <a:solidFill>
                  <a:schemeClr val="hlink"/>
                </a:solidFill>
                <a:hlinkClick r:id="rId5"/>
              </a:rPr>
              <a:t>https://github.com/ocornut/imgui</a:t>
            </a:r>
            <a:r>
              <a:rPr lang="en">
                <a:solidFill>
                  <a:schemeClr val="accent1"/>
                </a:solidFill>
              </a:rPr>
              <a:t> + </a:t>
            </a:r>
            <a:r>
              <a:rPr lang="en" u="sng">
                <a:solidFill>
                  <a:schemeClr val="hlink"/>
                </a:solidFill>
                <a:hlinkClick r:id="rId6"/>
              </a:rPr>
              <a:t>glfw.org</a:t>
            </a:r>
            <a:r>
              <a:rPr lang="en">
                <a:solidFill>
                  <a:schemeClr val="accent1"/>
                </a:solidFill>
              </a:rPr>
              <a:t> </a:t>
            </a:r>
            <a:r>
              <a:rPr lang="en">
                <a:solidFill>
                  <a:schemeClr val="dk1"/>
                </a:solidFill>
              </a:rPr>
              <a:t>-&gt; Bibliotecas da interface gráfica</a:t>
            </a:r>
            <a:endParaRPr>
              <a:solidFill>
                <a:schemeClr val="dk1"/>
              </a:solidFill>
            </a:endParaRPr>
          </a:p>
          <a:p>
            <a:pPr indent="-317500" lvl="0" marL="457200" rtl="0" algn="l">
              <a:spcBef>
                <a:spcPts val="0"/>
              </a:spcBef>
              <a:spcAft>
                <a:spcPts val="0"/>
              </a:spcAft>
              <a:buClr>
                <a:schemeClr val="accent1"/>
              </a:buClr>
              <a:buSzPts val="1400"/>
              <a:buChar char="●"/>
            </a:pPr>
            <a:r>
              <a:rPr lang="en">
                <a:solidFill>
                  <a:schemeClr val="dk1"/>
                </a:solidFill>
              </a:rPr>
              <a:t>Berkeley Sockets / Linux man-pages -&gt; Documentação da biblioteca de sockets utilizada para as comunicações TCP e UDP.</a:t>
            </a:r>
            <a:endParaRPr b="1">
              <a:solidFill>
                <a:schemeClr val="accen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